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Presenter 1 (30 sec)</a:t>
            </a:r>
          </a:p>
          <a:p>
            <a:r>
              <a:t>"Good [morning/afternoon]. We are Team FoodChain.</a:t>
            </a:r>
          </a:p>
          <a:p/>
          <a:p>
            <a:r>
              <a:t>Today we're presenting a production-grade, AI-powered restaurant order management platform — built entirely on microservices — designed to solve the real operational chaos that multi-branch restaurant chains face every day.</a:t>
            </a:r>
          </a:p>
          <a:p/>
          <a:p>
            <a:r>
              <a:t>Our system handles everything from a customer placing an order, to a kitchen staff member processing it in real time, to a head-office admin reviewing cross-branch performance analytics.</a:t>
            </a:r>
          </a:p>
          <a:p/>
          <a:p>
            <a:r>
              <a:t>Let me hand over to [Presenter 1] to start us off with the problem we set out to solve."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60 sec</a:t>
            </a:r>
          </a:p>
          <a:p>
            <a:r>
              <a:t>"Let me paint the picture of what happens inside a busy multi-branch restaurant chain today.</a:t>
            </a:r>
          </a:p>
          <a:p/>
          <a:p>
            <a:r>
              <a:t>Operationally, it's chaos. Orders come in through phone calls, someone shouts into the kitchen, tickets are written by hand. At peak hours, things fall through the cracks — and the customer pays the price.</a:t>
            </a:r>
          </a:p>
          <a:p/>
          <a:p>
            <a:r>
              <a:t>Kitchen staff are flying blind. They have no priority queue, no SLA timer, no way to know which order has been waiting longest. They just work through the pile.</a:t>
            </a:r>
          </a:p>
          <a:p/>
          <a:p>
            <a:r>
              <a:t>For managers and executives, business intelligence means pulling data from a POS system at the end of the month, pasting it into Excel, and hoping the numbers add up. There is no live view, no cross-branch comparison, no early warning.</a:t>
            </a:r>
          </a:p>
          <a:p/>
          <a:p>
            <a:r>
              <a:t>And the customer? They place an order, receive nothing, and wait — wondering if anyone even received it.</a:t>
            </a:r>
          </a:p>
          <a:p/>
          <a:p>
            <a:r>
              <a:t>FoodChain was built to fix all four of these problems, simultaneously."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75 sec</a:t>
            </a:r>
          </a:p>
          <a:p>
            <a:r>
              <a:t>"FoodChain is a complete operating platform for restaurant chains, built from the ground up as microservices.</a:t>
            </a:r>
          </a:p>
          <a:p/>
          <a:p>
            <a:r>
              <a:t>Every user role has a dedicated experience.</a:t>
            </a:r>
          </a:p>
          <a:p/>
          <a:p>
            <a:r>
              <a:t>Customers get a smooth mobile-first ordering flow, complete with an AI food assistant that asks about their appetite, budget, and preferences, then recommends specific items from the live menu.</a:t>
            </a:r>
          </a:p>
          <a:p/>
          <a:p>
            <a:r>
              <a:t>Kitchen staff get a real-time queue display — sorted by SLA urgency — so they always know what to cook next.</a:t>
            </a:r>
          </a:p>
          <a:p/>
          <a:p>
            <a:r>
              <a:t>Branch managers see their operation's heartbeat: live orders, daily revenue, and top-performing items.</a:t>
            </a:r>
          </a:p>
          <a:p/>
          <a:p>
            <a:r>
              <a:t>And head office administrators can compare performance across every branch, generate reports in multiple formats, and manage the platform.</a:t>
            </a:r>
          </a:p>
          <a:p/>
          <a:p>
            <a:r>
              <a:t>Underneath all of this: an event-driven architecture on Apache Kafka that keeps every part of the system in sync without tight coupling."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 hand-off to Presenter 2 at end — 60 sec</a:t>
            </a:r>
          </a:p>
          <a:p>
            <a:r>
              <a:t>"Let me walk through the four user roles in FoodChain, because each one tells a different story about the system's value.</a:t>
            </a:r>
          </a:p>
          <a:p/>
          <a:p>
            <a:r>
              <a:t>A customer opens the app, selects their branch, and is greeted by an AI food assistant that guides them through their preferences and suggests the perfect meal from the live menu. They order, track, and receive a notification when it's ready.</a:t>
            </a:r>
          </a:p>
          <a:p/>
          <a:p>
            <a:r>
              <a:t>Kitchen staff see their orders arrive in real time — no manual entry, no phone calls. The SLA timer tells them which order has been waiting longest and colour-codes urgency. Updating the status is two taps.</a:t>
            </a:r>
          </a:p>
          <a:p/>
          <a:p>
            <a:r>
              <a:t>Branch managers don't need to pull reports at the end of the day. Their dashboard updates live throughout service, showing them revenue, throughput, and which items are flying off the menu.</a:t>
            </a:r>
          </a:p>
          <a:p/>
          <a:p>
            <a:r>
              <a:t>Head office admins can compare any branch to any other, generate downloadable reports on demand, and manage every user on the platform.</a:t>
            </a:r>
          </a:p>
          <a:p/>
          <a:p>
            <a:r>
              <a:t>That's four completely different experiences, delivered by one coherent system. I'll now hand over to [Presenter 2] to explain how it works under the hood."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90 sec</a:t>
            </a:r>
          </a:p>
          <a:p>
            <a:r>
              <a:t>"Let me walk you through the architecture.</a:t>
            </a:r>
          </a:p>
          <a:p/>
          <a:p>
            <a:r>
              <a:t>Every external request from our React frontend goes through the API Gateway on port 8080. The gateway validates the JWT token, checks Redis for blacklisted tokens, and injects X-User-Id and X-User-Role headers before routing to the correct downstream service.</a:t>
            </a:r>
          </a:p>
          <a:p/>
          <a:p>
            <a:r>
              <a:t>We have seven independent microservices — User, Menu, Order, Kitchen, Branch, Notifications, and Analytics. Each owns its own MySQL database. There is zero shared data store between services at the database level. This is true data isolation.</a:t>
            </a:r>
          </a:p>
          <a:p/>
          <a:p>
            <a:r>
              <a:t>The orange band in the middle is Apache Kafka — our asynchronous event bus. Five topics carry events between services. When an order is placed, an event is published. When a kitchen marks an order ready, an event is published. No service needs to call another directly for these flows.</a:t>
            </a:r>
          </a:p>
          <a:p/>
          <a:p>
            <a:r>
              <a:t>At the bottom: infrastructure. MySQL per service, Redis for caching and token blacklisting, Eureka for service discovery, Config Server for centralised configuration, AWS S3 for menu images, Google Gemini for AI recommendations, and GitHub Actions for our CI/CD pipeline.</a:t>
            </a:r>
          </a:p>
          <a:p/>
          <a:p>
            <a:r>
              <a:t>This architecture means any single service can fail or be redeployed without taking down the others."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90 sec (use this as your 'animation' walk-through slide)</a:t>
            </a:r>
          </a:p>
          <a:p>
            <a:r>
              <a:t>"This slide shows exactly how one customer order travels through our distributed system. Walk through each step deliberately.</a:t>
            </a:r>
          </a:p>
          <a:p/>
          <a:p>
            <a:r>
              <a:t>[Step 1] The customer places an order in our React frontend.</a:t>
            </a:r>
          </a:p>
          <a:p>
            <a:r>
              <a:t>[Step 2] The request enters our API Gateway, which validates the JWT token and routes to the Order Service.</a:t>
            </a:r>
          </a:p>
          <a:p>
            <a:r>
              <a:t>[Step 3] The Order Service validates the request, calculates totals, and persists the order.</a:t>
            </a:r>
          </a:p>
          <a:p>
            <a:r>
              <a:t>[Step 4] Using the Outbox Pattern, the order AND an event record are saved in a single database transaction — this is critical. If Kafka is temporarily unavailable, we don't lose the event.</a:t>
            </a:r>
          </a:p>
          <a:p>
            <a:r>
              <a:t>[Step 5] Our OutboxRelay reads unpublished events and delivers them to the 'order.created' Kafka topic.</a:t>
            </a:r>
          </a:p>
          <a:p>
            <a:r>
              <a:t>[Step 6] The Kitchen Service consumes the event and adds the order to its Redis priority queue. Kitchen staff see it appear in real time — no page refresh.</a:t>
            </a:r>
          </a:p>
          <a:p>
            <a:r>
              <a:t>[Step 7] The Notification Service consumes an event and sends a confirmation email and WebSocket push to the customer.</a:t>
            </a:r>
          </a:p>
          <a:p>
            <a:r>
              <a:t>[Step 8] The Analytics Service consumes the event and updates branch metrics.</a:t>
            </a:r>
          </a:p>
          <a:p>
            <a:r>
              <a:t>[Step 9] The Head Office Admin dashboard reflects the new data.</a:t>
            </a:r>
          </a:p>
          <a:p/>
          <a:p>
            <a:r>
              <a:t>The entire flow is asynchronous, resilient, and guaranteed. No event is ever lost."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75 sec</a:t>
            </a:r>
          </a:p>
          <a:p>
            <a:r>
              <a:t>"Let me explain our data architecture.</a:t>
            </a:r>
          </a:p>
          <a:p/>
          <a:p>
            <a:r>
              <a:t>Every microservice owns its own MySQL database — seven databases in total. This is critical. It means an Order Service schema change cannot break the Menu Service. Each service can evolve its data model independently. No shared joins, no cross-service transactions at the database layer.</a:t>
            </a:r>
          </a:p>
          <a:p/>
          <a:p>
            <a:r>
              <a:t>For async communication, we use five Kafka topics. Each topic has clearly defined producers and consumers. The most important flow is 'order.created' — produced by the Order Service, consumed by Kitchen and Analytics. No direct HTTP calls between those services.</a:t>
            </a:r>
          </a:p>
          <a:p/>
          <a:p>
            <a:r>
              <a:t>Redis serves three distinct purposes. The kitchen queue is stored in Redis so kitchen staff get sub-millisecond read performance and the queue survives a service restart. The JWT blacklist uses Redis to instantly invalidate tokens on logout. And our analytics and menu endpoints use Redis caching to keep dashboard loads fast without hammering MySQL."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2/3 hand-off — 75 sec</a:t>
            </a:r>
          </a:p>
          <a:p>
            <a:r>
              <a:t>"The AI Food Assistant is our most innovative feature, and it's genuinely useful — not a gimmick.</a:t>
            </a:r>
          </a:p>
          <a:p/>
          <a:p>
            <a:r>
              <a:t>When a customer opens the assistant, they're guided through a seven-step wizard. Each step narrows down their preferences: how hungry they are, what they're craving, what type of meal, how they'll receive their order, their budget, any dietary restrictions, and anything else they want to tell us.</a:t>
            </a:r>
          </a:p>
          <a:p/>
          <a:p>
            <a:r>
              <a:t>These preferences are combined with the real menu — up to 40 live items from that specific branch — and sent to Google Gemini 2.5 Flash with a carefully constructed system prompt.</a:t>
            </a:r>
          </a:p>
          <a:p/>
          <a:p>
            <a:r>
              <a:t>Gemini responds in structured JSON: item IDs, reasons, and optional add-on suggestions.</a:t>
            </a:r>
          </a:p>
          <a:p/>
          <a:p>
            <a:r>
              <a:t>But here's the critical engineering detail: we validate every item ID Gemini returns against our database. If Gemini invents an ID — which language models can do — we silently discard it. Our customers never see a suggested item that isn't actually available.</a:t>
            </a:r>
          </a:p>
          <a:p/>
          <a:p>
            <a:r>
              <a:t>The result is personalised, accurate, inventory-aware food recommendations."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60 sec</a:t>
            </a:r>
          </a:p>
          <a:p>
            <a:r>
              <a:t>"The analytics layer is where FoodChain delivers executive value.</a:t>
            </a:r>
          </a:p>
          <a:p/>
          <a:p>
            <a:r>
              <a:t>We store data in four purpose-built entities. OrderAnalytics captures each order's metrics. OrderItemAnalytics tracks individual item performance — so we can answer 'what's our best-selling item on Friday nights at the Lekki branch?' BranchDailySummary rolls up each day's data, and Report stores generated report snapshots.</a:t>
            </a:r>
          </a:p>
          <a:p/>
          <a:p>
            <a:r>
              <a:t>Access is filtered by role at the service layer — not just the UI. A Branch Manager who tries to query another branch's data gets a 403, not empty results. This is enforced by @PreAuthorize annotations on every analytics endpoint.</a:t>
            </a:r>
          </a:p>
          <a:p/>
          <a:p>
            <a:r>
              <a:t>Managers can generate reports in PDF, CSV, or Excel — with date range and branch filters. Redis caching means repeated dashboard loads are instant.</a:t>
            </a:r>
          </a:p>
          <a:p/>
          <a:p>
            <a:r>
              <a:t>The AnalyticsEventConsumer listens to Kafka and processes events asynchronously, so analytics updates never slow down the order flow."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60 sec</a:t>
            </a:r>
          </a:p>
          <a:p>
            <a:r>
              <a:t>"Deployment is Docker-first from day one.</a:t>
            </a:r>
          </a:p>
          <a:p/>
          <a:p>
            <a:r>
              <a:t>A single 'docker compose up' command spins up the entire stack — all eight services, MySQL databases, Redis, Kafka, Zookeeper, Eureka, and Config Server — in the correct startup order, with health checks ensuring dependencies are ready before dependents start.</a:t>
            </a:r>
          </a:p>
          <a:p/>
          <a:p>
            <a:r>
              <a:t>Our GitHub Actions pipeline runs on every push. It compiles all services, runs the full test suite, builds Docker images, and pushes them to the container registry. If any test fails, the pipeline stops — broken code never reaches the registry.</a:t>
            </a:r>
          </a:p>
          <a:p/>
          <a:p>
            <a:r>
              <a:t>Spring Cloud Config Server centralises all application configuration. A service starts up, registers with Eureka for discovery, and pulls its configuration from the Config Server. No hardcoded ports, no hardcoded database URLs — everything is environment-variable driven.</a:t>
            </a:r>
          </a:p>
          <a:p/>
          <a:p>
            <a:r>
              <a:t>This means moving from local Docker to AWS is a matter of changing environment variables. The application code doesn't change at all."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 60 sec</a:t>
            </a:r>
          </a:p>
          <a:p>
            <a:r>
              <a:t>"Code quality is built into our development workflow, not applied as an afterthought.</a:t>
            </a:r>
          </a:p>
          <a:p/>
          <a:p>
            <a:r>
              <a:t>Architecturally: every service follows strict layering — controllers delegate to services, services delegate to repositories. No controller talks to a repository directly. No service imports another service's entity.</a:t>
            </a:r>
          </a:p>
          <a:p/>
          <a:p>
            <a:r>
              <a:t>DTOs are Java records — immutable, compact, and zero Lombok boilerplate needed.</a:t>
            </a:r>
          </a:p>
          <a:p/>
          <a:p>
            <a:r>
              <a:t>The AI client sits behind a FoodSuggestionAiClient interface. This means we could replace Google Gemini with any other AI provider without touching the service layer. That's what interface-first design looks like in practice.</a:t>
            </a:r>
          </a:p>
          <a:p/>
          <a:p>
            <a:r>
              <a:t>On testing: we use a five-layer approach. Unit tests run in milliseconds with Mockito — pure business logic. Controller tests use MockMvc to test the full HTTP stack including security annotations. Our security test suite explicitly asserts 401 and 403 on every protected endpoint — we don't assume security works; we prove it.</a:t>
            </a:r>
          </a:p>
          <a:p/>
          <a:p>
            <a:r>
              <a:t>Integration tests use H2 for the database layer and Testcontainers for Kafka consumer flows. Every test is deterministic and can run in CI without external dependencies."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 5 min demo</a:t>
            </a:r>
          </a:p>
          <a:p>
            <a:r>
              <a:t>PRE-DEMO CHECKLIST:</a:t>
            </a:r>
          </a:p>
          <a:p>
            <a:r>
              <a:t>• Docker stack up, all 8 services green on Eureka dashboard</a:t>
            </a:r>
          </a:p>
          <a:p>
            <a:r>
              <a:t>• 3 browser windows: Customer (normal), Kitchen (incognito), Branch Mgr (incognito #2)</a:t>
            </a:r>
          </a:p>
          <a:p>
            <a:r>
              <a:t>• Terminal visible — streaming logs from order-service and menu-service</a:t>
            </a:r>
          </a:p>
          <a:p>
            <a:r>
              <a:t>• DevTools Network tab open on customer window</a:t>
            </a:r>
          </a:p>
          <a:p>
            <a:r>
              <a:t>• Test order already in the system from earlier (so analytics has data)</a:t>
            </a:r>
          </a:p>
          <a:p/>
          <a:p>
            <a:r>
              <a:t>BACKUP PLAN:</a:t>
            </a:r>
          </a:p>
          <a:p>
            <a:r>
              <a:t>• Pre-record a 4-min screen capture at full quality as a video file</a:t>
            </a:r>
          </a:p>
          <a:p>
            <a:r>
              <a:t>• If Gemini times out (&gt;15s): "Our AI is making a real API call to Google — this is production latency. While it's thinking, let me show you the structured prompt we're sending..."</a:t>
            </a:r>
          </a:p>
          <a:p>
            <a:r>
              <a:t>• If Docker crashes: "Let me show you the code instead and walk through what would happen..."</a:t>
            </a:r>
          </a:p>
          <a:p/>
          <a:p>
            <a:r>
              <a:t>TRANSITIONS:</a:t>
            </a:r>
          </a:p>
          <a:p>
            <a:r>
              <a:t>• "Now let's see what happens on the kitchen side..." [switch window]</a:t>
            </a:r>
          </a:p>
          <a:p>
            <a:r>
              <a:t>• "The moment I clicked Ready, watch the customer window..." [switch back]</a:t>
            </a:r>
          </a:p>
          <a:p>
            <a:r>
              <a:t>• "Let me show you what a branch manager sees..." [switch window]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4 — 75 sec</a:t>
            </a:r>
          </a:p>
          <a:p>
            <a:r>
              <a:t>"Let me close with the impact story.</a:t>
            </a:r>
          </a:p>
          <a:p/>
          <a:p>
            <a:r>
              <a:t>The restaurant industry runs on margins. A 5% reduction in order errors, a 10% improvement in kitchen throughput, a branch manager who can identify their slow Tuesday problem before it costs them a month of revenue — these are the outcomes FoodChain delivers.</a:t>
            </a:r>
          </a:p>
          <a:p/>
          <a:p>
            <a:r>
              <a:t>Our AI integration isn't a marketing checkbox. It solves the real problem of menu paralysis — a new customer looking at 50 items doesn't know where to start. The AI does.</a:t>
            </a:r>
          </a:p>
          <a:p/>
          <a:p>
            <a:r>
              <a:t>The Outbox Pattern and notification retry mechanism mean we have a reliability story, not just a features story. We can say, with confidence, that no order event is ever lost.</a:t>
            </a:r>
          </a:p>
          <a:p/>
          <a:p>
            <a:r>
              <a:t>The RBAC implementation means FoodChain is ready for enterprise deployment — not just a startup with one branch, but a chain with hundreds.</a:t>
            </a:r>
          </a:p>
          <a:p/>
          <a:p>
            <a:r>
              <a:t>And the architecture? Adding a new branch is a database record and a configuration value. No code changes. No deployments. The system scales horizontally."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4 — 60 sec</a:t>
            </a:r>
          </a:p>
          <a:p>
            <a:r>
              <a:t>"Real engineering is defined by how you handle the problems you didn't plan for.</a:t>
            </a:r>
          </a:p>
          <a:p/>
          <a:p>
            <a:r>
              <a:t>Three of our challenges were technical discoveries during implementation.</a:t>
            </a:r>
          </a:p>
          <a:p/>
          <a:p>
            <a:r>
              <a:t>Gemini returning the wrong content type — that's a production bug that would catch many teams off guard. Our fix — reading the response as raw bytes and parsing manually — is the correct approach and it's now in our codebase.</a:t>
            </a:r>
          </a:p>
          <a:p/>
          <a:p>
            <a:r>
              <a:t>The Lombok Java 25 incompatibility was particularly tricky because it failed silently in some configurations. We diagnosed it, found the root cause, and fixed it at the Maven level.</a:t>
            </a:r>
          </a:p>
          <a:p/>
          <a:p>
            <a:r>
              <a:t>The Outbox Pattern wasn't in our original design. We added it after realising that a direct Kafka publish after a DB write created a window for data loss. Recognising that gap and closing it is mature engineering thinking.</a:t>
            </a:r>
          </a:p>
          <a:p/>
          <a:p>
            <a:r>
              <a:t>Two of the challenges were architectural: frontend state in a complex wizard, and test isolation across microservices. Both were solved with the right abstractions — not hacks."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4 — 45 sec</a:t>
            </a:r>
          </a:p>
          <a:p>
            <a:r>
              <a:t>"We know exactly where FoodChain goes from here.</a:t>
            </a:r>
          </a:p>
          <a:p/>
          <a:p>
            <a:r>
              <a:t>In the short term: observability. OpenTelemetry tracing so we can follow a request across all eight services with a single trace ID. Prometheus and Grafana for dashboards that alert us before customers notice a problem.</a:t>
            </a:r>
          </a:p>
          <a:p/>
          <a:p>
            <a:r>
              <a:t>In the medium term: Kubernetes. Our Docker containers are already the unit of deployment — moving to Kubernetes is straightforward and unlocks autoscaling per service.</a:t>
            </a:r>
          </a:p>
          <a:p/>
          <a:p>
            <a:r>
              <a:t>In the longer term: deeper AI. Not just food suggestions, but demand forecasting — predicting peak hours, recommending staffing levels, flagging which menu items to promote.</a:t>
            </a:r>
          </a:p>
          <a:p/>
          <a:p>
            <a:r>
              <a:t>And commercially: white-label multi-tenancy. FoodChain can power any restaurant chain as a SaaS product. The branch-scoped architecture is already built for it."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Presenter 4 (30 sec)</a:t>
            </a:r>
          </a:p>
          <a:p>
            <a:r>
              <a:t>"FoodChain is not a proof-of-concept. Every pattern you've seen — the Outbox, the Kafka event bus, the JWT security chain, the AI integration, the Redis SLA monitor — is production-grade code, ready to deploy.</a:t>
            </a:r>
          </a:p>
          <a:p/>
          <a:p>
            <a:r>
              <a:t>We built this because we believe restaurant technology deserves the same engineering rigour as fintech or logistics.</a:t>
            </a:r>
          </a:p>
          <a:p/>
          <a:p>
            <a:r>
              <a:t>Thank you. We're happy to take any questions, dig into the code, or walk through any part of the architecture in more detail.</a:t>
            </a:r>
          </a:p>
          <a:p/>
          <a:p>
            <a:r>
              <a:t>[Open to Q&amp;A — see next slide for prepared answers]"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COACHING:</a:t>
            </a:r>
          </a:p>
          <a:p>
            <a:r>
              <a:t>• Pause 2 seconds before answering — shows confidence and gives you time to structure your response</a:t>
            </a:r>
          </a:p>
          <a:p>
            <a:r>
              <a:t>• Start with the high-level answer (one sentence), then add depth if probed</a:t>
            </a:r>
          </a:p>
          <a:p>
            <a:r>
              <a:t>• If unsure: "That's a great edge case — in production I'd address it with X, and I'd want to validate Y"</a:t>
            </a:r>
          </a:p>
          <a:p>
            <a:r>
              <a:t>• Acknowledge tradeoffs honestly: "We chose X because of Y, which does mean we accept Z"</a:t>
            </a:r>
          </a:p>
          <a:p>
            <a:r>
              <a:t>• If they push on a weakness: "You're right to flag that — here's how we'd address it in v2..."</a:t>
            </a:r>
          </a:p>
          <a:p>
            <a:r>
              <a:t>• End each answer: "Does that answer your question?"</a:t>
            </a:r>
          </a:p>
          <a:p>
            <a:r>
              <a:t>• If they go long: "I'd love to discuss this more — can we follow up after the session?"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private preparation slide. Review before presenting. Hide or delete it from the presented deck. Print it as speaker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1A0E"/>
        </a:solidFill>
        <a:effectLst/>
      </p:bgPr>
    </p:bg>
    <p:spTree>
      <p:nvGrpSpPr>
        <p:cNvPr id="1" name=""/>
        <p:cNvGrpSpPr/>
        <p:nvPr/>
      </p:nvGrpSpPr>
      <p:grpSpPr/>
      <p:sp>
        <p:nvSpPr>
          <p:cNvPr id="2" name="Rectangle 1"/>
          <p:cNvSpPr/>
          <p:nvPr/>
        </p:nvSpPr>
        <p:spPr>
          <a:xfrm>
            <a:off x="0" y="0"/>
            <a:ext cx="12188952" cy="12801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88952" cy="12801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
            <a:ext cx="7132320" cy="6601968"/>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 y="502920"/>
            <a:ext cx="914400" cy="9144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530352"/>
            <a:ext cx="914400" cy="822960"/>
          </a:xfrm>
          <a:prstGeom prst="rect">
            <a:avLst/>
          </a:prstGeom>
          <a:noFill/>
        </p:spPr>
        <p:txBody>
          <a:bodyPr wrap="square">
            <a:spAutoFit/>
          </a:bodyPr>
          <a:lstStyle/>
          <a:p>
            <a:pPr algn="ctr"/>
            <a:r>
              <a:rPr sz="3400" b="0" i="0">
                <a:solidFill>
                  <a:srgbClr val="2C1A0E"/>
                </a:solidFill>
              </a:rPr>
              <a:t>🍔</a:t>
            </a:r>
          </a:p>
        </p:txBody>
      </p:sp>
      <p:sp>
        <p:nvSpPr>
          <p:cNvPr id="7" name="TextBox 6"/>
          <p:cNvSpPr txBox="1"/>
          <p:nvPr/>
        </p:nvSpPr>
        <p:spPr>
          <a:xfrm>
            <a:off x="411480" y="1645920"/>
            <a:ext cx="6492240" cy="1097280"/>
          </a:xfrm>
          <a:prstGeom prst="rect">
            <a:avLst/>
          </a:prstGeom>
          <a:noFill/>
        </p:spPr>
        <p:txBody>
          <a:bodyPr wrap="square">
            <a:spAutoFit/>
          </a:bodyPr>
          <a:lstStyle/>
          <a:p>
            <a:pPr algn="l"/>
            <a:r>
              <a:rPr sz="5400" b="1" i="0">
                <a:solidFill>
                  <a:srgbClr val="2C1A0E"/>
                </a:solidFill>
              </a:rPr>
              <a:t>FoodChain</a:t>
            </a:r>
          </a:p>
        </p:txBody>
      </p:sp>
      <p:sp>
        <p:nvSpPr>
          <p:cNvPr id="8" name="TextBox 7"/>
          <p:cNvSpPr txBox="1"/>
          <p:nvPr/>
        </p:nvSpPr>
        <p:spPr>
          <a:xfrm>
            <a:off x="411480" y="2743200"/>
            <a:ext cx="6492240" cy="640080"/>
          </a:xfrm>
          <a:prstGeom prst="rect">
            <a:avLst/>
          </a:prstGeom>
          <a:noFill/>
        </p:spPr>
        <p:txBody>
          <a:bodyPr wrap="square">
            <a:spAutoFit/>
          </a:bodyPr>
          <a:lstStyle/>
          <a:p>
            <a:pPr algn="l"/>
            <a:r>
              <a:rPr sz="1700" b="0" i="1">
                <a:solidFill>
                  <a:srgbClr val="3D3D3D"/>
                </a:solidFill>
              </a:rPr>
              <a:t>Smart Multi-Branch Restaurant Order Management System</a:t>
            </a:r>
          </a:p>
        </p:txBody>
      </p:sp>
      <p:sp>
        <p:nvSpPr>
          <p:cNvPr id="9" name="Rectangle 8"/>
          <p:cNvSpPr/>
          <p:nvPr/>
        </p:nvSpPr>
        <p:spPr>
          <a:xfrm>
            <a:off x="411480" y="3474720"/>
            <a:ext cx="384048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3657600"/>
            <a:ext cx="6492240" cy="365760"/>
          </a:xfrm>
          <a:prstGeom prst="rect">
            <a:avLst/>
          </a:prstGeom>
          <a:noFill/>
        </p:spPr>
        <p:txBody>
          <a:bodyPr wrap="square">
            <a:spAutoFit/>
          </a:bodyPr>
          <a:lstStyle/>
          <a:p>
            <a:pPr algn="l"/>
            <a:r>
              <a:rPr sz="1300" b="0" i="0">
                <a:solidFill>
                  <a:srgbClr val="B0A89E"/>
                </a:solidFill>
              </a:rPr>
              <a:t>Moniepoint DreamDev Capstone  ·  May 2026</a:t>
            </a:r>
          </a:p>
        </p:txBody>
      </p:sp>
      <p:sp>
        <p:nvSpPr>
          <p:cNvPr id="11" name="Rectangle 10"/>
          <p:cNvSpPr/>
          <p:nvPr/>
        </p:nvSpPr>
        <p:spPr>
          <a:xfrm>
            <a:off x="411480" y="4160520"/>
            <a:ext cx="1463040" cy="34747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197096"/>
            <a:ext cx="1417320" cy="292608"/>
          </a:xfrm>
          <a:prstGeom prst="rect">
            <a:avLst/>
          </a:prstGeom>
          <a:noFill/>
        </p:spPr>
        <p:txBody>
          <a:bodyPr wrap="square">
            <a:spAutoFit/>
          </a:bodyPr>
          <a:lstStyle/>
          <a:p>
            <a:pPr algn="ctr"/>
            <a:r>
              <a:rPr sz="1000" b="1" i="0">
                <a:solidFill>
                  <a:srgbClr val="F5A623"/>
                </a:solidFill>
              </a:rPr>
              <a:t>Presenter 1</a:t>
            </a:r>
          </a:p>
        </p:txBody>
      </p:sp>
      <p:sp>
        <p:nvSpPr>
          <p:cNvPr id="13" name="TextBox 12"/>
          <p:cNvSpPr txBox="1"/>
          <p:nvPr/>
        </p:nvSpPr>
        <p:spPr>
          <a:xfrm>
            <a:off x="1965960" y="4215384"/>
            <a:ext cx="4389120" cy="274320"/>
          </a:xfrm>
          <a:prstGeom prst="rect">
            <a:avLst/>
          </a:prstGeom>
          <a:noFill/>
        </p:spPr>
        <p:txBody>
          <a:bodyPr wrap="square">
            <a:spAutoFit/>
          </a:bodyPr>
          <a:lstStyle/>
          <a:p>
            <a:pPr algn="l"/>
            <a:r>
              <a:rPr sz="1100" b="0" i="0">
                <a:solidFill>
                  <a:srgbClr val="3D3D3D"/>
                </a:solidFill>
              </a:rPr>
              <a:t>Introduction &amp; Problem</a:t>
            </a:r>
          </a:p>
        </p:txBody>
      </p:sp>
      <p:sp>
        <p:nvSpPr>
          <p:cNvPr id="14" name="Rectangle 13"/>
          <p:cNvSpPr/>
          <p:nvPr/>
        </p:nvSpPr>
        <p:spPr>
          <a:xfrm>
            <a:off x="411480" y="4617720"/>
            <a:ext cx="1463040" cy="34747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54296"/>
            <a:ext cx="1417320" cy="292608"/>
          </a:xfrm>
          <a:prstGeom prst="rect">
            <a:avLst/>
          </a:prstGeom>
          <a:noFill/>
        </p:spPr>
        <p:txBody>
          <a:bodyPr wrap="square">
            <a:spAutoFit/>
          </a:bodyPr>
          <a:lstStyle/>
          <a:p>
            <a:pPr algn="ctr"/>
            <a:r>
              <a:rPr sz="1000" b="1" i="0">
                <a:solidFill>
                  <a:srgbClr val="F5A623"/>
                </a:solidFill>
              </a:rPr>
              <a:t>Presenter 2</a:t>
            </a:r>
          </a:p>
        </p:txBody>
      </p:sp>
      <p:sp>
        <p:nvSpPr>
          <p:cNvPr id="16" name="TextBox 15"/>
          <p:cNvSpPr txBox="1"/>
          <p:nvPr/>
        </p:nvSpPr>
        <p:spPr>
          <a:xfrm>
            <a:off x="1965960" y="4672584"/>
            <a:ext cx="4389120" cy="274320"/>
          </a:xfrm>
          <a:prstGeom prst="rect">
            <a:avLst/>
          </a:prstGeom>
          <a:noFill/>
        </p:spPr>
        <p:txBody>
          <a:bodyPr wrap="square">
            <a:spAutoFit/>
          </a:bodyPr>
          <a:lstStyle/>
          <a:p>
            <a:pPr algn="l"/>
            <a:r>
              <a:rPr sz="1100" b="0" i="0">
                <a:solidFill>
                  <a:srgbClr val="3D3D3D"/>
                </a:solidFill>
              </a:rPr>
              <a:t>Architecture &amp; Engineering</a:t>
            </a:r>
          </a:p>
        </p:txBody>
      </p:sp>
      <p:sp>
        <p:nvSpPr>
          <p:cNvPr id="17" name="Rectangle 16"/>
          <p:cNvSpPr/>
          <p:nvPr/>
        </p:nvSpPr>
        <p:spPr>
          <a:xfrm>
            <a:off x="411480" y="5074920"/>
            <a:ext cx="1463040" cy="34747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111496"/>
            <a:ext cx="1417320" cy="292608"/>
          </a:xfrm>
          <a:prstGeom prst="rect">
            <a:avLst/>
          </a:prstGeom>
          <a:noFill/>
        </p:spPr>
        <p:txBody>
          <a:bodyPr wrap="square">
            <a:spAutoFit/>
          </a:bodyPr>
          <a:lstStyle/>
          <a:p>
            <a:pPr algn="ctr"/>
            <a:r>
              <a:rPr sz="1000" b="1" i="0">
                <a:solidFill>
                  <a:srgbClr val="F5A623"/>
                </a:solidFill>
              </a:rPr>
              <a:t>Presenter 3</a:t>
            </a:r>
          </a:p>
        </p:txBody>
      </p:sp>
      <p:sp>
        <p:nvSpPr>
          <p:cNvPr id="19" name="TextBox 18"/>
          <p:cNvSpPr txBox="1"/>
          <p:nvPr/>
        </p:nvSpPr>
        <p:spPr>
          <a:xfrm>
            <a:off x="1965960" y="5129784"/>
            <a:ext cx="4389120" cy="274320"/>
          </a:xfrm>
          <a:prstGeom prst="rect">
            <a:avLst/>
          </a:prstGeom>
          <a:noFill/>
        </p:spPr>
        <p:txBody>
          <a:bodyPr wrap="square">
            <a:spAutoFit/>
          </a:bodyPr>
          <a:lstStyle/>
          <a:p>
            <a:pPr algn="l"/>
            <a:r>
              <a:rPr sz="1100" b="0" i="0">
                <a:solidFill>
                  <a:srgbClr val="3D3D3D"/>
                </a:solidFill>
              </a:rPr>
              <a:t>Live Demo</a:t>
            </a:r>
          </a:p>
        </p:txBody>
      </p:sp>
      <p:sp>
        <p:nvSpPr>
          <p:cNvPr id="20" name="Rectangle 19"/>
          <p:cNvSpPr/>
          <p:nvPr/>
        </p:nvSpPr>
        <p:spPr>
          <a:xfrm>
            <a:off x="411480" y="5532120"/>
            <a:ext cx="1463040" cy="34747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568696"/>
            <a:ext cx="1417320" cy="292608"/>
          </a:xfrm>
          <a:prstGeom prst="rect">
            <a:avLst/>
          </a:prstGeom>
          <a:noFill/>
        </p:spPr>
        <p:txBody>
          <a:bodyPr wrap="square">
            <a:spAutoFit/>
          </a:bodyPr>
          <a:lstStyle/>
          <a:p>
            <a:pPr algn="ctr"/>
            <a:r>
              <a:rPr sz="1000" b="1" i="0">
                <a:solidFill>
                  <a:srgbClr val="F5A623"/>
                </a:solidFill>
              </a:rPr>
              <a:t>Presenter 4</a:t>
            </a:r>
          </a:p>
        </p:txBody>
      </p:sp>
      <p:sp>
        <p:nvSpPr>
          <p:cNvPr id="22" name="TextBox 21"/>
          <p:cNvSpPr txBox="1"/>
          <p:nvPr/>
        </p:nvSpPr>
        <p:spPr>
          <a:xfrm>
            <a:off x="1965960" y="5586984"/>
            <a:ext cx="4389120" cy="274320"/>
          </a:xfrm>
          <a:prstGeom prst="rect">
            <a:avLst/>
          </a:prstGeom>
          <a:noFill/>
        </p:spPr>
        <p:txBody>
          <a:bodyPr wrap="square">
            <a:spAutoFit/>
          </a:bodyPr>
          <a:lstStyle/>
          <a:p>
            <a:pPr algn="l"/>
            <a:r>
              <a:rPr sz="1100" b="0" i="0">
                <a:solidFill>
                  <a:srgbClr val="3D3D3D"/>
                </a:solidFill>
              </a:rPr>
              <a:t>Impact &amp; Q&amp;A</a:t>
            </a:r>
          </a:p>
        </p:txBody>
      </p:sp>
      <p:sp>
        <p:nvSpPr>
          <p:cNvPr id="23" name="TextBox 22"/>
          <p:cNvSpPr txBox="1"/>
          <p:nvPr/>
        </p:nvSpPr>
        <p:spPr>
          <a:xfrm>
            <a:off x="7315200" y="1188720"/>
            <a:ext cx="4389120" cy="502920"/>
          </a:xfrm>
          <a:prstGeom prst="rect">
            <a:avLst/>
          </a:prstGeom>
          <a:noFill/>
        </p:spPr>
        <p:txBody>
          <a:bodyPr wrap="square">
            <a:spAutoFit/>
          </a:bodyPr>
          <a:lstStyle/>
          <a:p>
            <a:pPr algn="ctr"/>
            <a:r>
              <a:rPr sz="3000" b="1" i="0">
                <a:solidFill>
                  <a:srgbClr val="F5A623"/>
                </a:solidFill>
              </a:rPr>
              <a:t>8+</a:t>
            </a:r>
          </a:p>
        </p:txBody>
      </p:sp>
      <p:sp>
        <p:nvSpPr>
          <p:cNvPr id="24" name="TextBox 23"/>
          <p:cNvSpPr txBox="1"/>
          <p:nvPr/>
        </p:nvSpPr>
        <p:spPr>
          <a:xfrm>
            <a:off x="7315200" y="1645920"/>
            <a:ext cx="4389120" cy="310896"/>
          </a:xfrm>
          <a:prstGeom prst="rect">
            <a:avLst/>
          </a:prstGeom>
          <a:noFill/>
        </p:spPr>
        <p:txBody>
          <a:bodyPr wrap="square">
            <a:spAutoFit/>
          </a:bodyPr>
          <a:lstStyle/>
          <a:p>
            <a:pPr algn="ctr"/>
            <a:r>
              <a:rPr sz="1200" b="0" i="0">
                <a:solidFill>
                  <a:srgbClr val="FFFBF5"/>
                </a:solidFill>
              </a:rPr>
              <a:t>Microservices</a:t>
            </a:r>
          </a:p>
        </p:txBody>
      </p:sp>
      <p:sp>
        <p:nvSpPr>
          <p:cNvPr id="25" name="Rectangle 24"/>
          <p:cNvSpPr/>
          <p:nvPr/>
        </p:nvSpPr>
        <p:spPr>
          <a:xfrm>
            <a:off x="8686800" y="1993392"/>
            <a:ext cx="1645920" cy="274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2121408"/>
            <a:ext cx="4389120" cy="502920"/>
          </a:xfrm>
          <a:prstGeom prst="rect">
            <a:avLst/>
          </a:prstGeom>
          <a:noFill/>
        </p:spPr>
        <p:txBody>
          <a:bodyPr wrap="square">
            <a:spAutoFit/>
          </a:bodyPr>
          <a:lstStyle/>
          <a:p>
            <a:pPr algn="ctr"/>
            <a:r>
              <a:rPr sz="3000" b="1" i="0">
                <a:solidFill>
                  <a:srgbClr val="F5A623"/>
                </a:solidFill>
              </a:rPr>
              <a:t>5</a:t>
            </a:r>
          </a:p>
        </p:txBody>
      </p:sp>
      <p:sp>
        <p:nvSpPr>
          <p:cNvPr id="27" name="TextBox 26"/>
          <p:cNvSpPr txBox="1"/>
          <p:nvPr/>
        </p:nvSpPr>
        <p:spPr>
          <a:xfrm>
            <a:off x="7315200" y="2578608"/>
            <a:ext cx="4389120" cy="310896"/>
          </a:xfrm>
          <a:prstGeom prst="rect">
            <a:avLst/>
          </a:prstGeom>
          <a:noFill/>
        </p:spPr>
        <p:txBody>
          <a:bodyPr wrap="square">
            <a:spAutoFit/>
          </a:bodyPr>
          <a:lstStyle/>
          <a:p>
            <a:pPr algn="ctr"/>
            <a:r>
              <a:rPr sz="1200" b="0" i="0">
                <a:solidFill>
                  <a:srgbClr val="FFFBF5"/>
                </a:solidFill>
              </a:rPr>
              <a:t>Kafka Topics</a:t>
            </a:r>
          </a:p>
        </p:txBody>
      </p:sp>
      <p:sp>
        <p:nvSpPr>
          <p:cNvPr id="28" name="Rectangle 27"/>
          <p:cNvSpPr/>
          <p:nvPr/>
        </p:nvSpPr>
        <p:spPr>
          <a:xfrm>
            <a:off x="8686800" y="2926080"/>
            <a:ext cx="1645920" cy="274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0" y="3054096"/>
            <a:ext cx="4389120" cy="502920"/>
          </a:xfrm>
          <a:prstGeom prst="rect">
            <a:avLst/>
          </a:prstGeom>
          <a:noFill/>
        </p:spPr>
        <p:txBody>
          <a:bodyPr wrap="square">
            <a:spAutoFit/>
          </a:bodyPr>
          <a:lstStyle/>
          <a:p>
            <a:pPr algn="ctr"/>
            <a:r>
              <a:rPr sz="3000" b="1" i="0">
                <a:solidFill>
                  <a:srgbClr val="F5A623"/>
                </a:solidFill>
              </a:rPr>
              <a:t>4</a:t>
            </a:r>
          </a:p>
        </p:txBody>
      </p:sp>
      <p:sp>
        <p:nvSpPr>
          <p:cNvPr id="30" name="TextBox 29"/>
          <p:cNvSpPr txBox="1"/>
          <p:nvPr/>
        </p:nvSpPr>
        <p:spPr>
          <a:xfrm>
            <a:off x="7315200" y="3511296"/>
            <a:ext cx="4389120" cy="310896"/>
          </a:xfrm>
          <a:prstGeom prst="rect">
            <a:avLst/>
          </a:prstGeom>
          <a:noFill/>
        </p:spPr>
        <p:txBody>
          <a:bodyPr wrap="square">
            <a:spAutoFit/>
          </a:bodyPr>
          <a:lstStyle/>
          <a:p>
            <a:pPr algn="ctr"/>
            <a:r>
              <a:rPr sz="1200" b="0" i="0">
                <a:solidFill>
                  <a:srgbClr val="FFFBF5"/>
                </a:solidFill>
              </a:rPr>
              <a:t>User Roles</a:t>
            </a:r>
          </a:p>
        </p:txBody>
      </p:sp>
      <p:sp>
        <p:nvSpPr>
          <p:cNvPr id="31" name="Rectangle 30"/>
          <p:cNvSpPr/>
          <p:nvPr/>
        </p:nvSpPr>
        <p:spPr>
          <a:xfrm>
            <a:off x="8686800" y="3858768"/>
            <a:ext cx="1645920" cy="274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0" y="3986784"/>
            <a:ext cx="4389120" cy="502920"/>
          </a:xfrm>
          <a:prstGeom prst="rect">
            <a:avLst/>
          </a:prstGeom>
          <a:noFill/>
        </p:spPr>
        <p:txBody>
          <a:bodyPr wrap="square">
            <a:spAutoFit/>
          </a:bodyPr>
          <a:lstStyle/>
          <a:p>
            <a:pPr algn="ctr"/>
            <a:r>
              <a:rPr sz="3000" b="1" i="0">
                <a:solidFill>
                  <a:srgbClr val="F5A623"/>
                </a:solidFill>
              </a:rPr>
              <a:t>🤖</a:t>
            </a:r>
          </a:p>
        </p:txBody>
      </p:sp>
      <p:sp>
        <p:nvSpPr>
          <p:cNvPr id="33" name="TextBox 32"/>
          <p:cNvSpPr txBox="1"/>
          <p:nvPr/>
        </p:nvSpPr>
        <p:spPr>
          <a:xfrm>
            <a:off x="7315200" y="4443984"/>
            <a:ext cx="4389120" cy="310896"/>
          </a:xfrm>
          <a:prstGeom prst="rect">
            <a:avLst/>
          </a:prstGeom>
          <a:noFill/>
        </p:spPr>
        <p:txBody>
          <a:bodyPr wrap="square">
            <a:spAutoFit/>
          </a:bodyPr>
          <a:lstStyle/>
          <a:p>
            <a:pPr algn="ctr"/>
            <a:r>
              <a:rPr sz="1200" b="0" i="0">
                <a:solidFill>
                  <a:srgbClr val="FFFBF5"/>
                </a:solidFill>
              </a:rPr>
              <a:t>Gemini AI</a:t>
            </a:r>
          </a:p>
        </p:txBody>
      </p:sp>
      <p:sp>
        <p:nvSpPr>
          <p:cNvPr id="34" name="Rectangle 33"/>
          <p:cNvSpPr/>
          <p:nvPr/>
        </p:nvSpPr>
        <p:spPr>
          <a:xfrm>
            <a:off x="8686800" y="4791456"/>
            <a:ext cx="1645920" cy="274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0" y="4919472"/>
            <a:ext cx="4389120" cy="502920"/>
          </a:xfrm>
          <a:prstGeom prst="rect">
            <a:avLst/>
          </a:prstGeom>
          <a:noFill/>
        </p:spPr>
        <p:txBody>
          <a:bodyPr wrap="square">
            <a:spAutoFit/>
          </a:bodyPr>
          <a:lstStyle/>
          <a:p>
            <a:pPr algn="ctr"/>
            <a:r>
              <a:rPr sz="3000" b="1" i="0">
                <a:solidFill>
                  <a:srgbClr val="F5A623"/>
                </a:solidFill>
              </a:rPr>
              <a:t>⚡</a:t>
            </a:r>
          </a:p>
        </p:txBody>
      </p:sp>
      <p:sp>
        <p:nvSpPr>
          <p:cNvPr id="36" name="TextBox 35"/>
          <p:cNvSpPr txBox="1"/>
          <p:nvPr/>
        </p:nvSpPr>
        <p:spPr>
          <a:xfrm>
            <a:off x="7315200" y="5376672"/>
            <a:ext cx="4389120" cy="310896"/>
          </a:xfrm>
          <a:prstGeom prst="rect">
            <a:avLst/>
          </a:prstGeom>
          <a:noFill/>
        </p:spPr>
        <p:txBody>
          <a:bodyPr wrap="square">
            <a:spAutoFit/>
          </a:bodyPr>
          <a:lstStyle/>
          <a:p>
            <a:pPr algn="ctr"/>
            <a:r>
              <a:rPr sz="1200" b="0" i="0">
                <a:solidFill>
                  <a:srgbClr val="FFFBF5"/>
                </a:solidFill>
              </a:rPr>
              <a:t>Real-time WS</a:t>
            </a:r>
          </a:p>
        </p:txBody>
      </p:sp>
      <p:sp>
        <p:nvSpPr>
          <p:cNvPr id="37" name="Rectangle 36"/>
          <p:cNvSpPr/>
          <p:nvPr/>
        </p:nvSpPr>
        <p:spPr>
          <a:xfrm>
            <a:off x="8686800" y="5724144"/>
            <a:ext cx="1645920" cy="274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0" y="5852160"/>
            <a:ext cx="4389120" cy="502920"/>
          </a:xfrm>
          <a:prstGeom prst="rect">
            <a:avLst/>
          </a:prstGeom>
          <a:noFill/>
        </p:spPr>
        <p:txBody>
          <a:bodyPr wrap="square">
            <a:spAutoFit/>
          </a:bodyPr>
          <a:lstStyle/>
          <a:p>
            <a:pPr algn="ctr"/>
            <a:r>
              <a:rPr sz="3000" b="1" i="0">
                <a:solidFill>
                  <a:srgbClr val="F5A623"/>
                </a:solidFill>
              </a:rPr>
              <a:t>📊</a:t>
            </a:r>
          </a:p>
        </p:txBody>
      </p:sp>
      <p:sp>
        <p:nvSpPr>
          <p:cNvPr id="39" name="TextBox 38"/>
          <p:cNvSpPr txBox="1"/>
          <p:nvPr/>
        </p:nvSpPr>
        <p:spPr>
          <a:xfrm>
            <a:off x="7315200" y="6309360"/>
            <a:ext cx="4389120" cy="310896"/>
          </a:xfrm>
          <a:prstGeom prst="rect">
            <a:avLst/>
          </a:prstGeom>
          <a:noFill/>
        </p:spPr>
        <p:txBody>
          <a:bodyPr wrap="square">
            <a:spAutoFit/>
          </a:bodyPr>
          <a:lstStyle/>
          <a:p>
            <a:pPr algn="ctr"/>
            <a:r>
              <a:rPr sz="1200" b="0" i="0">
                <a:solidFill>
                  <a:srgbClr val="FFFBF5"/>
                </a:solidFill>
              </a:rPr>
              <a:t>Live Analytics</a:t>
            </a:r>
          </a:p>
        </p:txBody>
      </p:sp>
      <p:sp>
        <p:nvSpPr>
          <p:cNvPr id="40" name="Rectangle 39"/>
          <p:cNvSpPr/>
          <p:nvPr/>
        </p:nvSpPr>
        <p:spPr>
          <a:xfrm>
            <a:off x="8686800" y="6656832"/>
            <a:ext cx="1645920" cy="2743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The Problem</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Multi-branch restaurant operations are broken</a:t>
            </a:r>
          </a:p>
        </p:txBody>
      </p:sp>
      <p:sp>
        <p:nvSpPr>
          <p:cNvPr id="6" name="Rectangle 5"/>
          <p:cNvSpPr/>
          <p:nvPr/>
        </p:nvSpPr>
        <p:spPr>
          <a:xfrm>
            <a:off x="274320" y="1417320"/>
            <a:ext cx="2834640" cy="502920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2834640" cy="4572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63040"/>
            <a:ext cx="2651760" cy="365760"/>
          </a:xfrm>
          <a:prstGeom prst="rect">
            <a:avLst/>
          </a:prstGeom>
          <a:noFill/>
        </p:spPr>
        <p:txBody>
          <a:bodyPr wrap="square">
            <a:spAutoFit/>
          </a:bodyPr>
          <a:lstStyle/>
          <a:p>
            <a:pPr algn="l"/>
            <a:r>
              <a:rPr sz="1250" b="1" i="0">
                <a:solidFill>
                  <a:srgbClr val="FFFBF5"/>
                </a:solidFill>
              </a:rPr>
              <a:t>😤  Operational Chaos</a:t>
            </a:r>
          </a:p>
        </p:txBody>
      </p:sp>
      <p:sp>
        <p:nvSpPr>
          <p:cNvPr id="9" name="TextBox 8"/>
          <p:cNvSpPr txBox="1"/>
          <p:nvPr/>
        </p:nvSpPr>
        <p:spPr>
          <a:xfrm>
            <a:off x="384048" y="1965960"/>
            <a:ext cx="2606040" cy="4297680"/>
          </a:xfrm>
          <a:prstGeom prst="rect">
            <a:avLst/>
          </a:prstGeom>
          <a:noFill/>
        </p:spPr>
        <p:txBody>
          <a:bodyPr wrap="square">
            <a:spAutoFit/>
          </a:bodyPr>
          <a:lstStyle/>
          <a:p>
            <a:pPr algn="l"/>
            <a:r>
              <a:rPr sz="1150" b="0" i="0">
                <a:solidFill>
                  <a:srgbClr val="3D3D3D"/>
                </a:solidFill>
              </a:rPr>
              <a:t>Orders managed via phone, paper tickets, and WhatsApp.
No single source of truth across branches.
Mistakes, duplicates, and missed items are routine.</a:t>
            </a:r>
          </a:p>
        </p:txBody>
      </p:sp>
      <p:sp>
        <p:nvSpPr>
          <p:cNvPr id="10" name="Rectangle 9"/>
          <p:cNvSpPr/>
          <p:nvPr/>
        </p:nvSpPr>
        <p:spPr>
          <a:xfrm>
            <a:off x="3255264" y="1417320"/>
            <a:ext cx="2834640" cy="502920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55264" y="1417320"/>
            <a:ext cx="2834640" cy="4572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46704" y="1463040"/>
            <a:ext cx="2651760" cy="365760"/>
          </a:xfrm>
          <a:prstGeom prst="rect">
            <a:avLst/>
          </a:prstGeom>
          <a:noFill/>
        </p:spPr>
        <p:txBody>
          <a:bodyPr wrap="square">
            <a:spAutoFit/>
          </a:bodyPr>
          <a:lstStyle/>
          <a:p>
            <a:pPr algn="l"/>
            <a:r>
              <a:rPr sz="1250" b="1" i="0">
                <a:solidFill>
                  <a:srgbClr val="FFFBF5"/>
                </a:solidFill>
              </a:rPr>
              <a:t>⏱️  Delayed Kitchen Coordination</a:t>
            </a:r>
          </a:p>
        </p:txBody>
      </p:sp>
      <p:sp>
        <p:nvSpPr>
          <p:cNvPr id="13" name="TextBox 12"/>
          <p:cNvSpPr txBox="1"/>
          <p:nvPr/>
        </p:nvSpPr>
        <p:spPr>
          <a:xfrm>
            <a:off x="3364992" y="1965960"/>
            <a:ext cx="2606040" cy="4297680"/>
          </a:xfrm>
          <a:prstGeom prst="rect">
            <a:avLst/>
          </a:prstGeom>
          <a:noFill/>
        </p:spPr>
        <p:txBody>
          <a:bodyPr wrap="square">
            <a:spAutoFit/>
          </a:bodyPr>
          <a:lstStyle/>
          <a:p>
            <a:pPr algn="l"/>
            <a:r>
              <a:rPr sz="1150" b="0" i="0">
                <a:solidFill>
                  <a:srgbClr val="3D3D3D"/>
                </a:solidFill>
              </a:rPr>
              <a:t>Kitchen staff have no real-time visibility into order queues.
SLA breaches go undetected until complaints arrive.
No priority system — everything feels equally urgent.</a:t>
            </a:r>
          </a:p>
        </p:txBody>
      </p:sp>
      <p:sp>
        <p:nvSpPr>
          <p:cNvPr id="14" name="Rectangle 13"/>
          <p:cNvSpPr/>
          <p:nvPr/>
        </p:nvSpPr>
        <p:spPr>
          <a:xfrm>
            <a:off x="6236208" y="1417320"/>
            <a:ext cx="2834640" cy="502920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417320"/>
            <a:ext cx="2834640" cy="4572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1463040"/>
            <a:ext cx="2651760" cy="365760"/>
          </a:xfrm>
          <a:prstGeom prst="rect">
            <a:avLst/>
          </a:prstGeom>
          <a:noFill/>
        </p:spPr>
        <p:txBody>
          <a:bodyPr wrap="square">
            <a:spAutoFit/>
          </a:bodyPr>
          <a:lstStyle/>
          <a:p>
            <a:pPr algn="l"/>
            <a:r>
              <a:rPr sz="1250" b="1" i="0">
                <a:solidFill>
                  <a:srgbClr val="FFFBF5"/>
                </a:solidFill>
              </a:rPr>
              <a:t>📊  Zero Business Insight</a:t>
            </a:r>
          </a:p>
        </p:txBody>
      </p:sp>
      <p:sp>
        <p:nvSpPr>
          <p:cNvPr id="17" name="TextBox 16"/>
          <p:cNvSpPr txBox="1"/>
          <p:nvPr/>
        </p:nvSpPr>
        <p:spPr>
          <a:xfrm>
            <a:off x="6345936" y="1965960"/>
            <a:ext cx="2606040" cy="4297680"/>
          </a:xfrm>
          <a:prstGeom prst="rect">
            <a:avLst/>
          </a:prstGeom>
          <a:noFill/>
        </p:spPr>
        <p:txBody>
          <a:bodyPr wrap="square">
            <a:spAutoFit/>
          </a:bodyPr>
          <a:lstStyle/>
          <a:p>
            <a:pPr algn="l"/>
            <a:r>
              <a:rPr sz="1150" b="0" i="0">
                <a:solidFill>
                  <a:srgbClr val="3D3D3D"/>
                </a:solidFill>
              </a:rPr>
              <a:t>Managers make pricing and staffing decisions blindly.
No cross-branch performance data for executives.
Monthly reports are built manually in spreadsheets.</a:t>
            </a:r>
          </a:p>
        </p:txBody>
      </p:sp>
      <p:sp>
        <p:nvSpPr>
          <p:cNvPr id="18" name="Rectangle 17"/>
          <p:cNvSpPr/>
          <p:nvPr/>
        </p:nvSpPr>
        <p:spPr>
          <a:xfrm>
            <a:off x="9217152" y="1417320"/>
            <a:ext cx="2834640" cy="502920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17152" y="1417320"/>
            <a:ext cx="2834640" cy="4572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08592" y="1463040"/>
            <a:ext cx="2651760" cy="365760"/>
          </a:xfrm>
          <a:prstGeom prst="rect">
            <a:avLst/>
          </a:prstGeom>
          <a:noFill/>
        </p:spPr>
        <p:txBody>
          <a:bodyPr wrap="square">
            <a:spAutoFit/>
          </a:bodyPr>
          <a:lstStyle/>
          <a:p>
            <a:pPr algn="l"/>
            <a:r>
              <a:rPr sz="1250" b="1" i="0">
                <a:solidFill>
                  <a:srgbClr val="FFFBF5"/>
                </a:solidFill>
              </a:rPr>
              <a:t>🔔  Poor Customer Experience</a:t>
            </a:r>
          </a:p>
        </p:txBody>
      </p:sp>
      <p:sp>
        <p:nvSpPr>
          <p:cNvPr id="21" name="TextBox 20"/>
          <p:cNvSpPr txBox="1"/>
          <p:nvPr/>
        </p:nvSpPr>
        <p:spPr>
          <a:xfrm>
            <a:off x="9326880" y="1965960"/>
            <a:ext cx="2606040" cy="4297680"/>
          </a:xfrm>
          <a:prstGeom prst="rect">
            <a:avLst/>
          </a:prstGeom>
          <a:noFill/>
        </p:spPr>
        <p:txBody>
          <a:bodyPr wrap="square">
            <a:spAutoFit/>
          </a:bodyPr>
          <a:lstStyle/>
          <a:p>
            <a:pPr algn="l"/>
            <a:r>
              <a:rPr sz="1150" b="0" i="0">
                <a:solidFill>
                  <a:srgbClr val="3D3D3D"/>
                </a:solidFill>
              </a:rPr>
              <a:t>Customers have no order tracking or real-time updates.
No confirmation, no ETA, no communication.
Complaints rise; loyalty drops.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Our Solution</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FoodChain — built for scale, designed for clarity</a:t>
            </a:r>
          </a:p>
        </p:txBody>
      </p:sp>
      <p:sp>
        <p:nvSpPr>
          <p:cNvPr id="6" name="TextBox 5"/>
          <p:cNvSpPr txBox="1"/>
          <p:nvPr/>
        </p:nvSpPr>
        <p:spPr>
          <a:xfrm>
            <a:off x="365760" y="1325880"/>
            <a:ext cx="11430000" cy="411480"/>
          </a:xfrm>
          <a:prstGeom prst="rect">
            <a:avLst/>
          </a:prstGeom>
          <a:noFill/>
        </p:spPr>
        <p:txBody>
          <a:bodyPr wrap="square">
            <a:spAutoFit/>
          </a:bodyPr>
          <a:lstStyle/>
          <a:p>
            <a:pPr algn="ctr"/>
            <a:r>
              <a:rPr sz="1500" b="0" i="1">
                <a:solidFill>
                  <a:srgbClr val="2C1A0E"/>
                </a:solidFill>
              </a:rPr>
              <a:t>One unified platform. Four empowered roles. Eight specialised services.</a:t>
            </a:r>
          </a:p>
        </p:txBody>
      </p:sp>
      <p:sp>
        <p:nvSpPr>
          <p:cNvPr id="7" name="Rectangle 6"/>
          <p:cNvSpPr/>
          <p:nvPr/>
        </p:nvSpPr>
        <p:spPr>
          <a:xfrm>
            <a:off x="274320" y="1920240"/>
            <a:ext cx="3794760" cy="2148840"/>
          </a:xfrm>
          <a:prstGeom prst="rect">
            <a:avLst/>
          </a:prstGeom>
          <a:solidFill>
            <a:srgbClr val="FFFBF5"/>
          </a:solidFill>
          <a:ln w="228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920240"/>
            <a:ext cx="379476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975104"/>
            <a:ext cx="3611880" cy="329184"/>
          </a:xfrm>
          <a:prstGeom prst="rect">
            <a:avLst/>
          </a:prstGeom>
          <a:noFill/>
        </p:spPr>
        <p:txBody>
          <a:bodyPr wrap="square">
            <a:spAutoFit/>
          </a:bodyPr>
          <a:lstStyle/>
          <a:p>
            <a:pPr algn="l"/>
            <a:r>
              <a:rPr sz="1250" b="1" i="0">
                <a:solidFill>
                  <a:srgbClr val="FFFBF5"/>
                </a:solidFill>
              </a:rPr>
              <a:t>👤 Customer Portal</a:t>
            </a:r>
          </a:p>
        </p:txBody>
      </p:sp>
      <p:sp>
        <p:nvSpPr>
          <p:cNvPr id="10" name="Rectangle 9"/>
          <p:cNvSpPr/>
          <p:nvPr/>
        </p:nvSpPr>
        <p:spPr>
          <a:xfrm>
            <a:off x="402336" y="2505456"/>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432304"/>
            <a:ext cx="3429000" cy="256032"/>
          </a:xfrm>
          <a:prstGeom prst="rect">
            <a:avLst/>
          </a:prstGeom>
          <a:noFill/>
        </p:spPr>
        <p:txBody>
          <a:bodyPr wrap="square">
            <a:spAutoFit/>
          </a:bodyPr>
          <a:lstStyle/>
          <a:p>
            <a:pPr algn="l"/>
            <a:r>
              <a:rPr sz="1100" b="0" i="0">
                <a:solidFill>
                  <a:srgbClr val="3D3D3D"/>
                </a:solidFill>
              </a:rPr>
              <a:t>Browse menus by branch</a:t>
            </a:r>
          </a:p>
        </p:txBody>
      </p:sp>
      <p:sp>
        <p:nvSpPr>
          <p:cNvPr id="12" name="Rectangle 11"/>
          <p:cNvSpPr/>
          <p:nvPr/>
        </p:nvSpPr>
        <p:spPr>
          <a:xfrm>
            <a:off x="402336" y="2871216"/>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798064"/>
            <a:ext cx="3429000" cy="256032"/>
          </a:xfrm>
          <a:prstGeom prst="rect">
            <a:avLst/>
          </a:prstGeom>
          <a:noFill/>
        </p:spPr>
        <p:txBody>
          <a:bodyPr wrap="square">
            <a:spAutoFit/>
          </a:bodyPr>
          <a:lstStyle/>
          <a:p>
            <a:pPr algn="l"/>
            <a:r>
              <a:rPr sz="1100" b="0" i="0">
                <a:solidFill>
                  <a:srgbClr val="3D3D3D"/>
                </a:solidFill>
              </a:rPr>
              <a:t>AI-powered food suggestions</a:t>
            </a:r>
          </a:p>
        </p:txBody>
      </p:sp>
      <p:sp>
        <p:nvSpPr>
          <p:cNvPr id="14" name="Rectangle 13"/>
          <p:cNvSpPr/>
          <p:nvPr/>
        </p:nvSpPr>
        <p:spPr>
          <a:xfrm>
            <a:off x="402336" y="3236976"/>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63824"/>
            <a:ext cx="3429000" cy="256032"/>
          </a:xfrm>
          <a:prstGeom prst="rect">
            <a:avLst/>
          </a:prstGeom>
          <a:noFill/>
        </p:spPr>
        <p:txBody>
          <a:bodyPr wrap="square">
            <a:spAutoFit/>
          </a:bodyPr>
          <a:lstStyle/>
          <a:p>
            <a:pPr algn="l"/>
            <a:r>
              <a:rPr sz="1100" b="0" i="0">
                <a:solidFill>
                  <a:srgbClr val="3D3D3D"/>
                </a:solidFill>
              </a:rPr>
              <a:t>Place &amp; track orders</a:t>
            </a:r>
          </a:p>
        </p:txBody>
      </p:sp>
      <p:sp>
        <p:nvSpPr>
          <p:cNvPr id="16" name="Rectangle 15"/>
          <p:cNvSpPr/>
          <p:nvPr/>
        </p:nvSpPr>
        <p:spPr>
          <a:xfrm>
            <a:off x="402336" y="3602736"/>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529584"/>
            <a:ext cx="3429000" cy="256032"/>
          </a:xfrm>
          <a:prstGeom prst="rect">
            <a:avLst/>
          </a:prstGeom>
          <a:noFill/>
        </p:spPr>
        <p:txBody>
          <a:bodyPr wrap="square">
            <a:spAutoFit/>
          </a:bodyPr>
          <a:lstStyle/>
          <a:p>
            <a:pPr algn="l"/>
            <a:r>
              <a:rPr sz="1100" b="0" i="0">
                <a:solidFill>
                  <a:srgbClr val="3D3D3D"/>
                </a:solidFill>
              </a:rPr>
              <a:t>Real-time status notifications</a:t>
            </a:r>
          </a:p>
        </p:txBody>
      </p:sp>
      <p:sp>
        <p:nvSpPr>
          <p:cNvPr id="18" name="Rectangle 17"/>
          <p:cNvSpPr/>
          <p:nvPr/>
        </p:nvSpPr>
        <p:spPr>
          <a:xfrm>
            <a:off x="4389120" y="1920240"/>
            <a:ext cx="3794760" cy="2148840"/>
          </a:xfrm>
          <a:prstGeom prst="rect">
            <a:avLst/>
          </a:prstGeom>
          <a:solidFill>
            <a:srgbClr val="FFFBF5"/>
          </a:solidFill>
          <a:ln w="2286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1920240"/>
            <a:ext cx="3794760" cy="420624"/>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975104"/>
            <a:ext cx="3611880" cy="329184"/>
          </a:xfrm>
          <a:prstGeom prst="rect">
            <a:avLst/>
          </a:prstGeom>
          <a:noFill/>
        </p:spPr>
        <p:txBody>
          <a:bodyPr wrap="square">
            <a:spAutoFit/>
          </a:bodyPr>
          <a:lstStyle/>
          <a:p>
            <a:pPr algn="l"/>
            <a:r>
              <a:rPr sz="1250" b="1" i="0">
                <a:solidFill>
                  <a:srgbClr val="FFFBF5"/>
                </a:solidFill>
              </a:rPr>
              <a:t>🍳 Kitchen Display</a:t>
            </a:r>
          </a:p>
        </p:txBody>
      </p:sp>
      <p:sp>
        <p:nvSpPr>
          <p:cNvPr id="21" name="Rectangle 20"/>
          <p:cNvSpPr/>
          <p:nvPr/>
        </p:nvSpPr>
        <p:spPr>
          <a:xfrm>
            <a:off x="4517136" y="2505456"/>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2432304"/>
            <a:ext cx="3429000" cy="256032"/>
          </a:xfrm>
          <a:prstGeom prst="rect">
            <a:avLst/>
          </a:prstGeom>
          <a:noFill/>
        </p:spPr>
        <p:txBody>
          <a:bodyPr wrap="square">
            <a:spAutoFit/>
          </a:bodyPr>
          <a:lstStyle/>
          <a:p>
            <a:pPr algn="l"/>
            <a:r>
              <a:rPr sz="1100" b="0" i="0">
                <a:solidFill>
                  <a:srgbClr val="3D3D3D"/>
                </a:solidFill>
              </a:rPr>
              <a:t>Live order queue</a:t>
            </a:r>
          </a:p>
        </p:txBody>
      </p:sp>
      <p:sp>
        <p:nvSpPr>
          <p:cNvPr id="23" name="Rectangle 22"/>
          <p:cNvSpPr/>
          <p:nvPr/>
        </p:nvSpPr>
        <p:spPr>
          <a:xfrm>
            <a:off x="4517136" y="2871216"/>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2798064"/>
            <a:ext cx="3429000" cy="256032"/>
          </a:xfrm>
          <a:prstGeom prst="rect">
            <a:avLst/>
          </a:prstGeom>
          <a:noFill/>
        </p:spPr>
        <p:txBody>
          <a:bodyPr wrap="square">
            <a:spAutoFit/>
          </a:bodyPr>
          <a:lstStyle/>
          <a:p>
            <a:pPr algn="l"/>
            <a:r>
              <a:rPr sz="1100" b="0" i="0">
                <a:solidFill>
                  <a:srgbClr val="3D3D3D"/>
                </a:solidFill>
              </a:rPr>
              <a:t>SLA countdown timers</a:t>
            </a:r>
          </a:p>
        </p:txBody>
      </p:sp>
      <p:sp>
        <p:nvSpPr>
          <p:cNvPr id="25" name="Rectangle 24"/>
          <p:cNvSpPr/>
          <p:nvPr/>
        </p:nvSpPr>
        <p:spPr>
          <a:xfrm>
            <a:off x="4517136" y="3236976"/>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3163824"/>
            <a:ext cx="3429000" cy="256032"/>
          </a:xfrm>
          <a:prstGeom prst="rect">
            <a:avLst/>
          </a:prstGeom>
          <a:noFill/>
        </p:spPr>
        <p:txBody>
          <a:bodyPr wrap="square">
            <a:spAutoFit/>
          </a:bodyPr>
          <a:lstStyle/>
          <a:p>
            <a:pPr algn="l"/>
            <a:r>
              <a:rPr sz="1100" b="0" i="0">
                <a:solidFill>
                  <a:srgbClr val="3D3D3D"/>
                </a:solidFill>
              </a:rPr>
              <a:t>Status updates in real time</a:t>
            </a:r>
          </a:p>
        </p:txBody>
      </p:sp>
      <p:sp>
        <p:nvSpPr>
          <p:cNvPr id="27" name="Rectangle 26"/>
          <p:cNvSpPr/>
          <p:nvPr/>
        </p:nvSpPr>
        <p:spPr>
          <a:xfrm>
            <a:off x="4517136" y="3602736"/>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3529584"/>
            <a:ext cx="3429000" cy="256032"/>
          </a:xfrm>
          <a:prstGeom prst="rect">
            <a:avLst/>
          </a:prstGeom>
          <a:noFill/>
        </p:spPr>
        <p:txBody>
          <a:bodyPr wrap="square">
            <a:spAutoFit/>
          </a:bodyPr>
          <a:lstStyle/>
          <a:p>
            <a:pPr algn="l"/>
            <a:r>
              <a:rPr sz="1100" b="0" i="0">
                <a:solidFill>
                  <a:srgbClr val="3D3D3D"/>
                </a:solidFill>
              </a:rPr>
              <a:t>Priority-sorted orders</a:t>
            </a:r>
          </a:p>
        </p:txBody>
      </p:sp>
      <p:sp>
        <p:nvSpPr>
          <p:cNvPr id="29" name="Rectangle 28"/>
          <p:cNvSpPr/>
          <p:nvPr/>
        </p:nvSpPr>
        <p:spPr>
          <a:xfrm>
            <a:off x="8503920" y="1920240"/>
            <a:ext cx="3794760" cy="2148840"/>
          </a:xfrm>
          <a:prstGeom prst="rect">
            <a:avLst/>
          </a:prstGeom>
          <a:solidFill>
            <a:srgbClr val="FFFBF5"/>
          </a:solidFill>
          <a:ln w="2286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503920" y="1920240"/>
            <a:ext cx="3794760" cy="420624"/>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1975104"/>
            <a:ext cx="3611880" cy="329184"/>
          </a:xfrm>
          <a:prstGeom prst="rect">
            <a:avLst/>
          </a:prstGeom>
          <a:noFill/>
        </p:spPr>
        <p:txBody>
          <a:bodyPr wrap="square">
            <a:spAutoFit/>
          </a:bodyPr>
          <a:lstStyle/>
          <a:p>
            <a:pPr algn="l"/>
            <a:r>
              <a:rPr sz="1250" b="1" i="0">
                <a:solidFill>
                  <a:srgbClr val="FFFBF5"/>
                </a:solidFill>
              </a:rPr>
              <a:t>📊 Branch Manager</a:t>
            </a:r>
          </a:p>
        </p:txBody>
      </p:sp>
      <p:sp>
        <p:nvSpPr>
          <p:cNvPr id="32" name="Rectangle 31"/>
          <p:cNvSpPr/>
          <p:nvPr/>
        </p:nvSpPr>
        <p:spPr>
          <a:xfrm>
            <a:off x="8631936" y="2505456"/>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0" y="2432304"/>
            <a:ext cx="3429000" cy="256032"/>
          </a:xfrm>
          <a:prstGeom prst="rect">
            <a:avLst/>
          </a:prstGeom>
          <a:noFill/>
        </p:spPr>
        <p:txBody>
          <a:bodyPr wrap="square">
            <a:spAutoFit/>
          </a:bodyPr>
          <a:lstStyle/>
          <a:p>
            <a:pPr algn="l"/>
            <a:r>
              <a:rPr sz="1100" b="0" i="0">
                <a:solidFill>
                  <a:srgbClr val="3D3D3D"/>
                </a:solidFill>
              </a:rPr>
              <a:t>Branch order dashboard</a:t>
            </a:r>
          </a:p>
        </p:txBody>
      </p:sp>
      <p:sp>
        <p:nvSpPr>
          <p:cNvPr id="34" name="Rectangle 33"/>
          <p:cNvSpPr/>
          <p:nvPr/>
        </p:nvSpPr>
        <p:spPr>
          <a:xfrm>
            <a:off x="8631936" y="2871216"/>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78240" y="2798064"/>
            <a:ext cx="3429000" cy="256032"/>
          </a:xfrm>
          <a:prstGeom prst="rect">
            <a:avLst/>
          </a:prstGeom>
          <a:noFill/>
        </p:spPr>
        <p:txBody>
          <a:bodyPr wrap="square">
            <a:spAutoFit/>
          </a:bodyPr>
          <a:lstStyle/>
          <a:p>
            <a:pPr algn="l"/>
            <a:r>
              <a:rPr sz="1100" b="0" i="0">
                <a:solidFill>
                  <a:srgbClr val="3D3D3D"/>
                </a:solidFill>
              </a:rPr>
              <a:t>Daily sales analytics</a:t>
            </a:r>
          </a:p>
        </p:txBody>
      </p:sp>
      <p:sp>
        <p:nvSpPr>
          <p:cNvPr id="36" name="Rectangle 35"/>
          <p:cNvSpPr/>
          <p:nvPr/>
        </p:nvSpPr>
        <p:spPr>
          <a:xfrm>
            <a:off x="8631936" y="3236976"/>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0" y="3163824"/>
            <a:ext cx="3429000" cy="256032"/>
          </a:xfrm>
          <a:prstGeom prst="rect">
            <a:avLst/>
          </a:prstGeom>
          <a:noFill/>
        </p:spPr>
        <p:txBody>
          <a:bodyPr wrap="square">
            <a:spAutoFit/>
          </a:bodyPr>
          <a:lstStyle/>
          <a:p>
            <a:pPr algn="l"/>
            <a:r>
              <a:rPr sz="1100" b="0" i="0">
                <a:solidFill>
                  <a:srgbClr val="3D3D3D"/>
                </a:solidFill>
              </a:rPr>
              <a:t>Top item rankings</a:t>
            </a:r>
          </a:p>
        </p:txBody>
      </p:sp>
      <p:sp>
        <p:nvSpPr>
          <p:cNvPr id="38" name="Rectangle 37"/>
          <p:cNvSpPr/>
          <p:nvPr/>
        </p:nvSpPr>
        <p:spPr>
          <a:xfrm>
            <a:off x="8631936" y="3602736"/>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78240" y="3529584"/>
            <a:ext cx="3429000" cy="256032"/>
          </a:xfrm>
          <a:prstGeom prst="rect">
            <a:avLst/>
          </a:prstGeom>
          <a:noFill/>
        </p:spPr>
        <p:txBody>
          <a:bodyPr wrap="square">
            <a:spAutoFit/>
          </a:bodyPr>
          <a:lstStyle/>
          <a:p>
            <a:pPr algn="l"/>
            <a:r>
              <a:rPr sz="1100" b="0" i="0">
                <a:solidFill>
                  <a:srgbClr val="3D3D3D"/>
                </a:solidFill>
              </a:rPr>
              <a:t>Fulfilment performance</a:t>
            </a:r>
          </a:p>
        </p:txBody>
      </p:sp>
      <p:sp>
        <p:nvSpPr>
          <p:cNvPr id="40" name="Rectangle 39"/>
          <p:cNvSpPr/>
          <p:nvPr/>
        </p:nvSpPr>
        <p:spPr>
          <a:xfrm>
            <a:off x="274320" y="4251960"/>
            <a:ext cx="3794760" cy="2148840"/>
          </a:xfrm>
          <a:prstGeom prst="rect">
            <a:avLst/>
          </a:prstGeom>
          <a:solidFill>
            <a:srgbClr val="FFFBF5"/>
          </a:solidFill>
          <a:ln w="2286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4251960"/>
            <a:ext cx="3794760" cy="42062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4306824"/>
            <a:ext cx="3611880" cy="329184"/>
          </a:xfrm>
          <a:prstGeom prst="rect">
            <a:avLst/>
          </a:prstGeom>
          <a:noFill/>
        </p:spPr>
        <p:txBody>
          <a:bodyPr wrap="square">
            <a:spAutoFit/>
          </a:bodyPr>
          <a:lstStyle/>
          <a:p>
            <a:pPr algn="l"/>
            <a:r>
              <a:rPr sz="1250" b="1" i="0">
                <a:solidFill>
                  <a:srgbClr val="FFFBF5"/>
                </a:solidFill>
              </a:rPr>
              <a:t>🏢 Head Office Admin</a:t>
            </a:r>
          </a:p>
        </p:txBody>
      </p:sp>
      <p:sp>
        <p:nvSpPr>
          <p:cNvPr id="43" name="Rectangle 42"/>
          <p:cNvSpPr/>
          <p:nvPr/>
        </p:nvSpPr>
        <p:spPr>
          <a:xfrm>
            <a:off x="402336" y="4837176"/>
            <a:ext cx="73152" cy="7315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4764024"/>
            <a:ext cx="3429000" cy="256032"/>
          </a:xfrm>
          <a:prstGeom prst="rect">
            <a:avLst/>
          </a:prstGeom>
          <a:noFill/>
        </p:spPr>
        <p:txBody>
          <a:bodyPr wrap="square">
            <a:spAutoFit/>
          </a:bodyPr>
          <a:lstStyle/>
          <a:p>
            <a:pPr algn="l"/>
            <a:r>
              <a:rPr sz="1100" b="0" i="0">
                <a:solidFill>
                  <a:srgbClr val="3D3D3D"/>
                </a:solidFill>
              </a:rPr>
              <a:t>Cross-branch comparisons</a:t>
            </a:r>
          </a:p>
        </p:txBody>
      </p:sp>
      <p:sp>
        <p:nvSpPr>
          <p:cNvPr id="45" name="Rectangle 44"/>
          <p:cNvSpPr/>
          <p:nvPr/>
        </p:nvSpPr>
        <p:spPr>
          <a:xfrm>
            <a:off x="402336" y="5202936"/>
            <a:ext cx="73152" cy="7315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5129784"/>
            <a:ext cx="3429000" cy="256032"/>
          </a:xfrm>
          <a:prstGeom prst="rect">
            <a:avLst/>
          </a:prstGeom>
          <a:noFill/>
        </p:spPr>
        <p:txBody>
          <a:bodyPr wrap="square">
            <a:spAutoFit/>
          </a:bodyPr>
          <a:lstStyle/>
          <a:p>
            <a:pPr algn="l"/>
            <a:r>
              <a:rPr sz="1100" b="0" i="0">
                <a:solidFill>
                  <a:srgbClr val="3D3D3D"/>
                </a:solidFill>
              </a:rPr>
              <a:t>Revenue &amp; performance reports</a:t>
            </a:r>
          </a:p>
        </p:txBody>
      </p:sp>
      <p:sp>
        <p:nvSpPr>
          <p:cNvPr id="47" name="Rectangle 46"/>
          <p:cNvSpPr/>
          <p:nvPr/>
        </p:nvSpPr>
        <p:spPr>
          <a:xfrm>
            <a:off x="402336" y="5568696"/>
            <a:ext cx="73152" cy="7315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495544"/>
            <a:ext cx="3429000" cy="256032"/>
          </a:xfrm>
          <a:prstGeom prst="rect">
            <a:avLst/>
          </a:prstGeom>
          <a:noFill/>
        </p:spPr>
        <p:txBody>
          <a:bodyPr wrap="square">
            <a:spAutoFit/>
          </a:bodyPr>
          <a:lstStyle/>
          <a:p>
            <a:pPr algn="l"/>
            <a:r>
              <a:rPr sz="1100" b="0" i="0">
                <a:solidFill>
                  <a:srgbClr val="3D3D3D"/>
                </a:solidFill>
              </a:rPr>
              <a:t>PDF/CSV/Excel export</a:t>
            </a:r>
          </a:p>
        </p:txBody>
      </p:sp>
      <p:sp>
        <p:nvSpPr>
          <p:cNvPr id="49" name="Rectangle 48"/>
          <p:cNvSpPr/>
          <p:nvPr/>
        </p:nvSpPr>
        <p:spPr>
          <a:xfrm>
            <a:off x="402336" y="5934456"/>
            <a:ext cx="73152" cy="7315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5861304"/>
            <a:ext cx="3429000" cy="256032"/>
          </a:xfrm>
          <a:prstGeom prst="rect">
            <a:avLst/>
          </a:prstGeom>
          <a:noFill/>
        </p:spPr>
        <p:txBody>
          <a:bodyPr wrap="square">
            <a:spAutoFit/>
          </a:bodyPr>
          <a:lstStyle/>
          <a:p>
            <a:pPr algn="l"/>
            <a:r>
              <a:rPr sz="1100" b="0" i="0">
                <a:solidFill>
                  <a:srgbClr val="3D3D3D"/>
                </a:solidFill>
              </a:rPr>
              <a:t>Full user management</a:t>
            </a:r>
          </a:p>
        </p:txBody>
      </p:sp>
      <p:sp>
        <p:nvSpPr>
          <p:cNvPr id="51" name="Rectangle 50"/>
          <p:cNvSpPr/>
          <p:nvPr/>
        </p:nvSpPr>
        <p:spPr>
          <a:xfrm>
            <a:off x="4389120" y="4251960"/>
            <a:ext cx="3794760" cy="2148840"/>
          </a:xfrm>
          <a:prstGeom prst="rect">
            <a:avLst/>
          </a:prstGeom>
          <a:solidFill>
            <a:srgbClr val="FFFBF5"/>
          </a:solidFill>
          <a:ln w="2286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389120" y="4251960"/>
            <a:ext cx="3794760" cy="420624"/>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80560" y="4306824"/>
            <a:ext cx="3611880" cy="329184"/>
          </a:xfrm>
          <a:prstGeom prst="rect">
            <a:avLst/>
          </a:prstGeom>
          <a:noFill/>
        </p:spPr>
        <p:txBody>
          <a:bodyPr wrap="square">
            <a:spAutoFit/>
          </a:bodyPr>
          <a:lstStyle/>
          <a:p>
            <a:pPr algn="l"/>
            <a:r>
              <a:rPr sz="1250" b="1" i="0">
                <a:solidFill>
                  <a:srgbClr val="FFFBF5"/>
                </a:solidFill>
              </a:rPr>
              <a:t>🤖 AI Module</a:t>
            </a:r>
          </a:p>
        </p:txBody>
      </p:sp>
      <p:sp>
        <p:nvSpPr>
          <p:cNvPr id="54" name="Rectangle 53"/>
          <p:cNvSpPr/>
          <p:nvPr/>
        </p:nvSpPr>
        <p:spPr>
          <a:xfrm>
            <a:off x="4517136" y="4837176"/>
            <a:ext cx="73152" cy="7315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63440" y="4764024"/>
            <a:ext cx="3429000" cy="256032"/>
          </a:xfrm>
          <a:prstGeom prst="rect">
            <a:avLst/>
          </a:prstGeom>
          <a:noFill/>
        </p:spPr>
        <p:txBody>
          <a:bodyPr wrap="square">
            <a:spAutoFit/>
          </a:bodyPr>
          <a:lstStyle/>
          <a:p>
            <a:pPr algn="l"/>
            <a:r>
              <a:rPr sz="1100" b="0" i="0">
                <a:solidFill>
                  <a:srgbClr val="3D3D3D"/>
                </a:solidFill>
              </a:rPr>
              <a:t>Gemini 2.5 Flash engine</a:t>
            </a:r>
          </a:p>
        </p:txBody>
      </p:sp>
      <p:sp>
        <p:nvSpPr>
          <p:cNvPr id="56" name="Rectangle 55"/>
          <p:cNvSpPr/>
          <p:nvPr/>
        </p:nvSpPr>
        <p:spPr>
          <a:xfrm>
            <a:off x="4517136" y="5202936"/>
            <a:ext cx="73152" cy="7315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3440" y="5129784"/>
            <a:ext cx="3429000" cy="256032"/>
          </a:xfrm>
          <a:prstGeom prst="rect">
            <a:avLst/>
          </a:prstGeom>
          <a:noFill/>
        </p:spPr>
        <p:txBody>
          <a:bodyPr wrap="square">
            <a:spAutoFit/>
          </a:bodyPr>
          <a:lstStyle/>
          <a:p>
            <a:pPr algn="l"/>
            <a:r>
              <a:rPr sz="1100" b="0" i="0">
                <a:solidFill>
                  <a:srgbClr val="3D3D3D"/>
                </a:solidFill>
              </a:rPr>
              <a:t>Budget-aware suggestions</a:t>
            </a:r>
          </a:p>
        </p:txBody>
      </p:sp>
      <p:sp>
        <p:nvSpPr>
          <p:cNvPr id="58" name="Rectangle 57"/>
          <p:cNvSpPr/>
          <p:nvPr/>
        </p:nvSpPr>
        <p:spPr>
          <a:xfrm>
            <a:off x="4517136" y="5568696"/>
            <a:ext cx="73152" cy="7315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63440" y="5495544"/>
            <a:ext cx="3429000" cy="256032"/>
          </a:xfrm>
          <a:prstGeom prst="rect">
            <a:avLst/>
          </a:prstGeom>
          <a:noFill/>
        </p:spPr>
        <p:txBody>
          <a:bodyPr wrap="square">
            <a:spAutoFit/>
          </a:bodyPr>
          <a:lstStyle/>
          <a:p>
            <a:pPr algn="l"/>
            <a:r>
              <a:rPr sz="1100" b="0" i="0">
                <a:solidFill>
                  <a:srgbClr val="3D3D3D"/>
                </a:solidFill>
              </a:rPr>
              <a:t>Dietary preference matching</a:t>
            </a:r>
          </a:p>
        </p:txBody>
      </p:sp>
      <p:sp>
        <p:nvSpPr>
          <p:cNvPr id="60" name="Rectangle 59"/>
          <p:cNvSpPr/>
          <p:nvPr/>
        </p:nvSpPr>
        <p:spPr>
          <a:xfrm>
            <a:off x="4517136" y="5934456"/>
            <a:ext cx="73152" cy="7315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63440" y="5861304"/>
            <a:ext cx="3429000" cy="256032"/>
          </a:xfrm>
          <a:prstGeom prst="rect">
            <a:avLst/>
          </a:prstGeom>
          <a:noFill/>
        </p:spPr>
        <p:txBody>
          <a:bodyPr wrap="square">
            <a:spAutoFit/>
          </a:bodyPr>
          <a:lstStyle/>
          <a:p>
            <a:pPr algn="l"/>
            <a:r>
              <a:rPr sz="1100" b="0" i="0">
                <a:solidFill>
                  <a:srgbClr val="3D3D3D"/>
                </a:solidFill>
              </a:rPr>
              <a:t>Real menu item linking</a:t>
            </a:r>
          </a:p>
        </p:txBody>
      </p:sp>
      <p:sp>
        <p:nvSpPr>
          <p:cNvPr id="62" name="Rectangle 61"/>
          <p:cNvSpPr/>
          <p:nvPr/>
        </p:nvSpPr>
        <p:spPr>
          <a:xfrm>
            <a:off x="8503920" y="4251960"/>
            <a:ext cx="3794760" cy="2148840"/>
          </a:xfrm>
          <a:prstGeom prst="rect">
            <a:avLst/>
          </a:prstGeom>
          <a:solidFill>
            <a:srgbClr val="FFFBF5"/>
          </a:solidFill>
          <a:ln w="228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503920" y="4251960"/>
            <a:ext cx="3794760" cy="42062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95360" y="4306824"/>
            <a:ext cx="3611880" cy="329184"/>
          </a:xfrm>
          <a:prstGeom prst="rect">
            <a:avLst/>
          </a:prstGeom>
          <a:noFill/>
        </p:spPr>
        <p:txBody>
          <a:bodyPr wrap="square">
            <a:spAutoFit/>
          </a:bodyPr>
          <a:lstStyle/>
          <a:p>
            <a:pPr algn="l"/>
            <a:r>
              <a:rPr sz="1250" b="1" i="0">
                <a:solidFill>
                  <a:srgbClr val="FFFBF5"/>
                </a:solidFill>
              </a:rPr>
              <a:t>⚡ Event Bus</a:t>
            </a:r>
          </a:p>
        </p:txBody>
      </p:sp>
      <p:sp>
        <p:nvSpPr>
          <p:cNvPr id="65" name="Rectangle 64"/>
          <p:cNvSpPr/>
          <p:nvPr/>
        </p:nvSpPr>
        <p:spPr>
          <a:xfrm>
            <a:off x="8631936" y="4837176"/>
            <a:ext cx="73152" cy="731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78240" y="4764024"/>
            <a:ext cx="3429000" cy="256032"/>
          </a:xfrm>
          <a:prstGeom prst="rect">
            <a:avLst/>
          </a:prstGeom>
          <a:noFill/>
        </p:spPr>
        <p:txBody>
          <a:bodyPr wrap="square">
            <a:spAutoFit/>
          </a:bodyPr>
          <a:lstStyle/>
          <a:p>
            <a:pPr algn="l"/>
            <a:r>
              <a:rPr sz="1100" b="0" i="0">
                <a:solidFill>
                  <a:srgbClr val="3D3D3D"/>
                </a:solidFill>
              </a:rPr>
              <a:t>Kafka async messaging</a:t>
            </a:r>
          </a:p>
        </p:txBody>
      </p:sp>
      <p:sp>
        <p:nvSpPr>
          <p:cNvPr id="67" name="Rectangle 66"/>
          <p:cNvSpPr/>
          <p:nvPr/>
        </p:nvSpPr>
        <p:spPr>
          <a:xfrm>
            <a:off x="8631936" y="5202936"/>
            <a:ext cx="73152" cy="731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778240" y="5129784"/>
            <a:ext cx="3429000" cy="256032"/>
          </a:xfrm>
          <a:prstGeom prst="rect">
            <a:avLst/>
          </a:prstGeom>
          <a:noFill/>
        </p:spPr>
        <p:txBody>
          <a:bodyPr wrap="square">
            <a:spAutoFit/>
          </a:bodyPr>
          <a:lstStyle/>
          <a:p>
            <a:pPr algn="l"/>
            <a:r>
              <a:rPr sz="1100" b="0" i="0">
                <a:solidFill>
                  <a:srgbClr val="3D3D3D"/>
                </a:solidFill>
              </a:rPr>
              <a:t>5 core event topics</a:t>
            </a:r>
          </a:p>
        </p:txBody>
      </p:sp>
      <p:sp>
        <p:nvSpPr>
          <p:cNvPr id="69" name="Rectangle 68"/>
          <p:cNvSpPr/>
          <p:nvPr/>
        </p:nvSpPr>
        <p:spPr>
          <a:xfrm>
            <a:off x="8631936" y="5568696"/>
            <a:ext cx="73152" cy="731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778240" y="5495544"/>
            <a:ext cx="3429000" cy="256032"/>
          </a:xfrm>
          <a:prstGeom prst="rect">
            <a:avLst/>
          </a:prstGeom>
          <a:noFill/>
        </p:spPr>
        <p:txBody>
          <a:bodyPr wrap="square">
            <a:spAutoFit/>
          </a:bodyPr>
          <a:lstStyle/>
          <a:p>
            <a:pPr algn="l"/>
            <a:r>
              <a:rPr sz="1100" b="0" i="0">
                <a:solidFill>
                  <a:srgbClr val="3D3D3D"/>
                </a:solidFill>
              </a:rPr>
              <a:t>Guaranteed delivery</a:t>
            </a:r>
          </a:p>
        </p:txBody>
      </p:sp>
      <p:sp>
        <p:nvSpPr>
          <p:cNvPr id="71" name="Rectangle 70"/>
          <p:cNvSpPr/>
          <p:nvPr/>
        </p:nvSpPr>
        <p:spPr>
          <a:xfrm>
            <a:off x="8631936" y="5934456"/>
            <a:ext cx="73152" cy="731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78240" y="5861304"/>
            <a:ext cx="3429000" cy="256032"/>
          </a:xfrm>
          <a:prstGeom prst="rect">
            <a:avLst/>
          </a:prstGeom>
          <a:noFill/>
        </p:spPr>
        <p:txBody>
          <a:bodyPr wrap="square">
            <a:spAutoFit/>
          </a:bodyPr>
          <a:lstStyle/>
          <a:p>
            <a:pPr algn="l"/>
            <a:r>
              <a:rPr sz="1100" b="0" i="0">
                <a:solidFill>
                  <a:srgbClr val="3D3D3D"/>
                </a:solidFill>
              </a:rPr>
              <a:t>Zero coupling between 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Key Features by User Role</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Purpose-built experiences for every stakeholder</a:t>
            </a:r>
          </a:p>
        </p:txBody>
      </p:sp>
      <p:sp>
        <p:nvSpPr>
          <p:cNvPr id="6" name="Rectangle 5"/>
          <p:cNvSpPr/>
          <p:nvPr/>
        </p:nvSpPr>
        <p:spPr>
          <a:xfrm>
            <a:off x="274320" y="1417320"/>
            <a:ext cx="2743200" cy="5074920"/>
          </a:xfrm>
          <a:prstGeom prst="rect">
            <a:avLst/>
          </a:prstGeom>
          <a:solidFill>
            <a:srgbClr val="FFFBF5"/>
          </a:solidFill>
          <a:ln w="254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2743200" cy="47548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463040"/>
            <a:ext cx="2606040" cy="365760"/>
          </a:xfrm>
          <a:prstGeom prst="rect">
            <a:avLst/>
          </a:prstGeom>
          <a:noFill/>
        </p:spPr>
        <p:txBody>
          <a:bodyPr wrap="square">
            <a:spAutoFit/>
          </a:bodyPr>
          <a:lstStyle/>
          <a:p>
            <a:pPr algn="ctr"/>
            <a:r>
              <a:rPr sz="1150" b="1" i="0">
                <a:solidFill>
                  <a:srgbClr val="FFFBF5"/>
                </a:solidFill>
              </a:rPr>
              <a:t>👤 CUSTOMER</a:t>
            </a:r>
          </a:p>
        </p:txBody>
      </p:sp>
      <p:sp>
        <p:nvSpPr>
          <p:cNvPr id="9" name="Rectangle 8"/>
          <p:cNvSpPr/>
          <p:nvPr/>
        </p:nvSpPr>
        <p:spPr>
          <a:xfrm>
            <a:off x="402336" y="2066544"/>
            <a:ext cx="82296" cy="8229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84248"/>
            <a:ext cx="2395728" cy="274320"/>
          </a:xfrm>
          <a:prstGeom prst="rect">
            <a:avLst/>
          </a:prstGeom>
          <a:noFill/>
        </p:spPr>
        <p:txBody>
          <a:bodyPr wrap="square">
            <a:spAutoFit/>
          </a:bodyPr>
          <a:lstStyle/>
          <a:p>
            <a:pPr algn="l"/>
            <a:r>
              <a:rPr sz="1050" b="0" i="0">
                <a:solidFill>
                  <a:srgbClr val="3D3D3D"/>
                </a:solidFill>
              </a:rPr>
              <a:t>Register / Login (email or Google OAuth2)</a:t>
            </a:r>
          </a:p>
        </p:txBody>
      </p:sp>
      <p:sp>
        <p:nvSpPr>
          <p:cNvPr id="11" name="Rectangle 10"/>
          <p:cNvSpPr/>
          <p:nvPr/>
        </p:nvSpPr>
        <p:spPr>
          <a:xfrm>
            <a:off x="402336" y="2724912"/>
            <a:ext cx="82296" cy="8229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42616"/>
            <a:ext cx="2395728" cy="274320"/>
          </a:xfrm>
          <a:prstGeom prst="rect">
            <a:avLst/>
          </a:prstGeom>
          <a:noFill/>
        </p:spPr>
        <p:txBody>
          <a:bodyPr wrap="square">
            <a:spAutoFit/>
          </a:bodyPr>
          <a:lstStyle/>
          <a:p>
            <a:pPr algn="l"/>
            <a:r>
              <a:rPr sz="1050" b="0" i="0">
                <a:solidFill>
                  <a:srgbClr val="3D3D3D"/>
                </a:solidFill>
              </a:rPr>
              <a:t>Browse branch menu with categories &amp; images</a:t>
            </a:r>
          </a:p>
        </p:txBody>
      </p:sp>
      <p:sp>
        <p:nvSpPr>
          <p:cNvPr id="13" name="Rectangle 12"/>
          <p:cNvSpPr/>
          <p:nvPr/>
        </p:nvSpPr>
        <p:spPr>
          <a:xfrm>
            <a:off x="402336" y="3383280"/>
            <a:ext cx="82296" cy="8229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300984"/>
            <a:ext cx="2395728" cy="274320"/>
          </a:xfrm>
          <a:prstGeom prst="rect">
            <a:avLst/>
          </a:prstGeom>
          <a:noFill/>
        </p:spPr>
        <p:txBody>
          <a:bodyPr wrap="square">
            <a:spAutoFit/>
          </a:bodyPr>
          <a:lstStyle/>
          <a:p>
            <a:pPr algn="l"/>
            <a:r>
              <a:rPr sz="1050" b="0" i="0">
                <a:solidFill>
                  <a:srgbClr val="3D3D3D"/>
                </a:solidFill>
              </a:rPr>
              <a:t>AI Food Assistant — 7-step preference wizard</a:t>
            </a:r>
          </a:p>
        </p:txBody>
      </p:sp>
      <p:sp>
        <p:nvSpPr>
          <p:cNvPr id="15" name="Rectangle 14"/>
          <p:cNvSpPr/>
          <p:nvPr/>
        </p:nvSpPr>
        <p:spPr>
          <a:xfrm>
            <a:off x="402336" y="4041648"/>
            <a:ext cx="82296" cy="8229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59352"/>
            <a:ext cx="2395728" cy="274320"/>
          </a:xfrm>
          <a:prstGeom prst="rect">
            <a:avLst/>
          </a:prstGeom>
          <a:noFill/>
        </p:spPr>
        <p:txBody>
          <a:bodyPr wrap="square">
            <a:spAutoFit/>
          </a:bodyPr>
          <a:lstStyle/>
          <a:p>
            <a:pPr algn="l"/>
            <a:r>
              <a:rPr sz="1050" b="0" i="0">
                <a:solidFill>
                  <a:srgbClr val="3D3D3D"/>
                </a:solidFill>
              </a:rPr>
              <a:t>Add to cart · Place dine-in or delivery order</a:t>
            </a:r>
          </a:p>
        </p:txBody>
      </p:sp>
      <p:sp>
        <p:nvSpPr>
          <p:cNvPr id="17" name="Rectangle 16"/>
          <p:cNvSpPr/>
          <p:nvPr/>
        </p:nvSpPr>
        <p:spPr>
          <a:xfrm>
            <a:off x="402336" y="4700016"/>
            <a:ext cx="82296" cy="8229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17720"/>
            <a:ext cx="2395728" cy="274320"/>
          </a:xfrm>
          <a:prstGeom prst="rect">
            <a:avLst/>
          </a:prstGeom>
          <a:noFill/>
        </p:spPr>
        <p:txBody>
          <a:bodyPr wrap="square">
            <a:spAutoFit/>
          </a:bodyPr>
          <a:lstStyle/>
          <a:p>
            <a:pPr algn="l"/>
            <a:r>
              <a:rPr sz="1050" b="0" i="0">
                <a:solidFill>
                  <a:srgbClr val="3D3D3D"/>
                </a:solidFill>
              </a:rPr>
              <a:t>Real-time order status tracking</a:t>
            </a:r>
          </a:p>
        </p:txBody>
      </p:sp>
      <p:sp>
        <p:nvSpPr>
          <p:cNvPr id="19" name="Rectangle 18"/>
          <p:cNvSpPr/>
          <p:nvPr/>
        </p:nvSpPr>
        <p:spPr>
          <a:xfrm>
            <a:off x="402336" y="5358384"/>
            <a:ext cx="82296" cy="8229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276088"/>
            <a:ext cx="2395728" cy="274320"/>
          </a:xfrm>
          <a:prstGeom prst="rect">
            <a:avLst/>
          </a:prstGeom>
          <a:noFill/>
        </p:spPr>
        <p:txBody>
          <a:bodyPr wrap="square">
            <a:spAutoFit/>
          </a:bodyPr>
          <a:lstStyle/>
          <a:p>
            <a:pPr algn="l"/>
            <a:r>
              <a:rPr sz="1050" b="0" i="0">
                <a:solidFill>
                  <a:srgbClr val="3D3D3D"/>
                </a:solidFill>
              </a:rPr>
              <a:t>Push &amp; email notifications</a:t>
            </a:r>
          </a:p>
        </p:txBody>
      </p:sp>
      <p:sp>
        <p:nvSpPr>
          <p:cNvPr id="21" name="Rectangle 20"/>
          <p:cNvSpPr/>
          <p:nvPr/>
        </p:nvSpPr>
        <p:spPr>
          <a:xfrm>
            <a:off x="3273552" y="1417320"/>
            <a:ext cx="2743200" cy="5074920"/>
          </a:xfrm>
          <a:prstGeom prst="rect">
            <a:avLst/>
          </a:prstGeom>
          <a:solidFill>
            <a:srgbClr val="FFFBF5"/>
          </a:solidFill>
          <a:ln w="2540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73552" y="1417320"/>
            <a:ext cx="2743200" cy="475488"/>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46704" y="1463040"/>
            <a:ext cx="2606040" cy="365760"/>
          </a:xfrm>
          <a:prstGeom prst="rect">
            <a:avLst/>
          </a:prstGeom>
          <a:noFill/>
        </p:spPr>
        <p:txBody>
          <a:bodyPr wrap="square">
            <a:spAutoFit/>
          </a:bodyPr>
          <a:lstStyle/>
          <a:p>
            <a:pPr algn="ctr"/>
            <a:r>
              <a:rPr sz="1150" b="1" i="0">
                <a:solidFill>
                  <a:srgbClr val="FFFBF5"/>
                </a:solidFill>
              </a:rPr>
              <a:t>🍳 KITCHEN</a:t>
            </a:r>
          </a:p>
        </p:txBody>
      </p:sp>
      <p:sp>
        <p:nvSpPr>
          <p:cNvPr id="24" name="Rectangle 23"/>
          <p:cNvSpPr/>
          <p:nvPr/>
        </p:nvSpPr>
        <p:spPr>
          <a:xfrm>
            <a:off x="3401568" y="2066544"/>
            <a:ext cx="82296" cy="8229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1984248"/>
            <a:ext cx="2395728" cy="274320"/>
          </a:xfrm>
          <a:prstGeom prst="rect">
            <a:avLst/>
          </a:prstGeom>
          <a:noFill/>
        </p:spPr>
        <p:txBody>
          <a:bodyPr wrap="square">
            <a:spAutoFit/>
          </a:bodyPr>
          <a:lstStyle/>
          <a:p>
            <a:pPr algn="l"/>
            <a:r>
              <a:rPr sz="1050" b="0" i="0">
                <a:solidFill>
                  <a:srgbClr val="3D3D3D"/>
                </a:solidFill>
              </a:rPr>
              <a:t>Live kitchen queue — Kafka-fed</a:t>
            </a:r>
          </a:p>
        </p:txBody>
      </p:sp>
      <p:sp>
        <p:nvSpPr>
          <p:cNvPr id="26" name="Rectangle 25"/>
          <p:cNvSpPr/>
          <p:nvPr/>
        </p:nvSpPr>
        <p:spPr>
          <a:xfrm>
            <a:off x="3401568" y="2724912"/>
            <a:ext cx="82296" cy="8229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47872" y="2642616"/>
            <a:ext cx="2395728" cy="274320"/>
          </a:xfrm>
          <a:prstGeom prst="rect">
            <a:avLst/>
          </a:prstGeom>
          <a:noFill/>
        </p:spPr>
        <p:txBody>
          <a:bodyPr wrap="square">
            <a:spAutoFit/>
          </a:bodyPr>
          <a:lstStyle/>
          <a:p>
            <a:pPr algn="l"/>
            <a:r>
              <a:rPr sz="1050" b="0" i="0">
                <a:solidFill>
                  <a:srgbClr val="3D3D3D"/>
                </a:solidFill>
              </a:rPr>
              <a:t>Orders sorted by SLA urgency</a:t>
            </a:r>
          </a:p>
        </p:txBody>
      </p:sp>
      <p:sp>
        <p:nvSpPr>
          <p:cNvPr id="28" name="Rectangle 27"/>
          <p:cNvSpPr/>
          <p:nvPr/>
        </p:nvSpPr>
        <p:spPr>
          <a:xfrm>
            <a:off x="3401568" y="3383280"/>
            <a:ext cx="82296" cy="8229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47872" y="3300984"/>
            <a:ext cx="2395728" cy="274320"/>
          </a:xfrm>
          <a:prstGeom prst="rect">
            <a:avLst/>
          </a:prstGeom>
          <a:noFill/>
        </p:spPr>
        <p:txBody>
          <a:bodyPr wrap="square">
            <a:spAutoFit/>
          </a:bodyPr>
          <a:lstStyle/>
          <a:p>
            <a:pPr algn="l"/>
            <a:r>
              <a:rPr sz="1050" b="0" i="0">
                <a:solidFill>
                  <a:srgbClr val="3D3D3D"/>
                </a:solidFill>
              </a:rPr>
              <a:t>Update status: QUEUED → PREPARING → READY</a:t>
            </a:r>
          </a:p>
        </p:txBody>
      </p:sp>
      <p:sp>
        <p:nvSpPr>
          <p:cNvPr id="30" name="Rectangle 29"/>
          <p:cNvSpPr/>
          <p:nvPr/>
        </p:nvSpPr>
        <p:spPr>
          <a:xfrm>
            <a:off x="3401568" y="4041648"/>
            <a:ext cx="82296" cy="8229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47872" y="3959352"/>
            <a:ext cx="2395728" cy="274320"/>
          </a:xfrm>
          <a:prstGeom prst="rect">
            <a:avLst/>
          </a:prstGeom>
          <a:noFill/>
        </p:spPr>
        <p:txBody>
          <a:bodyPr wrap="square">
            <a:spAutoFit/>
          </a:bodyPr>
          <a:lstStyle/>
          <a:p>
            <a:pPr algn="l"/>
            <a:r>
              <a:rPr sz="1050" b="0" i="0">
                <a:solidFill>
                  <a:srgbClr val="3D3D3D"/>
                </a:solidFill>
              </a:rPr>
              <a:t>Mark order PICKED UP or CANCELLED</a:t>
            </a:r>
          </a:p>
        </p:txBody>
      </p:sp>
      <p:sp>
        <p:nvSpPr>
          <p:cNvPr id="32" name="Rectangle 31"/>
          <p:cNvSpPr/>
          <p:nvPr/>
        </p:nvSpPr>
        <p:spPr>
          <a:xfrm>
            <a:off x="3401568" y="4700016"/>
            <a:ext cx="82296" cy="8229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47872" y="4617720"/>
            <a:ext cx="2395728" cy="274320"/>
          </a:xfrm>
          <a:prstGeom prst="rect">
            <a:avLst/>
          </a:prstGeom>
          <a:noFill/>
        </p:spPr>
        <p:txBody>
          <a:bodyPr wrap="square">
            <a:spAutoFit/>
          </a:bodyPr>
          <a:lstStyle/>
          <a:p>
            <a:pPr algn="l"/>
            <a:r>
              <a:rPr sz="1050" b="0" i="0">
                <a:solidFill>
                  <a:srgbClr val="3D3D3D"/>
                </a:solidFill>
              </a:rPr>
              <a:t>SLA timer per order — colour-coded</a:t>
            </a:r>
          </a:p>
        </p:txBody>
      </p:sp>
      <p:sp>
        <p:nvSpPr>
          <p:cNvPr id="34" name="Rectangle 33"/>
          <p:cNvSpPr/>
          <p:nvPr/>
        </p:nvSpPr>
        <p:spPr>
          <a:xfrm>
            <a:off x="3401568" y="5358384"/>
            <a:ext cx="82296" cy="8229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47872" y="5276088"/>
            <a:ext cx="2395728" cy="274320"/>
          </a:xfrm>
          <a:prstGeom prst="rect">
            <a:avLst/>
          </a:prstGeom>
          <a:noFill/>
        </p:spPr>
        <p:txBody>
          <a:bodyPr wrap="square">
            <a:spAutoFit/>
          </a:bodyPr>
          <a:lstStyle/>
          <a:p>
            <a:pPr algn="l"/>
            <a:r>
              <a:rPr sz="1050" b="0" i="0">
                <a:solidFill>
                  <a:srgbClr val="3D3D3D"/>
                </a:solidFill>
              </a:rPr>
              <a:t>Redis-backed — survives restarts</a:t>
            </a:r>
          </a:p>
        </p:txBody>
      </p:sp>
      <p:sp>
        <p:nvSpPr>
          <p:cNvPr id="36" name="Rectangle 35"/>
          <p:cNvSpPr/>
          <p:nvPr/>
        </p:nvSpPr>
        <p:spPr>
          <a:xfrm>
            <a:off x="6272784" y="1417320"/>
            <a:ext cx="2743200" cy="5074920"/>
          </a:xfrm>
          <a:prstGeom prst="rect">
            <a:avLst/>
          </a:prstGeom>
          <a:solidFill>
            <a:srgbClr val="FFFBF5"/>
          </a:solidFill>
          <a:ln w="2540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72784" y="1417320"/>
            <a:ext cx="2743200" cy="475488"/>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45936" y="1463040"/>
            <a:ext cx="2606040" cy="365760"/>
          </a:xfrm>
          <a:prstGeom prst="rect">
            <a:avLst/>
          </a:prstGeom>
          <a:noFill/>
        </p:spPr>
        <p:txBody>
          <a:bodyPr wrap="square">
            <a:spAutoFit/>
          </a:bodyPr>
          <a:lstStyle/>
          <a:p>
            <a:pPr algn="ctr"/>
            <a:r>
              <a:rPr sz="1150" b="1" i="0">
                <a:solidFill>
                  <a:srgbClr val="FFFBF5"/>
                </a:solidFill>
              </a:rPr>
              <a:t>📊 BRANCH MGR</a:t>
            </a:r>
          </a:p>
        </p:txBody>
      </p:sp>
      <p:sp>
        <p:nvSpPr>
          <p:cNvPr id="39" name="Rectangle 38"/>
          <p:cNvSpPr/>
          <p:nvPr/>
        </p:nvSpPr>
        <p:spPr>
          <a:xfrm>
            <a:off x="6400800" y="2066544"/>
            <a:ext cx="82296" cy="8229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47104" y="1984248"/>
            <a:ext cx="2395728" cy="274320"/>
          </a:xfrm>
          <a:prstGeom prst="rect">
            <a:avLst/>
          </a:prstGeom>
          <a:noFill/>
        </p:spPr>
        <p:txBody>
          <a:bodyPr wrap="square">
            <a:spAutoFit/>
          </a:bodyPr>
          <a:lstStyle/>
          <a:p>
            <a:pPr algn="l"/>
            <a:r>
              <a:rPr sz="1050" b="0" i="0">
                <a:solidFill>
                  <a:srgbClr val="3D3D3D"/>
                </a:solidFill>
              </a:rPr>
              <a:t>Branch order queue dashboard</a:t>
            </a:r>
          </a:p>
        </p:txBody>
      </p:sp>
      <p:sp>
        <p:nvSpPr>
          <p:cNvPr id="41" name="Rectangle 40"/>
          <p:cNvSpPr/>
          <p:nvPr/>
        </p:nvSpPr>
        <p:spPr>
          <a:xfrm>
            <a:off x="6400800" y="2724912"/>
            <a:ext cx="82296" cy="8229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47104" y="2642616"/>
            <a:ext cx="2395728" cy="274320"/>
          </a:xfrm>
          <a:prstGeom prst="rect">
            <a:avLst/>
          </a:prstGeom>
          <a:noFill/>
        </p:spPr>
        <p:txBody>
          <a:bodyPr wrap="square">
            <a:spAutoFit/>
          </a:bodyPr>
          <a:lstStyle/>
          <a:p>
            <a:pPr algn="l"/>
            <a:r>
              <a:rPr sz="1050" b="0" i="0">
                <a:solidFill>
                  <a:srgbClr val="3D3D3D"/>
                </a:solidFill>
              </a:rPr>
              <a:t>Daily/weekly sales summary</a:t>
            </a:r>
          </a:p>
        </p:txBody>
      </p:sp>
      <p:sp>
        <p:nvSpPr>
          <p:cNvPr id="43" name="Rectangle 42"/>
          <p:cNvSpPr/>
          <p:nvPr/>
        </p:nvSpPr>
        <p:spPr>
          <a:xfrm>
            <a:off x="6400800" y="3383280"/>
            <a:ext cx="82296" cy="8229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47104" y="3300984"/>
            <a:ext cx="2395728" cy="274320"/>
          </a:xfrm>
          <a:prstGeom prst="rect">
            <a:avLst/>
          </a:prstGeom>
          <a:noFill/>
        </p:spPr>
        <p:txBody>
          <a:bodyPr wrap="square">
            <a:spAutoFit/>
          </a:bodyPr>
          <a:lstStyle/>
          <a:p>
            <a:pPr algn="l"/>
            <a:r>
              <a:rPr sz="1050" b="0" i="0">
                <a:solidFill>
                  <a:srgbClr val="3D3D3D"/>
                </a:solidFill>
              </a:rPr>
              <a:t>Top items by quantity &amp; revenue</a:t>
            </a:r>
          </a:p>
        </p:txBody>
      </p:sp>
      <p:sp>
        <p:nvSpPr>
          <p:cNvPr id="45" name="Rectangle 44"/>
          <p:cNvSpPr/>
          <p:nvPr/>
        </p:nvSpPr>
        <p:spPr>
          <a:xfrm>
            <a:off x="6400800" y="4041648"/>
            <a:ext cx="82296" cy="8229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47104" y="3959352"/>
            <a:ext cx="2395728" cy="274320"/>
          </a:xfrm>
          <a:prstGeom prst="rect">
            <a:avLst/>
          </a:prstGeom>
          <a:noFill/>
        </p:spPr>
        <p:txBody>
          <a:bodyPr wrap="square">
            <a:spAutoFit/>
          </a:bodyPr>
          <a:lstStyle/>
          <a:p>
            <a:pPr algn="l"/>
            <a:r>
              <a:rPr sz="1050" b="0" i="0">
                <a:solidFill>
                  <a:srgbClr val="3D3D3D"/>
                </a:solidFill>
              </a:rPr>
              <a:t>Average fulfilment time SLA reports</a:t>
            </a:r>
          </a:p>
        </p:txBody>
      </p:sp>
      <p:sp>
        <p:nvSpPr>
          <p:cNvPr id="47" name="Rectangle 46"/>
          <p:cNvSpPr/>
          <p:nvPr/>
        </p:nvSpPr>
        <p:spPr>
          <a:xfrm>
            <a:off x="6400800" y="4700016"/>
            <a:ext cx="82296" cy="8229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47104" y="4617720"/>
            <a:ext cx="2395728" cy="274320"/>
          </a:xfrm>
          <a:prstGeom prst="rect">
            <a:avLst/>
          </a:prstGeom>
          <a:noFill/>
        </p:spPr>
        <p:txBody>
          <a:bodyPr wrap="square">
            <a:spAutoFit/>
          </a:bodyPr>
          <a:lstStyle/>
          <a:p>
            <a:pPr algn="l"/>
            <a:r>
              <a:rPr sz="1050" b="0" i="0">
                <a:solidFill>
                  <a:srgbClr val="3D3D3D"/>
                </a:solidFill>
              </a:rPr>
              <a:t>View all staff + customer activity</a:t>
            </a:r>
          </a:p>
        </p:txBody>
      </p:sp>
      <p:sp>
        <p:nvSpPr>
          <p:cNvPr id="49" name="Rectangle 48"/>
          <p:cNvSpPr/>
          <p:nvPr/>
        </p:nvSpPr>
        <p:spPr>
          <a:xfrm>
            <a:off x="6400800" y="5358384"/>
            <a:ext cx="82296" cy="8229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47104" y="5276088"/>
            <a:ext cx="2395728" cy="274320"/>
          </a:xfrm>
          <a:prstGeom prst="rect">
            <a:avLst/>
          </a:prstGeom>
          <a:noFill/>
        </p:spPr>
        <p:txBody>
          <a:bodyPr wrap="square">
            <a:spAutoFit/>
          </a:bodyPr>
          <a:lstStyle/>
          <a:p>
            <a:pPr algn="l"/>
            <a:r>
              <a:rPr sz="1050" b="0" i="0">
                <a:solidFill>
                  <a:srgbClr val="3D3D3D"/>
                </a:solidFill>
              </a:rPr>
              <a:t>Redis-cached — near-instant loads</a:t>
            </a:r>
          </a:p>
        </p:txBody>
      </p:sp>
      <p:sp>
        <p:nvSpPr>
          <p:cNvPr id="51" name="Rectangle 50"/>
          <p:cNvSpPr/>
          <p:nvPr/>
        </p:nvSpPr>
        <p:spPr>
          <a:xfrm>
            <a:off x="9272016" y="1417320"/>
            <a:ext cx="2743200" cy="5074920"/>
          </a:xfrm>
          <a:prstGeom prst="rect">
            <a:avLst/>
          </a:prstGeom>
          <a:solidFill>
            <a:srgbClr val="FFFBF5"/>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272016" y="1417320"/>
            <a:ext cx="2743200" cy="47548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45168" y="1463040"/>
            <a:ext cx="2606040" cy="365760"/>
          </a:xfrm>
          <a:prstGeom prst="rect">
            <a:avLst/>
          </a:prstGeom>
          <a:noFill/>
        </p:spPr>
        <p:txBody>
          <a:bodyPr wrap="square">
            <a:spAutoFit/>
          </a:bodyPr>
          <a:lstStyle/>
          <a:p>
            <a:pPr algn="ctr"/>
            <a:r>
              <a:rPr sz="1150" b="1" i="0">
                <a:solidFill>
                  <a:srgbClr val="FFFBF5"/>
                </a:solidFill>
              </a:rPr>
              <a:t>🏢 HEAD OFFICE</a:t>
            </a:r>
          </a:p>
        </p:txBody>
      </p:sp>
      <p:sp>
        <p:nvSpPr>
          <p:cNvPr id="54" name="Rectangle 53"/>
          <p:cNvSpPr/>
          <p:nvPr/>
        </p:nvSpPr>
        <p:spPr>
          <a:xfrm>
            <a:off x="9400032" y="2066544"/>
            <a:ext cx="82296" cy="8229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46336" y="1984248"/>
            <a:ext cx="2395728" cy="274320"/>
          </a:xfrm>
          <a:prstGeom prst="rect">
            <a:avLst/>
          </a:prstGeom>
          <a:noFill/>
        </p:spPr>
        <p:txBody>
          <a:bodyPr wrap="square">
            <a:spAutoFit/>
          </a:bodyPr>
          <a:lstStyle/>
          <a:p>
            <a:pPr algn="l"/>
            <a:r>
              <a:rPr sz="1050" b="0" i="0">
                <a:solidFill>
                  <a:srgbClr val="3D3D3D"/>
                </a:solidFill>
              </a:rPr>
              <a:t>Cross-branch performance comparison</a:t>
            </a:r>
          </a:p>
        </p:txBody>
      </p:sp>
      <p:sp>
        <p:nvSpPr>
          <p:cNvPr id="56" name="Rectangle 55"/>
          <p:cNvSpPr/>
          <p:nvPr/>
        </p:nvSpPr>
        <p:spPr>
          <a:xfrm>
            <a:off x="9400032" y="2724912"/>
            <a:ext cx="82296" cy="8229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546336" y="2642616"/>
            <a:ext cx="2395728" cy="274320"/>
          </a:xfrm>
          <a:prstGeom prst="rect">
            <a:avLst/>
          </a:prstGeom>
          <a:noFill/>
        </p:spPr>
        <p:txBody>
          <a:bodyPr wrap="square">
            <a:spAutoFit/>
          </a:bodyPr>
          <a:lstStyle/>
          <a:p>
            <a:pPr algn="l"/>
            <a:r>
              <a:rPr sz="1050" b="0" i="0">
                <a:solidFill>
                  <a:srgbClr val="3D3D3D"/>
                </a:solidFill>
              </a:rPr>
              <a:t>Revenue &amp; order analytics (all branches)</a:t>
            </a:r>
          </a:p>
        </p:txBody>
      </p:sp>
      <p:sp>
        <p:nvSpPr>
          <p:cNvPr id="58" name="Rectangle 57"/>
          <p:cNvSpPr/>
          <p:nvPr/>
        </p:nvSpPr>
        <p:spPr>
          <a:xfrm>
            <a:off x="9400032" y="3383280"/>
            <a:ext cx="82296" cy="8229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546336" y="3300984"/>
            <a:ext cx="2395728" cy="274320"/>
          </a:xfrm>
          <a:prstGeom prst="rect">
            <a:avLst/>
          </a:prstGeom>
          <a:noFill/>
        </p:spPr>
        <p:txBody>
          <a:bodyPr wrap="square">
            <a:spAutoFit/>
          </a:bodyPr>
          <a:lstStyle/>
          <a:p>
            <a:pPr algn="l"/>
            <a:r>
              <a:rPr sz="1050" b="0" i="0">
                <a:solidFill>
                  <a:srgbClr val="3D3D3D"/>
                </a:solidFill>
              </a:rPr>
              <a:t>Report generation: PDF · CSV · Excel</a:t>
            </a:r>
          </a:p>
        </p:txBody>
      </p:sp>
      <p:sp>
        <p:nvSpPr>
          <p:cNvPr id="60" name="Rectangle 59"/>
          <p:cNvSpPr/>
          <p:nvPr/>
        </p:nvSpPr>
        <p:spPr>
          <a:xfrm>
            <a:off x="9400032" y="4041648"/>
            <a:ext cx="82296" cy="8229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546336" y="3959352"/>
            <a:ext cx="2395728" cy="274320"/>
          </a:xfrm>
          <a:prstGeom prst="rect">
            <a:avLst/>
          </a:prstGeom>
          <a:noFill/>
        </p:spPr>
        <p:txBody>
          <a:bodyPr wrap="square">
            <a:spAutoFit/>
          </a:bodyPr>
          <a:lstStyle/>
          <a:p>
            <a:pPr algn="l"/>
            <a:r>
              <a:rPr sz="1050" b="0" i="0">
                <a:solidFill>
                  <a:srgbClr val="3D3D3D"/>
                </a:solidFill>
              </a:rPr>
              <a:t>User management across all branches</a:t>
            </a:r>
          </a:p>
        </p:txBody>
      </p:sp>
      <p:sp>
        <p:nvSpPr>
          <p:cNvPr id="62" name="Rectangle 61"/>
          <p:cNvSpPr/>
          <p:nvPr/>
        </p:nvSpPr>
        <p:spPr>
          <a:xfrm>
            <a:off x="9400032" y="4700016"/>
            <a:ext cx="82296" cy="8229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546336" y="4617720"/>
            <a:ext cx="2395728" cy="274320"/>
          </a:xfrm>
          <a:prstGeom prst="rect">
            <a:avLst/>
          </a:prstGeom>
          <a:noFill/>
        </p:spPr>
        <p:txBody>
          <a:bodyPr wrap="square">
            <a:spAutoFit/>
          </a:bodyPr>
          <a:lstStyle/>
          <a:p>
            <a:pPr algn="l"/>
            <a:r>
              <a:rPr sz="1050" b="0" i="0">
                <a:solidFill>
                  <a:srgbClr val="3D3D3D"/>
                </a:solidFill>
              </a:rPr>
              <a:t>System-wide notifications</a:t>
            </a:r>
          </a:p>
        </p:txBody>
      </p:sp>
      <p:sp>
        <p:nvSpPr>
          <p:cNvPr id="64" name="Rectangle 63"/>
          <p:cNvSpPr/>
          <p:nvPr/>
        </p:nvSpPr>
        <p:spPr>
          <a:xfrm>
            <a:off x="9400032" y="5358384"/>
            <a:ext cx="82296" cy="82296"/>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46336" y="5276088"/>
            <a:ext cx="2395728" cy="274320"/>
          </a:xfrm>
          <a:prstGeom prst="rect">
            <a:avLst/>
          </a:prstGeom>
          <a:noFill/>
        </p:spPr>
        <p:txBody>
          <a:bodyPr wrap="square">
            <a:spAutoFit/>
          </a:bodyPr>
          <a:lstStyle/>
          <a:p>
            <a:pPr algn="l"/>
            <a:r>
              <a:rPr sz="1050" b="0" i="0">
                <a:solidFill>
                  <a:srgbClr val="3D3D3D"/>
                </a:solidFill>
              </a:rPr>
              <a:t>Full audit trail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System Architecture</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Cloud-native · Event-driven · Independently deployable</a:t>
            </a:r>
          </a:p>
        </p:txBody>
      </p:sp>
      <p:sp>
        <p:nvSpPr>
          <p:cNvPr id="6" name="Rectangle 5"/>
          <p:cNvSpPr/>
          <p:nvPr/>
        </p:nvSpPr>
        <p:spPr>
          <a:xfrm>
            <a:off x="182880" y="2194560"/>
            <a:ext cx="1188720" cy="731520"/>
          </a:xfrm>
          <a:prstGeom prst="rect">
            <a:avLst/>
          </a:prstGeom>
          <a:solidFill>
            <a:srgbClr val="FFFBF5"/>
          </a:solidFill>
          <a:ln w="1905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2194560"/>
            <a:ext cx="1188720" cy="73152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2212848"/>
            <a:ext cx="1152144" cy="694944"/>
          </a:xfrm>
          <a:prstGeom prst="rect">
            <a:avLst/>
          </a:prstGeom>
          <a:noFill/>
        </p:spPr>
        <p:txBody>
          <a:bodyPr wrap="square">
            <a:spAutoFit/>
          </a:bodyPr>
          <a:lstStyle/>
          <a:p>
            <a:pPr algn="ctr"/>
            <a:r>
              <a:rPr sz="1000" b="1" i="0">
                <a:solidFill>
                  <a:srgbClr val="1A5C99"/>
                </a:solidFill>
              </a:rPr>
              <a:t>🌐 React
Client</a:t>
            </a:r>
          </a:p>
        </p:txBody>
      </p:sp>
      <p:sp>
        <p:nvSpPr>
          <p:cNvPr id="9" name="Rectangle 8"/>
          <p:cNvSpPr/>
          <p:nvPr/>
        </p:nvSpPr>
        <p:spPr>
          <a:xfrm>
            <a:off x="1389888" y="2514600"/>
            <a:ext cx="320040" cy="45720"/>
          </a:xfrm>
          <a:prstGeom prst="rect">
            <a:avLst/>
          </a:prstGeom>
          <a:solidFill>
            <a:srgbClr val="3D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37360" y="1828800"/>
            <a:ext cx="1600200" cy="1417320"/>
          </a:xfrm>
          <a:prstGeom prst="rect">
            <a:avLst/>
          </a:prstGeom>
          <a:solidFill>
            <a:srgbClr val="FFFBF5"/>
          </a:solidFill>
          <a:ln w="254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37360" y="1828800"/>
            <a:ext cx="1600200" cy="43891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55648" y="1874519"/>
            <a:ext cx="1563624" cy="347472"/>
          </a:xfrm>
          <a:prstGeom prst="rect">
            <a:avLst/>
          </a:prstGeom>
          <a:noFill/>
        </p:spPr>
        <p:txBody>
          <a:bodyPr wrap="square">
            <a:spAutoFit/>
          </a:bodyPr>
          <a:lstStyle/>
          <a:p>
            <a:pPr algn="ctr"/>
            <a:r>
              <a:rPr sz="1150" b="1" i="0">
                <a:solidFill>
                  <a:srgbClr val="FFFBF5"/>
                </a:solidFill>
              </a:rPr>
              <a:t>API Gateway</a:t>
            </a:r>
          </a:p>
        </p:txBody>
      </p:sp>
      <p:sp>
        <p:nvSpPr>
          <p:cNvPr id="13" name="TextBox 12"/>
          <p:cNvSpPr txBox="1"/>
          <p:nvPr/>
        </p:nvSpPr>
        <p:spPr>
          <a:xfrm>
            <a:off x="1773936" y="2286000"/>
            <a:ext cx="1536192" cy="914400"/>
          </a:xfrm>
          <a:prstGeom prst="rect">
            <a:avLst/>
          </a:prstGeom>
          <a:noFill/>
        </p:spPr>
        <p:txBody>
          <a:bodyPr wrap="square">
            <a:spAutoFit/>
          </a:bodyPr>
          <a:lstStyle/>
          <a:p>
            <a:pPr algn="ctr"/>
            <a:r>
              <a:rPr sz="1000" b="0" i="0">
                <a:solidFill>
                  <a:srgbClr val="3D3D3D"/>
                </a:solidFill>
              </a:rPr>
              <a:t>:8080
JWT Filter
Route → Service</a:t>
            </a:r>
          </a:p>
        </p:txBody>
      </p:sp>
      <p:sp>
        <p:nvSpPr>
          <p:cNvPr id="14" name="TextBox 13"/>
          <p:cNvSpPr txBox="1"/>
          <p:nvPr/>
        </p:nvSpPr>
        <p:spPr>
          <a:xfrm>
            <a:off x="3520440" y="1298448"/>
            <a:ext cx="8503920" cy="274320"/>
          </a:xfrm>
          <a:prstGeom prst="rect">
            <a:avLst/>
          </a:prstGeom>
          <a:noFill/>
        </p:spPr>
        <p:txBody>
          <a:bodyPr wrap="square">
            <a:spAutoFit/>
          </a:bodyPr>
          <a:lstStyle/>
          <a:p>
            <a:pPr algn="l"/>
            <a:r>
              <a:rPr sz="950" b="1" i="0">
                <a:solidFill>
                  <a:srgbClr val="B0A89E"/>
                </a:solidFill>
              </a:rPr>
              <a:t>MICROSERVICES  (each with own MySQL DB)</a:t>
            </a:r>
          </a:p>
        </p:txBody>
      </p:sp>
      <p:sp>
        <p:nvSpPr>
          <p:cNvPr id="15" name="Rectangle 14"/>
          <p:cNvSpPr/>
          <p:nvPr/>
        </p:nvSpPr>
        <p:spPr>
          <a:xfrm>
            <a:off x="3520440" y="1828800"/>
            <a:ext cx="8412480" cy="36576"/>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95728" y="1828800"/>
            <a:ext cx="1170432" cy="36576"/>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5728" y="1828800"/>
            <a:ext cx="36576" cy="29260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47872"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47872"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47872"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84448" y="2276856"/>
            <a:ext cx="1078992" cy="310896"/>
          </a:xfrm>
          <a:prstGeom prst="rect">
            <a:avLst/>
          </a:prstGeom>
          <a:noFill/>
        </p:spPr>
        <p:txBody>
          <a:bodyPr wrap="square">
            <a:spAutoFit/>
          </a:bodyPr>
          <a:lstStyle/>
          <a:p>
            <a:pPr algn="ctr"/>
            <a:r>
              <a:rPr sz="950" b="1" i="0">
                <a:solidFill>
                  <a:srgbClr val="FFFBF5"/>
                </a:solidFill>
              </a:rPr>
              <a:t>User Svc</a:t>
            </a:r>
          </a:p>
        </p:txBody>
      </p:sp>
      <p:sp>
        <p:nvSpPr>
          <p:cNvPr id="22" name="TextBox 21"/>
          <p:cNvSpPr txBox="1"/>
          <p:nvPr/>
        </p:nvSpPr>
        <p:spPr>
          <a:xfrm>
            <a:off x="3584448" y="2578608"/>
            <a:ext cx="1078992" cy="256032"/>
          </a:xfrm>
          <a:prstGeom prst="rect">
            <a:avLst/>
          </a:prstGeom>
          <a:noFill/>
        </p:spPr>
        <p:txBody>
          <a:bodyPr wrap="square">
            <a:spAutoFit/>
          </a:bodyPr>
          <a:lstStyle/>
          <a:p>
            <a:pPr algn="ctr"/>
            <a:r>
              <a:rPr sz="900" b="0" i="0">
                <a:solidFill>
                  <a:srgbClr val="F5A623"/>
                </a:solidFill>
              </a:rPr>
              <a:t>:8081</a:t>
            </a:r>
          </a:p>
        </p:txBody>
      </p:sp>
      <p:sp>
        <p:nvSpPr>
          <p:cNvPr id="23" name="Rectangle 22"/>
          <p:cNvSpPr/>
          <p:nvPr/>
        </p:nvSpPr>
        <p:spPr>
          <a:xfrm>
            <a:off x="4764024"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64024"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64024"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2276856"/>
            <a:ext cx="1078992" cy="310896"/>
          </a:xfrm>
          <a:prstGeom prst="rect">
            <a:avLst/>
          </a:prstGeom>
          <a:noFill/>
        </p:spPr>
        <p:txBody>
          <a:bodyPr wrap="square">
            <a:spAutoFit/>
          </a:bodyPr>
          <a:lstStyle/>
          <a:p>
            <a:pPr algn="ctr"/>
            <a:r>
              <a:rPr sz="950" b="1" i="0">
                <a:solidFill>
                  <a:srgbClr val="FFFBF5"/>
                </a:solidFill>
              </a:rPr>
              <a:t>Menu Svc</a:t>
            </a:r>
          </a:p>
        </p:txBody>
      </p:sp>
      <p:sp>
        <p:nvSpPr>
          <p:cNvPr id="27" name="TextBox 26"/>
          <p:cNvSpPr txBox="1"/>
          <p:nvPr/>
        </p:nvSpPr>
        <p:spPr>
          <a:xfrm>
            <a:off x="4800600" y="2578608"/>
            <a:ext cx="1078992" cy="256032"/>
          </a:xfrm>
          <a:prstGeom prst="rect">
            <a:avLst/>
          </a:prstGeom>
          <a:noFill/>
        </p:spPr>
        <p:txBody>
          <a:bodyPr wrap="square">
            <a:spAutoFit/>
          </a:bodyPr>
          <a:lstStyle/>
          <a:p>
            <a:pPr algn="ctr"/>
            <a:r>
              <a:rPr sz="900" b="0" i="0">
                <a:solidFill>
                  <a:srgbClr val="F5A623"/>
                </a:solidFill>
              </a:rPr>
              <a:t>:8082</a:t>
            </a:r>
          </a:p>
        </p:txBody>
      </p:sp>
      <p:sp>
        <p:nvSpPr>
          <p:cNvPr id="28" name="Rectangle 27"/>
          <p:cNvSpPr/>
          <p:nvPr/>
        </p:nvSpPr>
        <p:spPr>
          <a:xfrm>
            <a:off x="5980176"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80176"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80176"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16752" y="2276856"/>
            <a:ext cx="1078992" cy="310896"/>
          </a:xfrm>
          <a:prstGeom prst="rect">
            <a:avLst/>
          </a:prstGeom>
          <a:noFill/>
        </p:spPr>
        <p:txBody>
          <a:bodyPr wrap="square">
            <a:spAutoFit/>
          </a:bodyPr>
          <a:lstStyle/>
          <a:p>
            <a:pPr algn="ctr"/>
            <a:r>
              <a:rPr sz="950" b="1" i="0">
                <a:solidFill>
                  <a:srgbClr val="FFFBF5"/>
                </a:solidFill>
              </a:rPr>
              <a:t>Order Svc</a:t>
            </a:r>
          </a:p>
        </p:txBody>
      </p:sp>
      <p:sp>
        <p:nvSpPr>
          <p:cNvPr id="32" name="TextBox 31"/>
          <p:cNvSpPr txBox="1"/>
          <p:nvPr/>
        </p:nvSpPr>
        <p:spPr>
          <a:xfrm>
            <a:off x="6016752" y="2578608"/>
            <a:ext cx="1078992" cy="256032"/>
          </a:xfrm>
          <a:prstGeom prst="rect">
            <a:avLst/>
          </a:prstGeom>
          <a:noFill/>
        </p:spPr>
        <p:txBody>
          <a:bodyPr wrap="square">
            <a:spAutoFit/>
          </a:bodyPr>
          <a:lstStyle/>
          <a:p>
            <a:pPr algn="ctr"/>
            <a:r>
              <a:rPr sz="900" b="0" i="0">
                <a:solidFill>
                  <a:srgbClr val="F5A623"/>
                </a:solidFill>
              </a:rPr>
              <a:t>:8083</a:t>
            </a:r>
          </a:p>
        </p:txBody>
      </p:sp>
      <p:sp>
        <p:nvSpPr>
          <p:cNvPr id="33" name="Rectangle 32"/>
          <p:cNvSpPr/>
          <p:nvPr/>
        </p:nvSpPr>
        <p:spPr>
          <a:xfrm>
            <a:off x="7196328"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196328"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96328"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2904" y="2276856"/>
            <a:ext cx="1078992" cy="310896"/>
          </a:xfrm>
          <a:prstGeom prst="rect">
            <a:avLst/>
          </a:prstGeom>
          <a:noFill/>
        </p:spPr>
        <p:txBody>
          <a:bodyPr wrap="square">
            <a:spAutoFit/>
          </a:bodyPr>
          <a:lstStyle/>
          <a:p>
            <a:pPr algn="ctr"/>
            <a:r>
              <a:rPr sz="950" b="1" i="0">
                <a:solidFill>
                  <a:srgbClr val="FFFBF5"/>
                </a:solidFill>
              </a:rPr>
              <a:t>Kitchen Svc</a:t>
            </a:r>
          </a:p>
        </p:txBody>
      </p:sp>
      <p:sp>
        <p:nvSpPr>
          <p:cNvPr id="37" name="TextBox 36"/>
          <p:cNvSpPr txBox="1"/>
          <p:nvPr/>
        </p:nvSpPr>
        <p:spPr>
          <a:xfrm>
            <a:off x="7232904" y="2578608"/>
            <a:ext cx="1078992" cy="256032"/>
          </a:xfrm>
          <a:prstGeom prst="rect">
            <a:avLst/>
          </a:prstGeom>
          <a:noFill/>
        </p:spPr>
        <p:txBody>
          <a:bodyPr wrap="square">
            <a:spAutoFit/>
          </a:bodyPr>
          <a:lstStyle/>
          <a:p>
            <a:pPr algn="ctr"/>
            <a:r>
              <a:rPr sz="900" b="0" i="0">
                <a:solidFill>
                  <a:srgbClr val="F5A623"/>
                </a:solidFill>
              </a:rPr>
              <a:t>:8084</a:t>
            </a:r>
          </a:p>
        </p:txBody>
      </p:sp>
      <p:sp>
        <p:nvSpPr>
          <p:cNvPr id="38" name="Rectangle 37"/>
          <p:cNvSpPr/>
          <p:nvPr/>
        </p:nvSpPr>
        <p:spPr>
          <a:xfrm>
            <a:off x="8412480"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12480"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0"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49056" y="2276856"/>
            <a:ext cx="1078992" cy="310896"/>
          </a:xfrm>
          <a:prstGeom prst="rect">
            <a:avLst/>
          </a:prstGeom>
          <a:noFill/>
        </p:spPr>
        <p:txBody>
          <a:bodyPr wrap="square">
            <a:spAutoFit/>
          </a:bodyPr>
          <a:lstStyle/>
          <a:p>
            <a:pPr algn="ctr"/>
            <a:r>
              <a:rPr sz="950" b="1" i="0">
                <a:solidFill>
                  <a:srgbClr val="FFFBF5"/>
                </a:solidFill>
              </a:rPr>
              <a:t>Branch Svc</a:t>
            </a:r>
          </a:p>
        </p:txBody>
      </p:sp>
      <p:sp>
        <p:nvSpPr>
          <p:cNvPr id="42" name="TextBox 41"/>
          <p:cNvSpPr txBox="1"/>
          <p:nvPr/>
        </p:nvSpPr>
        <p:spPr>
          <a:xfrm>
            <a:off x="8449056" y="2578608"/>
            <a:ext cx="1078992" cy="256032"/>
          </a:xfrm>
          <a:prstGeom prst="rect">
            <a:avLst/>
          </a:prstGeom>
          <a:noFill/>
        </p:spPr>
        <p:txBody>
          <a:bodyPr wrap="square">
            <a:spAutoFit/>
          </a:bodyPr>
          <a:lstStyle/>
          <a:p>
            <a:pPr algn="ctr"/>
            <a:r>
              <a:rPr sz="900" b="0" i="0">
                <a:solidFill>
                  <a:srgbClr val="F5A623"/>
                </a:solidFill>
              </a:rPr>
              <a:t>:8085</a:t>
            </a:r>
          </a:p>
        </p:txBody>
      </p:sp>
      <p:sp>
        <p:nvSpPr>
          <p:cNvPr id="43" name="Rectangle 42"/>
          <p:cNvSpPr/>
          <p:nvPr/>
        </p:nvSpPr>
        <p:spPr>
          <a:xfrm>
            <a:off x="9628632"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628632"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628632"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65208" y="2276856"/>
            <a:ext cx="1078992" cy="310896"/>
          </a:xfrm>
          <a:prstGeom prst="rect">
            <a:avLst/>
          </a:prstGeom>
          <a:noFill/>
        </p:spPr>
        <p:txBody>
          <a:bodyPr wrap="square">
            <a:spAutoFit/>
          </a:bodyPr>
          <a:lstStyle/>
          <a:p>
            <a:pPr algn="ctr"/>
            <a:r>
              <a:rPr sz="950" b="1" i="0">
                <a:solidFill>
                  <a:srgbClr val="FFFBF5"/>
                </a:solidFill>
              </a:rPr>
              <a:t>Notif Svc</a:t>
            </a:r>
          </a:p>
        </p:txBody>
      </p:sp>
      <p:sp>
        <p:nvSpPr>
          <p:cNvPr id="47" name="TextBox 46"/>
          <p:cNvSpPr txBox="1"/>
          <p:nvPr/>
        </p:nvSpPr>
        <p:spPr>
          <a:xfrm>
            <a:off x="9665208" y="2578608"/>
            <a:ext cx="1078992" cy="256032"/>
          </a:xfrm>
          <a:prstGeom prst="rect">
            <a:avLst/>
          </a:prstGeom>
          <a:noFill/>
        </p:spPr>
        <p:txBody>
          <a:bodyPr wrap="square">
            <a:spAutoFit/>
          </a:bodyPr>
          <a:lstStyle/>
          <a:p>
            <a:pPr algn="ctr"/>
            <a:r>
              <a:rPr sz="900" b="0" i="0">
                <a:solidFill>
                  <a:srgbClr val="F5A623"/>
                </a:solidFill>
              </a:rPr>
              <a:t>:8086</a:t>
            </a:r>
          </a:p>
        </p:txBody>
      </p:sp>
      <p:sp>
        <p:nvSpPr>
          <p:cNvPr id="48" name="Rectangle 47"/>
          <p:cNvSpPr/>
          <p:nvPr/>
        </p:nvSpPr>
        <p:spPr>
          <a:xfrm>
            <a:off x="10844784" y="1865376"/>
            <a:ext cx="36576" cy="384048"/>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844784" y="2249424"/>
            <a:ext cx="1152144" cy="685800"/>
          </a:xfrm>
          <a:prstGeom prst="rect">
            <a:avLst/>
          </a:prstGeom>
          <a:solidFill>
            <a:srgbClr val="FFFBF5"/>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844784" y="2249424"/>
            <a:ext cx="1152144" cy="6858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881360" y="2276856"/>
            <a:ext cx="1078992" cy="310896"/>
          </a:xfrm>
          <a:prstGeom prst="rect">
            <a:avLst/>
          </a:prstGeom>
          <a:noFill/>
        </p:spPr>
        <p:txBody>
          <a:bodyPr wrap="square">
            <a:spAutoFit/>
          </a:bodyPr>
          <a:lstStyle/>
          <a:p>
            <a:pPr algn="ctr"/>
            <a:r>
              <a:rPr sz="950" b="1" i="0">
                <a:solidFill>
                  <a:srgbClr val="FFFBF5"/>
                </a:solidFill>
              </a:rPr>
              <a:t>Analytics Svc</a:t>
            </a:r>
          </a:p>
        </p:txBody>
      </p:sp>
      <p:sp>
        <p:nvSpPr>
          <p:cNvPr id="52" name="TextBox 51"/>
          <p:cNvSpPr txBox="1"/>
          <p:nvPr/>
        </p:nvSpPr>
        <p:spPr>
          <a:xfrm>
            <a:off x="10881360" y="2578608"/>
            <a:ext cx="1078992" cy="256032"/>
          </a:xfrm>
          <a:prstGeom prst="rect">
            <a:avLst/>
          </a:prstGeom>
          <a:noFill/>
        </p:spPr>
        <p:txBody>
          <a:bodyPr wrap="square">
            <a:spAutoFit/>
          </a:bodyPr>
          <a:lstStyle/>
          <a:p>
            <a:pPr algn="ctr"/>
            <a:r>
              <a:rPr sz="900" b="0" i="0">
                <a:solidFill>
                  <a:srgbClr val="F5A623"/>
                </a:solidFill>
              </a:rPr>
              <a:t>:8087</a:t>
            </a:r>
          </a:p>
        </p:txBody>
      </p:sp>
      <p:sp>
        <p:nvSpPr>
          <p:cNvPr id="53" name="Rectangle 52"/>
          <p:cNvSpPr/>
          <p:nvPr/>
        </p:nvSpPr>
        <p:spPr>
          <a:xfrm>
            <a:off x="3520440" y="3108960"/>
            <a:ext cx="8412480" cy="685800"/>
          </a:xfrm>
          <a:prstGeom prst="rect">
            <a:avLst/>
          </a:prstGeom>
          <a:solidFill>
            <a:srgbClr val="FFF3E0"/>
          </a:solidFill>
          <a:ln w="228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520440" y="3182112"/>
            <a:ext cx="8412480" cy="384048"/>
          </a:xfrm>
          <a:prstGeom prst="rect">
            <a:avLst/>
          </a:prstGeom>
          <a:noFill/>
        </p:spPr>
        <p:txBody>
          <a:bodyPr wrap="square">
            <a:spAutoFit/>
          </a:bodyPr>
          <a:lstStyle/>
          <a:p>
            <a:pPr algn="ctr"/>
            <a:r>
              <a:rPr sz="1300" b="1" i="0">
                <a:solidFill>
                  <a:srgbClr val="E65100"/>
                </a:solidFill>
              </a:rPr>
              <a:t>⚡  Apache Kafka  —  Async Event Bus</a:t>
            </a:r>
          </a:p>
        </p:txBody>
      </p:sp>
      <p:sp>
        <p:nvSpPr>
          <p:cNvPr id="55" name="Rectangle 54"/>
          <p:cNvSpPr/>
          <p:nvPr/>
        </p:nvSpPr>
        <p:spPr>
          <a:xfrm>
            <a:off x="3657600" y="3858768"/>
            <a:ext cx="1527048" cy="274320"/>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03320" y="3877056"/>
            <a:ext cx="1444752" cy="246888"/>
          </a:xfrm>
          <a:prstGeom prst="rect">
            <a:avLst/>
          </a:prstGeom>
          <a:noFill/>
        </p:spPr>
        <p:txBody>
          <a:bodyPr wrap="square">
            <a:spAutoFit/>
          </a:bodyPr>
          <a:lstStyle/>
          <a:p>
            <a:pPr algn="ctr"/>
            <a:r>
              <a:rPr sz="850" b="0" i="0">
                <a:solidFill>
                  <a:srgbClr val="E65100"/>
                </a:solidFill>
              </a:rPr>
              <a:t>order.created</a:t>
            </a:r>
          </a:p>
        </p:txBody>
      </p:sp>
      <p:sp>
        <p:nvSpPr>
          <p:cNvPr id="57" name="Rectangle 56"/>
          <p:cNvSpPr/>
          <p:nvPr/>
        </p:nvSpPr>
        <p:spPr>
          <a:xfrm>
            <a:off x="5266944" y="3858768"/>
            <a:ext cx="1527048" cy="274320"/>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12664" y="3877056"/>
            <a:ext cx="1444752" cy="246888"/>
          </a:xfrm>
          <a:prstGeom prst="rect">
            <a:avLst/>
          </a:prstGeom>
          <a:noFill/>
        </p:spPr>
        <p:txBody>
          <a:bodyPr wrap="square">
            <a:spAutoFit/>
          </a:bodyPr>
          <a:lstStyle/>
          <a:p>
            <a:pPr algn="ctr"/>
            <a:r>
              <a:rPr sz="850" b="0" i="0">
                <a:solidFill>
                  <a:srgbClr val="E65100"/>
                </a:solidFill>
              </a:rPr>
              <a:t>order.status.updated</a:t>
            </a:r>
          </a:p>
        </p:txBody>
      </p:sp>
      <p:sp>
        <p:nvSpPr>
          <p:cNvPr id="59" name="Rectangle 58"/>
          <p:cNvSpPr/>
          <p:nvPr/>
        </p:nvSpPr>
        <p:spPr>
          <a:xfrm>
            <a:off x="6876288" y="3858768"/>
            <a:ext cx="1527048" cy="274320"/>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22008" y="3877056"/>
            <a:ext cx="1444752" cy="246888"/>
          </a:xfrm>
          <a:prstGeom prst="rect">
            <a:avLst/>
          </a:prstGeom>
          <a:noFill/>
        </p:spPr>
        <p:txBody>
          <a:bodyPr wrap="square">
            <a:spAutoFit/>
          </a:bodyPr>
          <a:lstStyle/>
          <a:p>
            <a:pPr algn="ctr"/>
            <a:r>
              <a:rPr sz="850" b="0" i="0">
                <a:solidFill>
                  <a:srgbClr val="E65100"/>
                </a:solidFill>
              </a:rPr>
              <a:t>kitchen.order.updated</a:t>
            </a:r>
          </a:p>
        </p:txBody>
      </p:sp>
      <p:sp>
        <p:nvSpPr>
          <p:cNvPr id="61" name="Rectangle 60"/>
          <p:cNvSpPr/>
          <p:nvPr/>
        </p:nvSpPr>
        <p:spPr>
          <a:xfrm>
            <a:off x="8485632" y="3858768"/>
            <a:ext cx="1527048" cy="274320"/>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531352" y="3877056"/>
            <a:ext cx="1444752" cy="246888"/>
          </a:xfrm>
          <a:prstGeom prst="rect">
            <a:avLst/>
          </a:prstGeom>
          <a:noFill/>
        </p:spPr>
        <p:txBody>
          <a:bodyPr wrap="square">
            <a:spAutoFit/>
          </a:bodyPr>
          <a:lstStyle/>
          <a:p>
            <a:pPr algn="ctr"/>
            <a:r>
              <a:rPr sz="850" b="0" i="0">
                <a:solidFill>
                  <a:srgbClr val="E65100"/>
                </a:solidFill>
              </a:rPr>
              <a:t>notification.email.send</a:t>
            </a:r>
          </a:p>
        </p:txBody>
      </p:sp>
      <p:sp>
        <p:nvSpPr>
          <p:cNvPr id="63" name="Rectangle 62"/>
          <p:cNvSpPr/>
          <p:nvPr/>
        </p:nvSpPr>
        <p:spPr>
          <a:xfrm>
            <a:off x="10094976" y="3858768"/>
            <a:ext cx="1527048" cy="274320"/>
          </a:xfrm>
          <a:prstGeom prst="rect">
            <a:avLst/>
          </a:prstGeom>
          <a:solidFill>
            <a:srgbClr val="FFE0B2"/>
          </a:solidFill>
          <a:ln w="889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140696" y="3877056"/>
            <a:ext cx="1444752" cy="246888"/>
          </a:xfrm>
          <a:prstGeom prst="rect">
            <a:avLst/>
          </a:prstGeom>
          <a:noFill/>
        </p:spPr>
        <p:txBody>
          <a:bodyPr wrap="square">
            <a:spAutoFit/>
          </a:bodyPr>
          <a:lstStyle/>
          <a:p>
            <a:pPr algn="ctr"/>
            <a:r>
              <a:rPr sz="850" b="0" i="0">
                <a:solidFill>
                  <a:srgbClr val="E65100"/>
                </a:solidFill>
              </a:rPr>
              <a:t>analytics.order.completed</a:t>
            </a:r>
          </a:p>
        </p:txBody>
      </p:sp>
      <p:sp>
        <p:nvSpPr>
          <p:cNvPr id="65" name="Rectangle 64"/>
          <p:cNvSpPr/>
          <p:nvPr/>
        </p:nvSpPr>
        <p:spPr>
          <a:xfrm>
            <a:off x="274320" y="4297680"/>
            <a:ext cx="1664208" cy="640080"/>
          </a:xfrm>
          <a:prstGeom prst="rect">
            <a:avLst/>
          </a:prstGeom>
          <a:solidFill>
            <a:srgbClr val="E8F5E9"/>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9184" y="4334256"/>
            <a:ext cx="1572768" cy="566928"/>
          </a:xfrm>
          <a:prstGeom prst="rect">
            <a:avLst/>
          </a:prstGeom>
          <a:noFill/>
        </p:spPr>
        <p:txBody>
          <a:bodyPr wrap="square">
            <a:spAutoFit/>
          </a:bodyPr>
          <a:lstStyle/>
          <a:p>
            <a:pPr algn="ctr"/>
            <a:r>
              <a:rPr sz="1000" b="1" i="0">
                <a:solidFill>
                  <a:srgbClr val="2C1A0E"/>
                </a:solidFill>
              </a:rPr>
              <a:t>MySQL
×8 DBs</a:t>
            </a:r>
          </a:p>
        </p:txBody>
      </p:sp>
      <p:sp>
        <p:nvSpPr>
          <p:cNvPr id="67" name="Rectangle 66"/>
          <p:cNvSpPr/>
          <p:nvPr/>
        </p:nvSpPr>
        <p:spPr>
          <a:xfrm>
            <a:off x="2011680" y="4297680"/>
            <a:ext cx="1664208" cy="640080"/>
          </a:xfrm>
          <a:prstGeom prst="rect">
            <a:avLst/>
          </a:prstGeom>
          <a:solidFill>
            <a:srgbClr val="E8F5E9"/>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66544" y="4334256"/>
            <a:ext cx="1572768" cy="566928"/>
          </a:xfrm>
          <a:prstGeom prst="rect">
            <a:avLst/>
          </a:prstGeom>
          <a:noFill/>
        </p:spPr>
        <p:txBody>
          <a:bodyPr wrap="square">
            <a:spAutoFit/>
          </a:bodyPr>
          <a:lstStyle/>
          <a:p>
            <a:pPr algn="ctr"/>
            <a:r>
              <a:rPr sz="1000" b="1" i="0">
                <a:solidFill>
                  <a:srgbClr val="2C1A0E"/>
                </a:solidFill>
              </a:rPr>
              <a:t>Redis
Cache</a:t>
            </a:r>
          </a:p>
        </p:txBody>
      </p:sp>
      <p:sp>
        <p:nvSpPr>
          <p:cNvPr id="69" name="Rectangle 68"/>
          <p:cNvSpPr/>
          <p:nvPr/>
        </p:nvSpPr>
        <p:spPr>
          <a:xfrm>
            <a:off x="3749040" y="4297680"/>
            <a:ext cx="1664208" cy="640080"/>
          </a:xfrm>
          <a:prstGeom prst="rect">
            <a:avLst/>
          </a:prstGeom>
          <a:solidFill>
            <a:srgbClr val="D6E8F7"/>
          </a:solidFill>
          <a:ln w="1905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03904" y="4334256"/>
            <a:ext cx="1572768" cy="566928"/>
          </a:xfrm>
          <a:prstGeom prst="rect">
            <a:avLst/>
          </a:prstGeom>
          <a:noFill/>
        </p:spPr>
        <p:txBody>
          <a:bodyPr wrap="square">
            <a:spAutoFit/>
          </a:bodyPr>
          <a:lstStyle/>
          <a:p>
            <a:pPr algn="ctr"/>
            <a:r>
              <a:rPr sz="1000" b="1" i="0">
                <a:solidFill>
                  <a:srgbClr val="2C1A0E"/>
                </a:solidFill>
              </a:rPr>
              <a:t>Eureka
:8761</a:t>
            </a:r>
          </a:p>
        </p:txBody>
      </p:sp>
      <p:sp>
        <p:nvSpPr>
          <p:cNvPr id="71" name="Rectangle 70"/>
          <p:cNvSpPr/>
          <p:nvPr/>
        </p:nvSpPr>
        <p:spPr>
          <a:xfrm>
            <a:off x="5486400" y="4297680"/>
            <a:ext cx="1664208" cy="640080"/>
          </a:xfrm>
          <a:prstGeom prst="rect">
            <a:avLst/>
          </a:prstGeom>
          <a:solidFill>
            <a:srgbClr val="D6E8F7"/>
          </a:solidFill>
          <a:ln w="1905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541264" y="4334256"/>
            <a:ext cx="1572768" cy="566928"/>
          </a:xfrm>
          <a:prstGeom prst="rect">
            <a:avLst/>
          </a:prstGeom>
          <a:noFill/>
        </p:spPr>
        <p:txBody>
          <a:bodyPr wrap="square">
            <a:spAutoFit/>
          </a:bodyPr>
          <a:lstStyle/>
          <a:p>
            <a:pPr algn="ctr"/>
            <a:r>
              <a:rPr sz="1000" b="1" i="0">
                <a:solidFill>
                  <a:srgbClr val="2C1A0E"/>
                </a:solidFill>
              </a:rPr>
              <a:t>Config Svr
:8888</a:t>
            </a:r>
          </a:p>
        </p:txBody>
      </p:sp>
      <p:sp>
        <p:nvSpPr>
          <p:cNvPr id="73" name="Rectangle 72"/>
          <p:cNvSpPr/>
          <p:nvPr/>
        </p:nvSpPr>
        <p:spPr>
          <a:xfrm>
            <a:off x="7223760" y="4297680"/>
            <a:ext cx="1664208" cy="640080"/>
          </a:xfrm>
          <a:prstGeom prst="rect">
            <a:avLst/>
          </a:prstGeom>
          <a:solidFill>
            <a:srgbClr val="FFF3E0"/>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78624" y="4334256"/>
            <a:ext cx="1572768" cy="566928"/>
          </a:xfrm>
          <a:prstGeom prst="rect">
            <a:avLst/>
          </a:prstGeom>
          <a:noFill/>
        </p:spPr>
        <p:txBody>
          <a:bodyPr wrap="square">
            <a:spAutoFit/>
          </a:bodyPr>
          <a:lstStyle/>
          <a:p>
            <a:pPr algn="ctr"/>
            <a:r>
              <a:rPr sz="1000" b="1" i="0">
                <a:solidFill>
                  <a:srgbClr val="2C1A0E"/>
                </a:solidFill>
              </a:rPr>
              <a:t>AWS S3
Images</a:t>
            </a:r>
          </a:p>
        </p:txBody>
      </p:sp>
      <p:sp>
        <p:nvSpPr>
          <p:cNvPr id="75" name="Rectangle 74"/>
          <p:cNvSpPr/>
          <p:nvPr/>
        </p:nvSpPr>
        <p:spPr>
          <a:xfrm>
            <a:off x="8961120" y="4297680"/>
            <a:ext cx="1664208" cy="640080"/>
          </a:xfrm>
          <a:prstGeom prst="rect">
            <a:avLst/>
          </a:prstGeom>
          <a:solidFill>
            <a:srgbClr val="F3E5F5"/>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015984" y="4334256"/>
            <a:ext cx="1572768" cy="566928"/>
          </a:xfrm>
          <a:prstGeom prst="rect">
            <a:avLst/>
          </a:prstGeom>
          <a:noFill/>
        </p:spPr>
        <p:txBody>
          <a:bodyPr wrap="square">
            <a:spAutoFit/>
          </a:bodyPr>
          <a:lstStyle/>
          <a:p>
            <a:pPr algn="ctr"/>
            <a:r>
              <a:rPr sz="1000" b="1" i="0">
                <a:solidFill>
                  <a:srgbClr val="2C1A0E"/>
                </a:solidFill>
              </a:rPr>
              <a:t>Gemini AI
Suggestions</a:t>
            </a:r>
          </a:p>
        </p:txBody>
      </p:sp>
      <p:sp>
        <p:nvSpPr>
          <p:cNvPr id="77" name="Rectangle 76"/>
          <p:cNvSpPr/>
          <p:nvPr/>
        </p:nvSpPr>
        <p:spPr>
          <a:xfrm>
            <a:off x="10698480" y="4297680"/>
            <a:ext cx="1664208" cy="640080"/>
          </a:xfrm>
          <a:prstGeom prst="rect">
            <a:avLst/>
          </a:prstGeom>
          <a:solidFill>
            <a:srgbClr val="F0F0F0"/>
          </a:solidFill>
          <a:ln w="19050">
            <a:solidFill>
              <a:srgbClr val="3D3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753344" y="4334256"/>
            <a:ext cx="1572768" cy="566928"/>
          </a:xfrm>
          <a:prstGeom prst="rect">
            <a:avLst/>
          </a:prstGeom>
          <a:noFill/>
        </p:spPr>
        <p:txBody>
          <a:bodyPr wrap="square">
            <a:spAutoFit/>
          </a:bodyPr>
          <a:lstStyle/>
          <a:p>
            <a:pPr algn="ctr"/>
            <a:r>
              <a:rPr sz="1000" b="1" i="0">
                <a:solidFill>
                  <a:srgbClr val="2C1A0E"/>
                </a:solidFill>
              </a:rPr>
              <a:t>GitHub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1A0E"/>
        </a:solidFill>
        <a:effectLst/>
      </p:bgPr>
    </p:bg>
    <p:spTree>
      <p:nvGrpSpPr>
        <p:cNvPr id="1" name=""/>
        <p:cNvGrpSpPr/>
        <p:nvPr/>
      </p:nvGrpSpPr>
      <p:grpSpPr/>
      <p:sp>
        <p:nvSpPr>
          <p:cNvPr id="2" name="Rectangle 1"/>
          <p:cNvSpPr/>
          <p:nvPr/>
        </p:nvSpPr>
        <p:spPr>
          <a:xfrm>
            <a:off x="0" y="0"/>
            <a:ext cx="12188952" cy="12801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88952" cy="12801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11430000" cy="566928"/>
          </a:xfrm>
          <a:prstGeom prst="rect">
            <a:avLst/>
          </a:prstGeom>
          <a:noFill/>
        </p:spPr>
        <p:txBody>
          <a:bodyPr wrap="square">
            <a:spAutoFit/>
          </a:bodyPr>
          <a:lstStyle/>
          <a:p>
            <a:pPr algn="ctr"/>
            <a:r>
              <a:rPr sz="2200" b="1" i="0">
                <a:solidFill>
                  <a:srgbClr val="FFFBF5"/>
                </a:solidFill>
              </a:rPr>
              <a:t>How an Order Flows Through the System</a:t>
            </a:r>
          </a:p>
        </p:txBody>
      </p:sp>
      <p:sp>
        <p:nvSpPr>
          <p:cNvPr id="5" name="TextBox 4"/>
          <p:cNvSpPr txBox="1"/>
          <p:nvPr/>
        </p:nvSpPr>
        <p:spPr>
          <a:xfrm>
            <a:off x="365760" y="749808"/>
            <a:ext cx="11430000" cy="347472"/>
          </a:xfrm>
          <a:prstGeom prst="rect">
            <a:avLst/>
          </a:prstGeom>
          <a:noFill/>
        </p:spPr>
        <p:txBody>
          <a:bodyPr wrap="square">
            <a:spAutoFit/>
          </a:bodyPr>
          <a:lstStyle/>
          <a:p>
            <a:pPr algn="ctr"/>
            <a:r>
              <a:rPr sz="1300" b="0" i="1">
                <a:solidFill>
                  <a:srgbClr val="F5A623"/>
                </a:solidFill>
              </a:rPr>
              <a:t>Each step is triggered automatically — no manual intervention</a:t>
            </a:r>
          </a:p>
        </p:txBody>
      </p:sp>
      <p:sp>
        <p:nvSpPr>
          <p:cNvPr id="6" name="Rectangle 5"/>
          <p:cNvSpPr/>
          <p:nvPr/>
        </p:nvSpPr>
        <p:spPr>
          <a:xfrm>
            <a:off x="256032" y="1298448"/>
            <a:ext cx="1207008" cy="1005840"/>
          </a:xfrm>
          <a:prstGeom prst="rect">
            <a:avLst/>
          </a:prstGeom>
          <a:solidFill>
            <a:srgbClr val="D6E8F7"/>
          </a:solidFill>
          <a:ln w="2540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 y="1353312"/>
            <a:ext cx="1133856" cy="402336"/>
          </a:xfrm>
          <a:prstGeom prst="rect">
            <a:avLst/>
          </a:prstGeom>
          <a:noFill/>
        </p:spPr>
        <p:txBody>
          <a:bodyPr wrap="square">
            <a:spAutoFit/>
          </a:bodyPr>
          <a:lstStyle/>
          <a:p>
            <a:pPr algn="ctr"/>
            <a:r>
              <a:rPr sz="2200" b="0" i="0">
                <a:solidFill>
                  <a:srgbClr val="1A5C99"/>
                </a:solidFill>
              </a:rPr>
              <a:t>🌐</a:t>
            </a:r>
          </a:p>
        </p:txBody>
      </p:sp>
      <p:sp>
        <p:nvSpPr>
          <p:cNvPr id="8" name="TextBox 7"/>
          <p:cNvSpPr txBox="1"/>
          <p:nvPr/>
        </p:nvSpPr>
        <p:spPr>
          <a:xfrm>
            <a:off x="301752" y="1755648"/>
            <a:ext cx="1133856" cy="512064"/>
          </a:xfrm>
          <a:prstGeom prst="rect">
            <a:avLst/>
          </a:prstGeom>
          <a:noFill/>
        </p:spPr>
        <p:txBody>
          <a:bodyPr wrap="square">
            <a:spAutoFit/>
          </a:bodyPr>
          <a:lstStyle/>
          <a:p>
            <a:pPr algn="ctr"/>
            <a:r>
              <a:rPr sz="1000" b="1" i="0">
                <a:solidFill>
                  <a:srgbClr val="2C1A0E"/>
                </a:solidFill>
              </a:rPr>
              <a:t>Customer
App</a:t>
            </a:r>
          </a:p>
        </p:txBody>
      </p:sp>
      <p:sp>
        <p:nvSpPr>
          <p:cNvPr id="9" name="Rectangle 8"/>
          <p:cNvSpPr/>
          <p:nvPr/>
        </p:nvSpPr>
        <p:spPr>
          <a:xfrm>
            <a:off x="1609344" y="1298448"/>
            <a:ext cx="1207008" cy="1005840"/>
          </a:xfrm>
          <a:prstGeom prst="rect">
            <a:avLst/>
          </a:prstGeom>
          <a:solidFill>
            <a:srgbClr val="FDF6EC"/>
          </a:solidFill>
          <a:ln w="2540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5064" y="1353312"/>
            <a:ext cx="1133856" cy="402336"/>
          </a:xfrm>
          <a:prstGeom prst="rect">
            <a:avLst/>
          </a:prstGeom>
          <a:noFill/>
        </p:spPr>
        <p:txBody>
          <a:bodyPr wrap="square">
            <a:spAutoFit/>
          </a:bodyPr>
          <a:lstStyle/>
          <a:p>
            <a:pPr algn="ctr"/>
            <a:r>
              <a:rPr sz="2200" b="0" i="0">
                <a:solidFill>
                  <a:srgbClr val="C87F0A"/>
                </a:solidFill>
              </a:rPr>
              <a:t>🔀</a:t>
            </a:r>
          </a:p>
        </p:txBody>
      </p:sp>
      <p:sp>
        <p:nvSpPr>
          <p:cNvPr id="11" name="TextBox 10"/>
          <p:cNvSpPr txBox="1"/>
          <p:nvPr/>
        </p:nvSpPr>
        <p:spPr>
          <a:xfrm>
            <a:off x="1655064" y="1755648"/>
            <a:ext cx="1133856" cy="512064"/>
          </a:xfrm>
          <a:prstGeom prst="rect">
            <a:avLst/>
          </a:prstGeom>
          <a:noFill/>
        </p:spPr>
        <p:txBody>
          <a:bodyPr wrap="square">
            <a:spAutoFit/>
          </a:bodyPr>
          <a:lstStyle/>
          <a:p>
            <a:pPr algn="ctr"/>
            <a:r>
              <a:rPr sz="1000" b="1" i="0">
                <a:solidFill>
                  <a:srgbClr val="2C1A0E"/>
                </a:solidFill>
              </a:rPr>
              <a:t>API
Gateway</a:t>
            </a:r>
          </a:p>
        </p:txBody>
      </p:sp>
      <p:sp>
        <p:nvSpPr>
          <p:cNvPr id="12" name="Rectangle 11"/>
          <p:cNvSpPr/>
          <p:nvPr/>
        </p:nvSpPr>
        <p:spPr>
          <a:xfrm>
            <a:off x="2962656" y="1298448"/>
            <a:ext cx="1207008" cy="1005840"/>
          </a:xfrm>
          <a:prstGeom prst="rect">
            <a:avLst/>
          </a:prstGeom>
          <a:solidFill>
            <a:srgbClr val="FDF6EC"/>
          </a:solidFill>
          <a:ln w="254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8376" y="1353312"/>
            <a:ext cx="1133856" cy="402336"/>
          </a:xfrm>
          <a:prstGeom prst="rect">
            <a:avLst/>
          </a:prstGeom>
          <a:noFill/>
        </p:spPr>
        <p:txBody>
          <a:bodyPr wrap="square">
            <a:spAutoFit/>
          </a:bodyPr>
          <a:lstStyle/>
          <a:p>
            <a:pPr algn="ctr"/>
            <a:r>
              <a:rPr sz="2200" b="0" i="0">
                <a:solidFill>
                  <a:srgbClr val="2C1A0E"/>
                </a:solidFill>
              </a:rPr>
              <a:t>📦</a:t>
            </a:r>
          </a:p>
        </p:txBody>
      </p:sp>
      <p:sp>
        <p:nvSpPr>
          <p:cNvPr id="14" name="TextBox 13"/>
          <p:cNvSpPr txBox="1"/>
          <p:nvPr/>
        </p:nvSpPr>
        <p:spPr>
          <a:xfrm>
            <a:off x="3008376" y="1755648"/>
            <a:ext cx="1133856" cy="512064"/>
          </a:xfrm>
          <a:prstGeom prst="rect">
            <a:avLst/>
          </a:prstGeom>
          <a:noFill/>
        </p:spPr>
        <p:txBody>
          <a:bodyPr wrap="square">
            <a:spAutoFit/>
          </a:bodyPr>
          <a:lstStyle/>
          <a:p>
            <a:pPr algn="ctr"/>
            <a:r>
              <a:rPr sz="1000" b="1" i="0">
                <a:solidFill>
                  <a:srgbClr val="2C1A0E"/>
                </a:solidFill>
              </a:rPr>
              <a:t>Order
Service</a:t>
            </a:r>
          </a:p>
        </p:txBody>
      </p:sp>
      <p:sp>
        <p:nvSpPr>
          <p:cNvPr id="15" name="Rectangle 14"/>
          <p:cNvSpPr/>
          <p:nvPr/>
        </p:nvSpPr>
        <p:spPr>
          <a:xfrm>
            <a:off x="4315968" y="1298448"/>
            <a:ext cx="1207008" cy="1005840"/>
          </a:xfrm>
          <a:prstGeom prst="rect">
            <a:avLst/>
          </a:prstGeom>
          <a:solidFill>
            <a:srgbClr val="E8F5E9"/>
          </a:solidFill>
          <a:ln w="2540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1688" y="1353312"/>
            <a:ext cx="1133856" cy="402336"/>
          </a:xfrm>
          <a:prstGeom prst="rect">
            <a:avLst/>
          </a:prstGeom>
          <a:noFill/>
        </p:spPr>
        <p:txBody>
          <a:bodyPr wrap="square">
            <a:spAutoFit/>
          </a:bodyPr>
          <a:lstStyle/>
          <a:p>
            <a:pPr algn="ctr"/>
            <a:r>
              <a:rPr sz="2200" b="0" i="0">
                <a:solidFill>
                  <a:srgbClr val="3E6B44"/>
                </a:solidFill>
              </a:rPr>
              <a:t>🗄️</a:t>
            </a:r>
          </a:p>
        </p:txBody>
      </p:sp>
      <p:sp>
        <p:nvSpPr>
          <p:cNvPr id="17" name="TextBox 16"/>
          <p:cNvSpPr txBox="1"/>
          <p:nvPr/>
        </p:nvSpPr>
        <p:spPr>
          <a:xfrm>
            <a:off x="4361688" y="1755648"/>
            <a:ext cx="1133856" cy="512064"/>
          </a:xfrm>
          <a:prstGeom prst="rect">
            <a:avLst/>
          </a:prstGeom>
          <a:noFill/>
        </p:spPr>
        <p:txBody>
          <a:bodyPr wrap="square">
            <a:spAutoFit/>
          </a:bodyPr>
          <a:lstStyle/>
          <a:p>
            <a:pPr algn="ctr"/>
            <a:r>
              <a:rPr sz="1000" b="1" i="0">
                <a:solidFill>
                  <a:srgbClr val="2C1A0E"/>
                </a:solidFill>
              </a:rPr>
              <a:t>MySQL
DB</a:t>
            </a:r>
          </a:p>
        </p:txBody>
      </p:sp>
      <p:sp>
        <p:nvSpPr>
          <p:cNvPr id="18" name="Rectangle 17"/>
          <p:cNvSpPr/>
          <p:nvPr/>
        </p:nvSpPr>
        <p:spPr>
          <a:xfrm>
            <a:off x="5669280" y="1298448"/>
            <a:ext cx="1207008" cy="1005840"/>
          </a:xfrm>
          <a:prstGeom prst="rect">
            <a:avLst/>
          </a:prstGeom>
          <a:solidFill>
            <a:srgbClr val="FFF3E0"/>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15000" y="1353312"/>
            <a:ext cx="1133856" cy="402336"/>
          </a:xfrm>
          <a:prstGeom prst="rect">
            <a:avLst/>
          </a:prstGeom>
          <a:noFill/>
        </p:spPr>
        <p:txBody>
          <a:bodyPr wrap="square">
            <a:spAutoFit/>
          </a:bodyPr>
          <a:lstStyle/>
          <a:p>
            <a:pPr algn="ctr"/>
            <a:r>
              <a:rPr sz="2200" b="0" i="0">
                <a:solidFill>
                  <a:srgbClr val="E65100"/>
                </a:solidFill>
              </a:rPr>
              <a:t>⚡</a:t>
            </a:r>
          </a:p>
        </p:txBody>
      </p:sp>
      <p:sp>
        <p:nvSpPr>
          <p:cNvPr id="20" name="TextBox 19"/>
          <p:cNvSpPr txBox="1"/>
          <p:nvPr/>
        </p:nvSpPr>
        <p:spPr>
          <a:xfrm>
            <a:off x="5715000" y="1755648"/>
            <a:ext cx="1133856" cy="512064"/>
          </a:xfrm>
          <a:prstGeom prst="rect">
            <a:avLst/>
          </a:prstGeom>
          <a:noFill/>
        </p:spPr>
        <p:txBody>
          <a:bodyPr wrap="square">
            <a:spAutoFit/>
          </a:bodyPr>
          <a:lstStyle/>
          <a:p>
            <a:pPr algn="ctr"/>
            <a:r>
              <a:rPr sz="1000" b="1" i="0">
                <a:solidFill>
                  <a:srgbClr val="2C1A0E"/>
                </a:solidFill>
              </a:rPr>
              <a:t>Kafka</a:t>
            </a:r>
          </a:p>
        </p:txBody>
      </p:sp>
      <p:sp>
        <p:nvSpPr>
          <p:cNvPr id="21" name="Rectangle 20"/>
          <p:cNvSpPr/>
          <p:nvPr/>
        </p:nvSpPr>
        <p:spPr>
          <a:xfrm>
            <a:off x="7022592" y="1298448"/>
            <a:ext cx="1207008" cy="1005840"/>
          </a:xfrm>
          <a:prstGeom prst="rect">
            <a:avLst/>
          </a:prstGeom>
          <a:solidFill>
            <a:srgbClr val="FDF6EC"/>
          </a:solidFill>
          <a:ln w="2540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68312" y="1353312"/>
            <a:ext cx="1133856" cy="402336"/>
          </a:xfrm>
          <a:prstGeom prst="rect">
            <a:avLst/>
          </a:prstGeom>
          <a:noFill/>
        </p:spPr>
        <p:txBody>
          <a:bodyPr wrap="square">
            <a:spAutoFit/>
          </a:bodyPr>
          <a:lstStyle/>
          <a:p>
            <a:pPr algn="ctr"/>
            <a:r>
              <a:rPr sz="2200" b="0" i="0">
                <a:solidFill>
                  <a:srgbClr val="3E6B44"/>
                </a:solidFill>
              </a:rPr>
              <a:t>🍳</a:t>
            </a:r>
          </a:p>
        </p:txBody>
      </p:sp>
      <p:sp>
        <p:nvSpPr>
          <p:cNvPr id="23" name="TextBox 22"/>
          <p:cNvSpPr txBox="1"/>
          <p:nvPr/>
        </p:nvSpPr>
        <p:spPr>
          <a:xfrm>
            <a:off x="7068312" y="1755648"/>
            <a:ext cx="1133856" cy="512064"/>
          </a:xfrm>
          <a:prstGeom prst="rect">
            <a:avLst/>
          </a:prstGeom>
          <a:noFill/>
        </p:spPr>
        <p:txBody>
          <a:bodyPr wrap="square">
            <a:spAutoFit/>
          </a:bodyPr>
          <a:lstStyle/>
          <a:p>
            <a:pPr algn="ctr"/>
            <a:r>
              <a:rPr sz="1000" b="1" i="0">
                <a:solidFill>
                  <a:srgbClr val="2C1A0E"/>
                </a:solidFill>
              </a:rPr>
              <a:t>Kitchen
Service</a:t>
            </a:r>
          </a:p>
        </p:txBody>
      </p:sp>
      <p:sp>
        <p:nvSpPr>
          <p:cNvPr id="24" name="Rectangle 23"/>
          <p:cNvSpPr/>
          <p:nvPr/>
        </p:nvSpPr>
        <p:spPr>
          <a:xfrm>
            <a:off x="8375904" y="1298448"/>
            <a:ext cx="1207008" cy="1005840"/>
          </a:xfrm>
          <a:prstGeom prst="rect">
            <a:avLst/>
          </a:prstGeom>
          <a:solidFill>
            <a:srgbClr val="F3E5F5"/>
          </a:solidFill>
          <a:ln w="254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21624" y="1353312"/>
            <a:ext cx="1133856" cy="402336"/>
          </a:xfrm>
          <a:prstGeom prst="rect">
            <a:avLst/>
          </a:prstGeom>
          <a:noFill/>
        </p:spPr>
        <p:txBody>
          <a:bodyPr wrap="square">
            <a:spAutoFit/>
          </a:bodyPr>
          <a:lstStyle/>
          <a:p>
            <a:pPr algn="ctr"/>
            <a:r>
              <a:rPr sz="2200" b="0" i="0">
                <a:solidFill>
                  <a:srgbClr val="6A1B9A"/>
                </a:solidFill>
              </a:rPr>
              <a:t>🔔</a:t>
            </a:r>
          </a:p>
        </p:txBody>
      </p:sp>
      <p:sp>
        <p:nvSpPr>
          <p:cNvPr id="26" name="TextBox 25"/>
          <p:cNvSpPr txBox="1"/>
          <p:nvPr/>
        </p:nvSpPr>
        <p:spPr>
          <a:xfrm>
            <a:off x="8421624" y="1755648"/>
            <a:ext cx="1133856" cy="512064"/>
          </a:xfrm>
          <a:prstGeom prst="rect">
            <a:avLst/>
          </a:prstGeom>
          <a:noFill/>
        </p:spPr>
        <p:txBody>
          <a:bodyPr wrap="square">
            <a:spAutoFit/>
          </a:bodyPr>
          <a:lstStyle/>
          <a:p>
            <a:pPr algn="ctr"/>
            <a:r>
              <a:rPr sz="1000" b="1" i="0">
                <a:solidFill>
                  <a:srgbClr val="2C1A0E"/>
                </a:solidFill>
              </a:rPr>
              <a:t>Notification
Svc</a:t>
            </a:r>
          </a:p>
        </p:txBody>
      </p:sp>
      <p:sp>
        <p:nvSpPr>
          <p:cNvPr id="27" name="Rectangle 26"/>
          <p:cNvSpPr/>
          <p:nvPr/>
        </p:nvSpPr>
        <p:spPr>
          <a:xfrm>
            <a:off x="9729216" y="1298448"/>
            <a:ext cx="1207008" cy="1005840"/>
          </a:xfrm>
          <a:prstGeom prst="rect">
            <a:avLst/>
          </a:prstGeom>
          <a:solidFill>
            <a:srgbClr val="FDF6EC"/>
          </a:solidFill>
          <a:ln w="2540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74936" y="1353312"/>
            <a:ext cx="1133856" cy="402336"/>
          </a:xfrm>
          <a:prstGeom prst="rect">
            <a:avLst/>
          </a:prstGeom>
          <a:noFill/>
        </p:spPr>
        <p:txBody>
          <a:bodyPr wrap="square">
            <a:spAutoFit/>
          </a:bodyPr>
          <a:lstStyle/>
          <a:p>
            <a:pPr algn="ctr"/>
            <a:r>
              <a:rPr sz="2200" b="0" i="0">
                <a:solidFill>
                  <a:srgbClr val="1A5C99"/>
                </a:solidFill>
              </a:rPr>
              <a:t>📊</a:t>
            </a:r>
          </a:p>
        </p:txBody>
      </p:sp>
      <p:sp>
        <p:nvSpPr>
          <p:cNvPr id="29" name="TextBox 28"/>
          <p:cNvSpPr txBox="1"/>
          <p:nvPr/>
        </p:nvSpPr>
        <p:spPr>
          <a:xfrm>
            <a:off x="9774936" y="1755648"/>
            <a:ext cx="1133856" cy="512064"/>
          </a:xfrm>
          <a:prstGeom prst="rect">
            <a:avLst/>
          </a:prstGeom>
          <a:noFill/>
        </p:spPr>
        <p:txBody>
          <a:bodyPr wrap="square">
            <a:spAutoFit/>
          </a:bodyPr>
          <a:lstStyle/>
          <a:p>
            <a:pPr algn="ctr"/>
            <a:r>
              <a:rPr sz="1000" b="1" i="0">
                <a:solidFill>
                  <a:srgbClr val="2C1A0E"/>
                </a:solidFill>
              </a:rPr>
              <a:t>Analytics
Svc</a:t>
            </a:r>
          </a:p>
        </p:txBody>
      </p:sp>
      <p:sp>
        <p:nvSpPr>
          <p:cNvPr id="30" name="Rectangle 29"/>
          <p:cNvSpPr/>
          <p:nvPr/>
        </p:nvSpPr>
        <p:spPr>
          <a:xfrm>
            <a:off x="11082528" y="1298448"/>
            <a:ext cx="1207008" cy="1005840"/>
          </a:xfrm>
          <a:prstGeom prst="rect">
            <a:avLst/>
          </a:prstGeom>
          <a:solidFill>
            <a:srgbClr val="FDF6EC"/>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28248" y="1353312"/>
            <a:ext cx="1133856" cy="402336"/>
          </a:xfrm>
          <a:prstGeom prst="rect">
            <a:avLst/>
          </a:prstGeom>
          <a:noFill/>
        </p:spPr>
        <p:txBody>
          <a:bodyPr wrap="square">
            <a:spAutoFit/>
          </a:bodyPr>
          <a:lstStyle/>
          <a:p>
            <a:pPr algn="ctr"/>
            <a:r>
              <a:rPr sz="2200" b="0" i="0">
                <a:solidFill>
                  <a:srgbClr val="C62828"/>
                </a:solidFill>
              </a:rPr>
              <a:t>🏢</a:t>
            </a:r>
          </a:p>
        </p:txBody>
      </p:sp>
      <p:sp>
        <p:nvSpPr>
          <p:cNvPr id="32" name="TextBox 31"/>
          <p:cNvSpPr txBox="1"/>
          <p:nvPr/>
        </p:nvSpPr>
        <p:spPr>
          <a:xfrm>
            <a:off x="11128248" y="1755648"/>
            <a:ext cx="1133856" cy="512064"/>
          </a:xfrm>
          <a:prstGeom prst="rect">
            <a:avLst/>
          </a:prstGeom>
          <a:noFill/>
        </p:spPr>
        <p:txBody>
          <a:bodyPr wrap="square">
            <a:spAutoFit/>
          </a:bodyPr>
          <a:lstStyle/>
          <a:p>
            <a:pPr algn="ctr"/>
            <a:r>
              <a:rPr sz="1000" b="1" i="0">
                <a:solidFill>
                  <a:srgbClr val="2C1A0E"/>
                </a:solidFill>
              </a:rPr>
              <a:t>Admin
Dashboard</a:t>
            </a:r>
          </a:p>
        </p:txBody>
      </p:sp>
      <p:sp>
        <p:nvSpPr>
          <p:cNvPr id="33" name="Rectangle 32"/>
          <p:cNvSpPr/>
          <p:nvPr/>
        </p:nvSpPr>
        <p:spPr>
          <a:xfrm>
            <a:off x="1463040"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816352"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9664"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22976"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76288"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29600"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582912"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936224" y="1737360"/>
            <a:ext cx="128016"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3504"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032"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 y="2834640"/>
            <a:ext cx="1207008" cy="274320"/>
          </a:xfrm>
          <a:prstGeom prst="rect">
            <a:avLst/>
          </a:prstGeom>
          <a:noFill/>
        </p:spPr>
        <p:txBody>
          <a:bodyPr wrap="square">
            <a:spAutoFit/>
          </a:bodyPr>
          <a:lstStyle/>
          <a:p>
            <a:pPr algn="ctr"/>
            <a:r>
              <a:rPr sz="1300" b="1" i="0">
                <a:solidFill>
                  <a:srgbClr val="2C1A0E"/>
                </a:solidFill>
              </a:rPr>
              <a:t>1</a:t>
            </a:r>
          </a:p>
        </p:txBody>
      </p:sp>
      <p:sp>
        <p:nvSpPr>
          <p:cNvPr id="44" name="TextBox 43"/>
          <p:cNvSpPr txBox="1"/>
          <p:nvPr/>
        </p:nvSpPr>
        <p:spPr>
          <a:xfrm>
            <a:off x="256032" y="3246120"/>
            <a:ext cx="1207008" cy="502920"/>
          </a:xfrm>
          <a:prstGeom prst="rect">
            <a:avLst/>
          </a:prstGeom>
          <a:noFill/>
        </p:spPr>
        <p:txBody>
          <a:bodyPr wrap="square">
            <a:spAutoFit/>
          </a:bodyPr>
          <a:lstStyle/>
          <a:p>
            <a:pPr algn="ctr"/>
            <a:r>
              <a:rPr sz="950" b="0" i="0">
                <a:solidFill>
                  <a:srgbClr val="FFFBF5"/>
                </a:solidFill>
              </a:rPr>
              <a:t>Customer
places order</a:t>
            </a:r>
          </a:p>
        </p:txBody>
      </p:sp>
      <p:sp>
        <p:nvSpPr>
          <p:cNvPr id="45" name="Rectangle 44"/>
          <p:cNvSpPr/>
          <p:nvPr/>
        </p:nvSpPr>
        <p:spPr>
          <a:xfrm>
            <a:off x="1956816"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609344"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609344" y="2834640"/>
            <a:ext cx="1207008" cy="274320"/>
          </a:xfrm>
          <a:prstGeom prst="rect">
            <a:avLst/>
          </a:prstGeom>
          <a:noFill/>
        </p:spPr>
        <p:txBody>
          <a:bodyPr wrap="square">
            <a:spAutoFit/>
          </a:bodyPr>
          <a:lstStyle/>
          <a:p>
            <a:pPr algn="ctr"/>
            <a:r>
              <a:rPr sz="1300" b="1" i="0">
                <a:solidFill>
                  <a:srgbClr val="2C1A0E"/>
                </a:solidFill>
              </a:rPr>
              <a:t>2</a:t>
            </a:r>
          </a:p>
        </p:txBody>
      </p:sp>
      <p:sp>
        <p:nvSpPr>
          <p:cNvPr id="48" name="TextBox 47"/>
          <p:cNvSpPr txBox="1"/>
          <p:nvPr/>
        </p:nvSpPr>
        <p:spPr>
          <a:xfrm>
            <a:off x="1609344" y="3246120"/>
            <a:ext cx="1207008" cy="502920"/>
          </a:xfrm>
          <a:prstGeom prst="rect">
            <a:avLst/>
          </a:prstGeom>
          <a:noFill/>
        </p:spPr>
        <p:txBody>
          <a:bodyPr wrap="square">
            <a:spAutoFit/>
          </a:bodyPr>
          <a:lstStyle/>
          <a:p>
            <a:pPr algn="ctr"/>
            <a:r>
              <a:rPr sz="950" b="0" i="0">
                <a:solidFill>
                  <a:srgbClr val="FFFBF5"/>
                </a:solidFill>
              </a:rPr>
              <a:t>Gateway
routes request</a:t>
            </a:r>
          </a:p>
        </p:txBody>
      </p:sp>
      <p:sp>
        <p:nvSpPr>
          <p:cNvPr id="49" name="Rectangle 48"/>
          <p:cNvSpPr/>
          <p:nvPr/>
        </p:nvSpPr>
        <p:spPr>
          <a:xfrm>
            <a:off x="3310128"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962656"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62656" y="2834640"/>
            <a:ext cx="1207008" cy="274320"/>
          </a:xfrm>
          <a:prstGeom prst="rect">
            <a:avLst/>
          </a:prstGeom>
          <a:noFill/>
        </p:spPr>
        <p:txBody>
          <a:bodyPr wrap="square">
            <a:spAutoFit/>
          </a:bodyPr>
          <a:lstStyle/>
          <a:p>
            <a:pPr algn="ctr"/>
            <a:r>
              <a:rPr sz="1300" b="1" i="0">
                <a:solidFill>
                  <a:srgbClr val="2C1A0E"/>
                </a:solidFill>
              </a:rPr>
              <a:t>3</a:t>
            </a:r>
          </a:p>
        </p:txBody>
      </p:sp>
      <p:sp>
        <p:nvSpPr>
          <p:cNvPr id="52" name="TextBox 51"/>
          <p:cNvSpPr txBox="1"/>
          <p:nvPr/>
        </p:nvSpPr>
        <p:spPr>
          <a:xfrm>
            <a:off x="2962656" y="3246120"/>
            <a:ext cx="1207008" cy="502920"/>
          </a:xfrm>
          <a:prstGeom prst="rect">
            <a:avLst/>
          </a:prstGeom>
          <a:noFill/>
        </p:spPr>
        <p:txBody>
          <a:bodyPr wrap="square">
            <a:spAutoFit/>
          </a:bodyPr>
          <a:lstStyle/>
          <a:p>
            <a:pPr algn="ctr"/>
            <a:r>
              <a:rPr sz="950" b="0" i="0">
                <a:solidFill>
                  <a:srgbClr val="FFFBF5"/>
                </a:solidFill>
              </a:rPr>
              <a:t>Order Service
saves order</a:t>
            </a:r>
          </a:p>
        </p:txBody>
      </p:sp>
      <p:sp>
        <p:nvSpPr>
          <p:cNvPr id="53" name="Rectangle 52"/>
          <p:cNvSpPr/>
          <p:nvPr/>
        </p:nvSpPr>
        <p:spPr>
          <a:xfrm>
            <a:off x="4663440"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315968"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15968" y="2834640"/>
            <a:ext cx="1207008" cy="274320"/>
          </a:xfrm>
          <a:prstGeom prst="rect">
            <a:avLst/>
          </a:prstGeom>
          <a:noFill/>
        </p:spPr>
        <p:txBody>
          <a:bodyPr wrap="square">
            <a:spAutoFit/>
          </a:bodyPr>
          <a:lstStyle/>
          <a:p>
            <a:pPr algn="ctr"/>
            <a:r>
              <a:rPr sz="1300" b="1" i="0">
                <a:solidFill>
                  <a:srgbClr val="2C1A0E"/>
                </a:solidFill>
              </a:rPr>
              <a:t>4</a:t>
            </a:r>
          </a:p>
        </p:txBody>
      </p:sp>
      <p:sp>
        <p:nvSpPr>
          <p:cNvPr id="56" name="TextBox 55"/>
          <p:cNvSpPr txBox="1"/>
          <p:nvPr/>
        </p:nvSpPr>
        <p:spPr>
          <a:xfrm>
            <a:off x="4315968" y="3246120"/>
            <a:ext cx="1207008" cy="502920"/>
          </a:xfrm>
          <a:prstGeom prst="rect">
            <a:avLst/>
          </a:prstGeom>
          <a:noFill/>
        </p:spPr>
        <p:txBody>
          <a:bodyPr wrap="square">
            <a:spAutoFit/>
          </a:bodyPr>
          <a:lstStyle/>
          <a:p>
            <a:pPr algn="ctr"/>
            <a:r>
              <a:rPr sz="950" b="0" i="0">
                <a:solidFill>
                  <a:srgbClr val="FFFBF5"/>
                </a:solidFill>
              </a:rPr>
              <a:t>Written to
MySQL</a:t>
            </a:r>
          </a:p>
        </p:txBody>
      </p:sp>
      <p:sp>
        <p:nvSpPr>
          <p:cNvPr id="57" name="Rectangle 56"/>
          <p:cNvSpPr/>
          <p:nvPr/>
        </p:nvSpPr>
        <p:spPr>
          <a:xfrm>
            <a:off x="6016752"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0"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669280" y="2834640"/>
            <a:ext cx="1207008" cy="274320"/>
          </a:xfrm>
          <a:prstGeom prst="rect">
            <a:avLst/>
          </a:prstGeom>
          <a:noFill/>
        </p:spPr>
        <p:txBody>
          <a:bodyPr wrap="square">
            <a:spAutoFit/>
          </a:bodyPr>
          <a:lstStyle/>
          <a:p>
            <a:pPr algn="ctr"/>
            <a:r>
              <a:rPr sz="1300" b="1" i="0">
                <a:solidFill>
                  <a:srgbClr val="2C1A0E"/>
                </a:solidFill>
              </a:rPr>
              <a:t>5</a:t>
            </a:r>
          </a:p>
        </p:txBody>
      </p:sp>
      <p:sp>
        <p:nvSpPr>
          <p:cNvPr id="60" name="TextBox 59"/>
          <p:cNvSpPr txBox="1"/>
          <p:nvPr/>
        </p:nvSpPr>
        <p:spPr>
          <a:xfrm>
            <a:off x="5669280" y="3246120"/>
            <a:ext cx="1207008" cy="502920"/>
          </a:xfrm>
          <a:prstGeom prst="rect">
            <a:avLst/>
          </a:prstGeom>
          <a:noFill/>
        </p:spPr>
        <p:txBody>
          <a:bodyPr wrap="square">
            <a:spAutoFit/>
          </a:bodyPr>
          <a:lstStyle/>
          <a:p>
            <a:pPr algn="ctr"/>
            <a:r>
              <a:rPr sz="950" b="0" i="0">
                <a:solidFill>
                  <a:srgbClr val="FFFBF5"/>
                </a:solidFill>
              </a:rPr>
              <a:t>Event published
to Kafka</a:t>
            </a:r>
          </a:p>
        </p:txBody>
      </p:sp>
      <p:sp>
        <p:nvSpPr>
          <p:cNvPr id="61" name="Rectangle 60"/>
          <p:cNvSpPr/>
          <p:nvPr/>
        </p:nvSpPr>
        <p:spPr>
          <a:xfrm>
            <a:off x="7370064"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022592"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022592" y="2834640"/>
            <a:ext cx="1207008" cy="274320"/>
          </a:xfrm>
          <a:prstGeom prst="rect">
            <a:avLst/>
          </a:prstGeom>
          <a:noFill/>
        </p:spPr>
        <p:txBody>
          <a:bodyPr wrap="square">
            <a:spAutoFit/>
          </a:bodyPr>
          <a:lstStyle/>
          <a:p>
            <a:pPr algn="ctr"/>
            <a:r>
              <a:rPr sz="1300" b="1" i="0">
                <a:solidFill>
                  <a:srgbClr val="2C1A0E"/>
                </a:solidFill>
              </a:rPr>
              <a:t>6</a:t>
            </a:r>
          </a:p>
        </p:txBody>
      </p:sp>
      <p:sp>
        <p:nvSpPr>
          <p:cNvPr id="64" name="TextBox 63"/>
          <p:cNvSpPr txBox="1"/>
          <p:nvPr/>
        </p:nvSpPr>
        <p:spPr>
          <a:xfrm>
            <a:off x="7022592" y="3246120"/>
            <a:ext cx="1207008" cy="502920"/>
          </a:xfrm>
          <a:prstGeom prst="rect">
            <a:avLst/>
          </a:prstGeom>
          <a:noFill/>
        </p:spPr>
        <p:txBody>
          <a:bodyPr wrap="square">
            <a:spAutoFit/>
          </a:bodyPr>
          <a:lstStyle/>
          <a:p>
            <a:pPr algn="ctr"/>
            <a:r>
              <a:rPr sz="950" b="0" i="0">
                <a:solidFill>
                  <a:srgbClr val="FFFBF5"/>
                </a:solidFill>
              </a:rPr>
              <a:t>Kitchen Queue
updated</a:t>
            </a:r>
          </a:p>
        </p:txBody>
      </p:sp>
      <p:sp>
        <p:nvSpPr>
          <p:cNvPr id="65" name="Rectangle 64"/>
          <p:cNvSpPr/>
          <p:nvPr/>
        </p:nvSpPr>
        <p:spPr>
          <a:xfrm>
            <a:off x="8723376"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375904"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75904" y="2834640"/>
            <a:ext cx="1207008" cy="274320"/>
          </a:xfrm>
          <a:prstGeom prst="rect">
            <a:avLst/>
          </a:prstGeom>
          <a:noFill/>
        </p:spPr>
        <p:txBody>
          <a:bodyPr wrap="square">
            <a:spAutoFit/>
          </a:bodyPr>
          <a:lstStyle/>
          <a:p>
            <a:pPr algn="ctr"/>
            <a:r>
              <a:rPr sz="1300" b="1" i="0">
                <a:solidFill>
                  <a:srgbClr val="2C1A0E"/>
                </a:solidFill>
              </a:rPr>
              <a:t>7</a:t>
            </a:r>
          </a:p>
        </p:txBody>
      </p:sp>
      <p:sp>
        <p:nvSpPr>
          <p:cNvPr id="68" name="TextBox 67"/>
          <p:cNvSpPr txBox="1"/>
          <p:nvPr/>
        </p:nvSpPr>
        <p:spPr>
          <a:xfrm>
            <a:off x="8375904" y="3246120"/>
            <a:ext cx="1207008" cy="502920"/>
          </a:xfrm>
          <a:prstGeom prst="rect">
            <a:avLst/>
          </a:prstGeom>
          <a:noFill/>
        </p:spPr>
        <p:txBody>
          <a:bodyPr wrap="square">
            <a:spAutoFit/>
          </a:bodyPr>
          <a:lstStyle/>
          <a:p>
            <a:pPr algn="ctr"/>
            <a:r>
              <a:rPr sz="950" b="0" i="0">
                <a:solidFill>
                  <a:srgbClr val="FFFBF5"/>
                </a:solidFill>
              </a:rPr>
              <a:t>Notification
sent to customer</a:t>
            </a:r>
          </a:p>
        </p:txBody>
      </p:sp>
      <p:sp>
        <p:nvSpPr>
          <p:cNvPr id="69" name="Rectangle 68"/>
          <p:cNvSpPr/>
          <p:nvPr/>
        </p:nvSpPr>
        <p:spPr>
          <a:xfrm>
            <a:off x="10076688"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729216"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729216" y="2834640"/>
            <a:ext cx="1207008" cy="274320"/>
          </a:xfrm>
          <a:prstGeom prst="rect">
            <a:avLst/>
          </a:prstGeom>
          <a:noFill/>
        </p:spPr>
        <p:txBody>
          <a:bodyPr wrap="square">
            <a:spAutoFit/>
          </a:bodyPr>
          <a:lstStyle/>
          <a:p>
            <a:pPr algn="ctr"/>
            <a:r>
              <a:rPr sz="1300" b="1" i="0">
                <a:solidFill>
                  <a:srgbClr val="2C1A0E"/>
                </a:solidFill>
              </a:rPr>
              <a:t>8</a:t>
            </a:r>
          </a:p>
        </p:txBody>
      </p:sp>
      <p:sp>
        <p:nvSpPr>
          <p:cNvPr id="72" name="TextBox 71"/>
          <p:cNvSpPr txBox="1"/>
          <p:nvPr/>
        </p:nvSpPr>
        <p:spPr>
          <a:xfrm>
            <a:off x="9729216" y="3246120"/>
            <a:ext cx="1207008" cy="502920"/>
          </a:xfrm>
          <a:prstGeom prst="rect">
            <a:avLst/>
          </a:prstGeom>
          <a:noFill/>
        </p:spPr>
        <p:txBody>
          <a:bodyPr wrap="square">
            <a:spAutoFit/>
          </a:bodyPr>
          <a:lstStyle/>
          <a:p>
            <a:pPr algn="ctr"/>
            <a:r>
              <a:rPr sz="950" b="0" i="0">
                <a:solidFill>
                  <a:srgbClr val="FFFBF5"/>
                </a:solidFill>
              </a:rPr>
              <a:t>Analytics
updated</a:t>
            </a:r>
          </a:p>
        </p:txBody>
      </p:sp>
      <p:sp>
        <p:nvSpPr>
          <p:cNvPr id="73" name="Rectangle 72"/>
          <p:cNvSpPr/>
          <p:nvPr/>
        </p:nvSpPr>
        <p:spPr>
          <a:xfrm>
            <a:off x="11430000" y="2514600"/>
            <a:ext cx="36576" cy="2926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1082528" y="2807208"/>
            <a:ext cx="1207008"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082528" y="2834640"/>
            <a:ext cx="1207008" cy="274320"/>
          </a:xfrm>
          <a:prstGeom prst="rect">
            <a:avLst/>
          </a:prstGeom>
          <a:noFill/>
        </p:spPr>
        <p:txBody>
          <a:bodyPr wrap="square">
            <a:spAutoFit/>
          </a:bodyPr>
          <a:lstStyle/>
          <a:p>
            <a:pPr algn="ctr"/>
            <a:r>
              <a:rPr sz="1300" b="1" i="0">
                <a:solidFill>
                  <a:srgbClr val="2C1A0E"/>
                </a:solidFill>
              </a:rPr>
              <a:t>9</a:t>
            </a:r>
          </a:p>
        </p:txBody>
      </p:sp>
      <p:sp>
        <p:nvSpPr>
          <p:cNvPr id="76" name="TextBox 75"/>
          <p:cNvSpPr txBox="1"/>
          <p:nvPr/>
        </p:nvSpPr>
        <p:spPr>
          <a:xfrm>
            <a:off x="11082528" y="3246120"/>
            <a:ext cx="1207008" cy="502920"/>
          </a:xfrm>
          <a:prstGeom prst="rect">
            <a:avLst/>
          </a:prstGeom>
          <a:noFill/>
        </p:spPr>
        <p:txBody>
          <a:bodyPr wrap="square">
            <a:spAutoFit/>
          </a:bodyPr>
          <a:lstStyle/>
          <a:p>
            <a:pPr algn="ctr"/>
            <a:r>
              <a:rPr sz="950" b="0" i="0">
                <a:solidFill>
                  <a:srgbClr val="FFFBF5"/>
                </a:solidFill>
              </a:rPr>
              <a:t>Admin sees
live data</a:t>
            </a:r>
          </a:p>
        </p:txBody>
      </p:sp>
      <p:sp>
        <p:nvSpPr>
          <p:cNvPr id="77" name="Rectangle 76"/>
          <p:cNvSpPr/>
          <p:nvPr/>
        </p:nvSpPr>
        <p:spPr>
          <a:xfrm>
            <a:off x="274320" y="3977639"/>
            <a:ext cx="3840480" cy="1234440"/>
          </a:xfrm>
          <a:prstGeom prst="rect">
            <a:avLst/>
          </a:prstGeom>
          <a:solidFill>
            <a:srgbClr val="1A232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11480" y="4041648"/>
            <a:ext cx="3566160" cy="347472"/>
          </a:xfrm>
          <a:prstGeom prst="rect">
            <a:avLst/>
          </a:prstGeom>
          <a:noFill/>
        </p:spPr>
        <p:txBody>
          <a:bodyPr wrap="square">
            <a:spAutoFit/>
          </a:bodyPr>
          <a:lstStyle/>
          <a:p>
            <a:pPr algn="l"/>
            <a:r>
              <a:rPr sz="1200" b="1" i="0">
                <a:solidFill>
                  <a:srgbClr val="F5A623"/>
                </a:solidFill>
              </a:rPr>
              <a:t>🔒 Outbox Pattern</a:t>
            </a:r>
          </a:p>
        </p:txBody>
      </p:sp>
      <p:sp>
        <p:nvSpPr>
          <p:cNvPr id="79" name="TextBox 78"/>
          <p:cNvSpPr txBox="1"/>
          <p:nvPr/>
        </p:nvSpPr>
        <p:spPr>
          <a:xfrm>
            <a:off x="411480" y="4407408"/>
            <a:ext cx="3566160" cy="731520"/>
          </a:xfrm>
          <a:prstGeom prst="rect">
            <a:avLst/>
          </a:prstGeom>
          <a:noFill/>
        </p:spPr>
        <p:txBody>
          <a:bodyPr wrap="square">
            <a:spAutoFit/>
          </a:bodyPr>
          <a:lstStyle/>
          <a:p>
            <a:pPr algn="l"/>
            <a:r>
              <a:rPr sz="1050" b="0" i="0">
                <a:solidFill>
                  <a:srgbClr val="FFFBF5"/>
                </a:solidFill>
              </a:rPr>
              <a:t>Order + event saved in single DB transaction.
OutboxRelay publishes to Kafka every 5s.
Guaranteed delivery — zero lost events.</a:t>
            </a:r>
          </a:p>
        </p:txBody>
      </p:sp>
      <p:sp>
        <p:nvSpPr>
          <p:cNvPr id="80" name="Rectangle 79"/>
          <p:cNvSpPr/>
          <p:nvPr/>
        </p:nvSpPr>
        <p:spPr>
          <a:xfrm>
            <a:off x="4297680" y="3977639"/>
            <a:ext cx="3840480" cy="1234440"/>
          </a:xfrm>
          <a:prstGeom prst="rect">
            <a:avLst/>
          </a:prstGeom>
          <a:solidFill>
            <a:srgbClr val="1A232E"/>
          </a:solidFill>
          <a:ln w="1905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434840" y="4041648"/>
            <a:ext cx="3566160" cy="347472"/>
          </a:xfrm>
          <a:prstGeom prst="rect">
            <a:avLst/>
          </a:prstGeom>
          <a:noFill/>
        </p:spPr>
        <p:txBody>
          <a:bodyPr wrap="square">
            <a:spAutoFit/>
          </a:bodyPr>
          <a:lstStyle/>
          <a:p>
            <a:pPr algn="l"/>
            <a:r>
              <a:rPr sz="1200" b="1" i="0">
                <a:solidFill>
                  <a:srgbClr val="6B8F71"/>
                </a:solidFill>
              </a:rPr>
              <a:t>🔄 Notification Retry</a:t>
            </a:r>
          </a:p>
        </p:txBody>
      </p:sp>
      <p:sp>
        <p:nvSpPr>
          <p:cNvPr id="82" name="TextBox 81"/>
          <p:cNvSpPr txBox="1"/>
          <p:nvPr/>
        </p:nvSpPr>
        <p:spPr>
          <a:xfrm>
            <a:off x="4434840" y="4407408"/>
            <a:ext cx="3566160" cy="731520"/>
          </a:xfrm>
          <a:prstGeom prst="rect">
            <a:avLst/>
          </a:prstGeom>
          <a:noFill/>
        </p:spPr>
        <p:txBody>
          <a:bodyPr wrap="square">
            <a:spAutoFit/>
          </a:bodyPr>
          <a:lstStyle/>
          <a:p>
            <a:pPr algn="l"/>
            <a:r>
              <a:rPr sz="1050" b="0" i="0">
                <a:solidFill>
                  <a:srgbClr val="FFFBF5"/>
                </a:solidFill>
              </a:rPr>
              <a:t>Failed emails stored as FAILED in DB.
Retry scheduler fires every 2 minutes.
Max 3 attempts → audit log on failure.</a:t>
            </a:r>
          </a:p>
        </p:txBody>
      </p:sp>
      <p:sp>
        <p:nvSpPr>
          <p:cNvPr id="83" name="Rectangle 82"/>
          <p:cNvSpPr/>
          <p:nvPr/>
        </p:nvSpPr>
        <p:spPr>
          <a:xfrm>
            <a:off x="8321040" y="3977639"/>
            <a:ext cx="3657600" cy="1234440"/>
          </a:xfrm>
          <a:prstGeom prst="rect">
            <a:avLst/>
          </a:prstGeom>
          <a:solidFill>
            <a:srgbClr val="1A232E"/>
          </a:solidFill>
          <a:ln w="1905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458200" y="4041648"/>
            <a:ext cx="3429000" cy="347472"/>
          </a:xfrm>
          <a:prstGeom prst="rect">
            <a:avLst/>
          </a:prstGeom>
          <a:noFill/>
        </p:spPr>
        <p:txBody>
          <a:bodyPr wrap="square">
            <a:spAutoFit/>
          </a:bodyPr>
          <a:lstStyle/>
          <a:p>
            <a:pPr algn="l"/>
            <a:r>
              <a:rPr sz="1200" b="1" i="0">
                <a:solidFill>
                  <a:srgbClr val="D6E8F7"/>
                </a:solidFill>
              </a:rPr>
              <a:t>⚡ Redis — Performance</a:t>
            </a:r>
          </a:p>
        </p:txBody>
      </p:sp>
      <p:sp>
        <p:nvSpPr>
          <p:cNvPr id="85" name="TextBox 84"/>
          <p:cNvSpPr txBox="1"/>
          <p:nvPr/>
        </p:nvSpPr>
        <p:spPr>
          <a:xfrm>
            <a:off x="8458200" y="4407408"/>
            <a:ext cx="3429000" cy="731520"/>
          </a:xfrm>
          <a:prstGeom prst="rect">
            <a:avLst/>
          </a:prstGeom>
          <a:noFill/>
        </p:spPr>
        <p:txBody>
          <a:bodyPr wrap="square">
            <a:spAutoFit/>
          </a:bodyPr>
          <a:lstStyle/>
          <a:p>
            <a:pPr algn="l"/>
            <a:r>
              <a:rPr sz="1050" b="0" i="0">
                <a:solidFill>
                  <a:srgbClr val="FFFBF5"/>
                </a:solidFill>
              </a:rPr>
              <a:t>Kitchen queue: sub-ms reads.
JWT blacklist: instant revocation.
Analytics cache: 5-min TTL.</a:t>
            </a:r>
          </a:p>
        </p:txBody>
      </p:sp>
      <p:sp>
        <p:nvSpPr>
          <p:cNvPr id="86" name="Rectangle 85"/>
          <p:cNvSpPr/>
          <p:nvPr/>
        </p:nvSpPr>
        <p:spPr>
          <a:xfrm>
            <a:off x="274320" y="5376672"/>
            <a:ext cx="11640312"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65760" y="5394960"/>
            <a:ext cx="11521440" cy="292608"/>
          </a:xfrm>
          <a:prstGeom prst="rect">
            <a:avLst/>
          </a:prstGeom>
          <a:noFill/>
        </p:spPr>
        <p:txBody>
          <a:bodyPr wrap="square">
            <a:spAutoFit/>
          </a:bodyPr>
          <a:lstStyle/>
          <a:p>
            <a:pPr algn="l"/>
            <a:r>
              <a:rPr sz="1050" b="1" i="0">
                <a:solidFill>
                  <a:srgbClr val="2C1A0E"/>
                </a:solidFill>
              </a:rPr>
              <a:t>💡 In PowerPoint: apply Appear animations to each arrow and component box, triggered on click, to reveal the flow step by step.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Database &amp; Messaging Design</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One DB per service · Kafka topics · Redis cache layers</a:t>
            </a:r>
          </a:p>
        </p:txBody>
      </p:sp>
      <p:sp>
        <p:nvSpPr>
          <p:cNvPr id="6" name="Rectangle 5"/>
          <p:cNvSpPr/>
          <p:nvPr/>
        </p:nvSpPr>
        <p:spPr>
          <a:xfrm>
            <a:off x="274320" y="1417320"/>
            <a:ext cx="5120640" cy="5074920"/>
          </a:xfrm>
          <a:prstGeom prst="rect">
            <a:avLst/>
          </a:prstGeom>
          <a:solidFill>
            <a:srgbClr val="FFFBF5"/>
          </a:solidFill>
          <a:ln w="1905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512064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472184"/>
            <a:ext cx="4937760" cy="329184"/>
          </a:xfrm>
          <a:prstGeom prst="rect">
            <a:avLst/>
          </a:prstGeom>
          <a:noFill/>
        </p:spPr>
        <p:txBody>
          <a:bodyPr wrap="square">
            <a:spAutoFit/>
          </a:bodyPr>
          <a:lstStyle/>
          <a:p>
            <a:pPr algn="l"/>
            <a:r>
              <a:rPr sz="1300" b="1" i="0">
                <a:solidFill>
                  <a:srgbClr val="FFFBF5"/>
                </a:solidFill>
              </a:rPr>
              <a:t>🗄️  Database Isolation</a:t>
            </a:r>
          </a:p>
        </p:txBody>
      </p:sp>
      <p:sp>
        <p:nvSpPr>
          <p:cNvPr id="9" name="Rectangle 8"/>
          <p:cNvSpPr/>
          <p:nvPr/>
        </p:nvSpPr>
        <p:spPr>
          <a:xfrm>
            <a:off x="402336" y="1847088"/>
            <a:ext cx="48463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608" y="1920240"/>
            <a:ext cx="5084064" cy="420624"/>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975104"/>
            <a:ext cx="1554480" cy="310896"/>
          </a:xfrm>
          <a:prstGeom prst="rect">
            <a:avLst/>
          </a:prstGeom>
          <a:noFill/>
        </p:spPr>
        <p:txBody>
          <a:bodyPr wrap="square">
            <a:spAutoFit/>
          </a:bodyPr>
          <a:lstStyle/>
          <a:p>
            <a:pPr algn="l"/>
            <a:r>
              <a:rPr sz="1050" b="1" i="0">
                <a:solidFill>
                  <a:srgbClr val="2C1A0E"/>
                </a:solidFill>
              </a:rPr>
              <a:t>user-service</a:t>
            </a:r>
          </a:p>
        </p:txBody>
      </p:sp>
      <p:sp>
        <p:nvSpPr>
          <p:cNvPr id="12" name="TextBox 11"/>
          <p:cNvSpPr txBox="1"/>
          <p:nvPr/>
        </p:nvSpPr>
        <p:spPr>
          <a:xfrm>
            <a:off x="1938528" y="1975104"/>
            <a:ext cx="1280160" cy="310896"/>
          </a:xfrm>
          <a:prstGeom prst="rect">
            <a:avLst/>
          </a:prstGeom>
          <a:noFill/>
        </p:spPr>
        <p:txBody>
          <a:bodyPr wrap="square">
            <a:spAutoFit/>
          </a:bodyPr>
          <a:lstStyle/>
          <a:p>
            <a:pPr algn="l"/>
            <a:r>
              <a:rPr sz="1050" b="0" i="0">
                <a:solidFill>
                  <a:srgbClr val="1A5C99"/>
                </a:solidFill>
              </a:rPr>
              <a:t>user_db</a:t>
            </a:r>
          </a:p>
        </p:txBody>
      </p:sp>
      <p:sp>
        <p:nvSpPr>
          <p:cNvPr id="13" name="TextBox 12"/>
          <p:cNvSpPr txBox="1"/>
          <p:nvPr/>
        </p:nvSpPr>
        <p:spPr>
          <a:xfrm>
            <a:off x="3246120" y="1975104"/>
            <a:ext cx="2011680" cy="310896"/>
          </a:xfrm>
          <a:prstGeom prst="rect">
            <a:avLst/>
          </a:prstGeom>
          <a:noFill/>
        </p:spPr>
        <p:txBody>
          <a:bodyPr wrap="square">
            <a:spAutoFit/>
          </a:bodyPr>
          <a:lstStyle/>
          <a:p>
            <a:pPr algn="l"/>
            <a:r>
              <a:rPr sz="1000" b="0" i="0">
                <a:solidFill>
                  <a:srgbClr val="3D3D3D"/>
                </a:solidFill>
              </a:rPr>
              <a:t>Users, Roles, Tokens</a:t>
            </a:r>
          </a:p>
        </p:txBody>
      </p:sp>
      <p:sp>
        <p:nvSpPr>
          <p:cNvPr id="14" name="Rectangle 13"/>
          <p:cNvSpPr/>
          <p:nvPr/>
        </p:nvSpPr>
        <p:spPr>
          <a:xfrm>
            <a:off x="292608" y="2350008"/>
            <a:ext cx="5084064" cy="420624"/>
          </a:xfrm>
          <a:prstGeom prst="rect">
            <a:avLst/>
          </a:prstGeom>
          <a:solidFill>
            <a:srgbClr val="FDF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2404872"/>
            <a:ext cx="1554480" cy="310896"/>
          </a:xfrm>
          <a:prstGeom prst="rect">
            <a:avLst/>
          </a:prstGeom>
          <a:noFill/>
        </p:spPr>
        <p:txBody>
          <a:bodyPr wrap="square">
            <a:spAutoFit/>
          </a:bodyPr>
          <a:lstStyle/>
          <a:p>
            <a:pPr algn="l"/>
            <a:r>
              <a:rPr sz="1050" b="1" i="0">
                <a:solidFill>
                  <a:srgbClr val="2C1A0E"/>
                </a:solidFill>
              </a:rPr>
              <a:t>menu-service</a:t>
            </a:r>
          </a:p>
        </p:txBody>
      </p:sp>
      <p:sp>
        <p:nvSpPr>
          <p:cNvPr id="16" name="TextBox 15"/>
          <p:cNvSpPr txBox="1"/>
          <p:nvPr/>
        </p:nvSpPr>
        <p:spPr>
          <a:xfrm>
            <a:off x="1938528" y="2404872"/>
            <a:ext cx="1280160" cy="310896"/>
          </a:xfrm>
          <a:prstGeom prst="rect">
            <a:avLst/>
          </a:prstGeom>
          <a:noFill/>
        </p:spPr>
        <p:txBody>
          <a:bodyPr wrap="square">
            <a:spAutoFit/>
          </a:bodyPr>
          <a:lstStyle/>
          <a:p>
            <a:pPr algn="l"/>
            <a:r>
              <a:rPr sz="1050" b="0" i="0">
                <a:solidFill>
                  <a:srgbClr val="1A5C99"/>
                </a:solidFill>
              </a:rPr>
              <a:t>menu_db</a:t>
            </a:r>
          </a:p>
        </p:txBody>
      </p:sp>
      <p:sp>
        <p:nvSpPr>
          <p:cNvPr id="17" name="TextBox 16"/>
          <p:cNvSpPr txBox="1"/>
          <p:nvPr/>
        </p:nvSpPr>
        <p:spPr>
          <a:xfrm>
            <a:off x="3246120" y="2404872"/>
            <a:ext cx="2011680" cy="310896"/>
          </a:xfrm>
          <a:prstGeom prst="rect">
            <a:avLst/>
          </a:prstGeom>
          <a:noFill/>
        </p:spPr>
        <p:txBody>
          <a:bodyPr wrap="square">
            <a:spAutoFit/>
          </a:bodyPr>
          <a:lstStyle/>
          <a:p>
            <a:pPr algn="l"/>
            <a:r>
              <a:rPr sz="1000" b="0" i="0">
                <a:solidFill>
                  <a:srgbClr val="3D3D3D"/>
                </a:solidFill>
              </a:rPr>
              <a:t>Categories, Items, Images</a:t>
            </a:r>
          </a:p>
        </p:txBody>
      </p:sp>
      <p:sp>
        <p:nvSpPr>
          <p:cNvPr id="18" name="Rectangle 17"/>
          <p:cNvSpPr/>
          <p:nvPr/>
        </p:nvSpPr>
        <p:spPr>
          <a:xfrm>
            <a:off x="292608" y="2779776"/>
            <a:ext cx="5084064" cy="420624"/>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2834640"/>
            <a:ext cx="1554480" cy="310896"/>
          </a:xfrm>
          <a:prstGeom prst="rect">
            <a:avLst/>
          </a:prstGeom>
          <a:noFill/>
        </p:spPr>
        <p:txBody>
          <a:bodyPr wrap="square">
            <a:spAutoFit/>
          </a:bodyPr>
          <a:lstStyle/>
          <a:p>
            <a:pPr algn="l"/>
            <a:r>
              <a:rPr sz="1050" b="1" i="0">
                <a:solidFill>
                  <a:srgbClr val="2C1A0E"/>
                </a:solidFill>
              </a:rPr>
              <a:t>order-service</a:t>
            </a:r>
          </a:p>
        </p:txBody>
      </p:sp>
      <p:sp>
        <p:nvSpPr>
          <p:cNvPr id="20" name="TextBox 19"/>
          <p:cNvSpPr txBox="1"/>
          <p:nvPr/>
        </p:nvSpPr>
        <p:spPr>
          <a:xfrm>
            <a:off x="1938528" y="2834640"/>
            <a:ext cx="1280160" cy="310896"/>
          </a:xfrm>
          <a:prstGeom prst="rect">
            <a:avLst/>
          </a:prstGeom>
          <a:noFill/>
        </p:spPr>
        <p:txBody>
          <a:bodyPr wrap="square">
            <a:spAutoFit/>
          </a:bodyPr>
          <a:lstStyle/>
          <a:p>
            <a:pPr algn="l"/>
            <a:r>
              <a:rPr sz="1050" b="0" i="0">
                <a:solidFill>
                  <a:srgbClr val="1A5C99"/>
                </a:solidFill>
              </a:rPr>
              <a:t>order_db</a:t>
            </a:r>
          </a:p>
        </p:txBody>
      </p:sp>
      <p:sp>
        <p:nvSpPr>
          <p:cNvPr id="21" name="TextBox 20"/>
          <p:cNvSpPr txBox="1"/>
          <p:nvPr/>
        </p:nvSpPr>
        <p:spPr>
          <a:xfrm>
            <a:off x="3246120" y="2834640"/>
            <a:ext cx="2011680" cy="310896"/>
          </a:xfrm>
          <a:prstGeom prst="rect">
            <a:avLst/>
          </a:prstGeom>
          <a:noFill/>
        </p:spPr>
        <p:txBody>
          <a:bodyPr wrap="square">
            <a:spAutoFit/>
          </a:bodyPr>
          <a:lstStyle/>
          <a:p>
            <a:pPr algn="l"/>
            <a:r>
              <a:rPr sz="1000" b="0" i="0">
                <a:solidFill>
                  <a:srgbClr val="3D3D3D"/>
                </a:solidFill>
              </a:rPr>
              <a:t>Orders, OrderItems, Outbox</a:t>
            </a:r>
          </a:p>
        </p:txBody>
      </p:sp>
      <p:sp>
        <p:nvSpPr>
          <p:cNvPr id="22" name="Rectangle 21"/>
          <p:cNvSpPr/>
          <p:nvPr/>
        </p:nvSpPr>
        <p:spPr>
          <a:xfrm>
            <a:off x="292608" y="3209544"/>
            <a:ext cx="5084064" cy="420624"/>
          </a:xfrm>
          <a:prstGeom prst="rect">
            <a:avLst/>
          </a:prstGeom>
          <a:solidFill>
            <a:srgbClr val="FDF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3264408"/>
            <a:ext cx="1554480" cy="310896"/>
          </a:xfrm>
          <a:prstGeom prst="rect">
            <a:avLst/>
          </a:prstGeom>
          <a:noFill/>
        </p:spPr>
        <p:txBody>
          <a:bodyPr wrap="square">
            <a:spAutoFit/>
          </a:bodyPr>
          <a:lstStyle/>
          <a:p>
            <a:pPr algn="l"/>
            <a:r>
              <a:rPr sz="1050" b="1" i="0">
                <a:solidFill>
                  <a:srgbClr val="2C1A0E"/>
                </a:solidFill>
              </a:rPr>
              <a:t>kitchen-service</a:t>
            </a:r>
          </a:p>
        </p:txBody>
      </p:sp>
      <p:sp>
        <p:nvSpPr>
          <p:cNvPr id="24" name="TextBox 23"/>
          <p:cNvSpPr txBox="1"/>
          <p:nvPr/>
        </p:nvSpPr>
        <p:spPr>
          <a:xfrm>
            <a:off x="1938528" y="3264408"/>
            <a:ext cx="1280160" cy="310896"/>
          </a:xfrm>
          <a:prstGeom prst="rect">
            <a:avLst/>
          </a:prstGeom>
          <a:noFill/>
        </p:spPr>
        <p:txBody>
          <a:bodyPr wrap="square">
            <a:spAutoFit/>
          </a:bodyPr>
          <a:lstStyle/>
          <a:p>
            <a:pPr algn="l"/>
            <a:r>
              <a:rPr sz="1050" b="0" i="0">
                <a:solidFill>
                  <a:srgbClr val="1A5C99"/>
                </a:solidFill>
              </a:rPr>
              <a:t>kitchen_db</a:t>
            </a:r>
          </a:p>
        </p:txBody>
      </p:sp>
      <p:sp>
        <p:nvSpPr>
          <p:cNvPr id="25" name="TextBox 24"/>
          <p:cNvSpPr txBox="1"/>
          <p:nvPr/>
        </p:nvSpPr>
        <p:spPr>
          <a:xfrm>
            <a:off x="3246120" y="3264408"/>
            <a:ext cx="2011680" cy="310896"/>
          </a:xfrm>
          <a:prstGeom prst="rect">
            <a:avLst/>
          </a:prstGeom>
          <a:noFill/>
        </p:spPr>
        <p:txBody>
          <a:bodyPr wrap="square">
            <a:spAutoFit/>
          </a:bodyPr>
          <a:lstStyle/>
          <a:p>
            <a:pPr algn="l"/>
            <a:r>
              <a:rPr sz="1000" b="0" i="0">
                <a:solidFill>
                  <a:srgbClr val="3D3D3D"/>
                </a:solidFill>
              </a:rPr>
              <a:t>Queue (Redis), Status logs</a:t>
            </a:r>
          </a:p>
        </p:txBody>
      </p:sp>
      <p:sp>
        <p:nvSpPr>
          <p:cNvPr id="26" name="Rectangle 25"/>
          <p:cNvSpPr/>
          <p:nvPr/>
        </p:nvSpPr>
        <p:spPr>
          <a:xfrm>
            <a:off x="292608" y="3639312"/>
            <a:ext cx="5084064" cy="420624"/>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 y="3694176"/>
            <a:ext cx="1554480" cy="310896"/>
          </a:xfrm>
          <a:prstGeom prst="rect">
            <a:avLst/>
          </a:prstGeom>
          <a:noFill/>
        </p:spPr>
        <p:txBody>
          <a:bodyPr wrap="square">
            <a:spAutoFit/>
          </a:bodyPr>
          <a:lstStyle/>
          <a:p>
            <a:pPr algn="l"/>
            <a:r>
              <a:rPr sz="1050" b="1" i="0">
                <a:solidFill>
                  <a:srgbClr val="2C1A0E"/>
                </a:solidFill>
              </a:rPr>
              <a:t>branch-service</a:t>
            </a:r>
          </a:p>
        </p:txBody>
      </p:sp>
      <p:sp>
        <p:nvSpPr>
          <p:cNvPr id="28" name="TextBox 27"/>
          <p:cNvSpPr txBox="1"/>
          <p:nvPr/>
        </p:nvSpPr>
        <p:spPr>
          <a:xfrm>
            <a:off x="1938528" y="3694176"/>
            <a:ext cx="1280160" cy="310896"/>
          </a:xfrm>
          <a:prstGeom prst="rect">
            <a:avLst/>
          </a:prstGeom>
          <a:noFill/>
        </p:spPr>
        <p:txBody>
          <a:bodyPr wrap="square">
            <a:spAutoFit/>
          </a:bodyPr>
          <a:lstStyle/>
          <a:p>
            <a:pPr algn="l"/>
            <a:r>
              <a:rPr sz="1050" b="0" i="0">
                <a:solidFill>
                  <a:srgbClr val="1A5C99"/>
                </a:solidFill>
              </a:rPr>
              <a:t>branch_db</a:t>
            </a:r>
          </a:p>
        </p:txBody>
      </p:sp>
      <p:sp>
        <p:nvSpPr>
          <p:cNvPr id="29" name="TextBox 28"/>
          <p:cNvSpPr txBox="1"/>
          <p:nvPr/>
        </p:nvSpPr>
        <p:spPr>
          <a:xfrm>
            <a:off x="3246120" y="3694176"/>
            <a:ext cx="2011680" cy="310896"/>
          </a:xfrm>
          <a:prstGeom prst="rect">
            <a:avLst/>
          </a:prstGeom>
          <a:noFill/>
        </p:spPr>
        <p:txBody>
          <a:bodyPr wrap="square">
            <a:spAutoFit/>
          </a:bodyPr>
          <a:lstStyle/>
          <a:p>
            <a:pPr algn="l"/>
            <a:r>
              <a:rPr sz="1000" b="0" i="0">
                <a:solidFill>
                  <a:srgbClr val="3D3D3D"/>
                </a:solidFill>
              </a:rPr>
              <a:t>Branches, Hours, Config</a:t>
            </a:r>
          </a:p>
        </p:txBody>
      </p:sp>
      <p:sp>
        <p:nvSpPr>
          <p:cNvPr id="30" name="Rectangle 29"/>
          <p:cNvSpPr/>
          <p:nvPr/>
        </p:nvSpPr>
        <p:spPr>
          <a:xfrm>
            <a:off x="292608" y="4069080"/>
            <a:ext cx="5084064" cy="420624"/>
          </a:xfrm>
          <a:prstGeom prst="rect">
            <a:avLst/>
          </a:prstGeom>
          <a:solidFill>
            <a:srgbClr val="FDF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7472" y="4123944"/>
            <a:ext cx="1554480" cy="310896"/>
          </a:xfrm>
          <a:prstGeom prst="rect">
            <a:avLst/>
          </a:prstGeom>
          <a:noFill/>
        </p:spPr>
        <p:txBody>
          <a:bodyPr wrap="square">
            <a:spAutoFit/>
          </a:bodyPr>
          <a:lstStyle/>
          <a:p>
            <a:pPr algn="l"/>
            <a:r>
              <a:rPr sz="1050" b="1" i="0">
                <a:solidFill>
                  <a:srgbClr val="2C1A0E"/>
                </a:solidFill>
              </a:rPr>
              <a:t>notif-service</a:t>
            </a:r>
          </a:p>
        </p:txBody>
      </p:sp>
      <p:sp>
        <p:nvSpPr>
          <p:cNvPr id="32" name="TextBox 31"/>
          <p:cNvSpPr txBox="1"/>
          <p:nvPr/>
        </p:nvSpPr>
        <p:spPr>
          <a:xfrm>
            <a:off x="1938528" y="4123944"/>
            <a:ext cx="1280160" cy="310896"/>
          </a:xfrm>
          <a:prstGeom prst="rect">
            <a:avLst/>
          </a:prstGeom>
          <a:noFill/>
        </p:spPr>
        <p:txBody>
          <a:bodyPr wrap="square">
            <a:spAutoFit/>
          </a:bodyPr>
          <a:lstStyle/>
          <a:p>
            <a:pPr algn="l"/>
            <a:r>
              <a:rPr sz="1050" b="0" i="0">
                <a:solidFill>
                  <a:srgbClr val="1A5C99"/>
                </a:solidFill>
              </a:rPr>
              <a:t>notif_db</a:t>
            </a:r>
          </a:p>
        </p:txBody>
      </p:sp>
      <p:sp>
        <p:nvSpPr>
          <p:cNvPr id="33" name="TextBox 32"/>
          <p:cNvSpPr txBox="1"/>
          <p:nvPr/>
        </p:nvSpPr>
        <p:spPr>
          <a:xfrm>
            <a:off x="3246120" y="4123944"/>
            <a:ext cx="2011680" cy="310896"/>
          </a:xfrm>
          <a:prstGeom prst="rect">
            <a:avLst/>
          </a:prstGeom>
          <a:noFill/>
        </p:spPr>
        <p:txBody>
          <a:bodyPr wrap="square">
            <a:spAutoFit/>
          </a:bodyPr>
          <a:lstStyle/>
          <a:p>
            <a:pPr algn="l"/>
            <a:r>
              <a:rPr sz="1000" b="0" i="0">
                <a:solidFill>
                  <a:srgbClr val="3D3D3D"/>
                </a:solidFill>
              </a:rPr>
              <a:t>NotificationLog, RetryQueue</a:t>
            </a:r>
          </a:p>
        </p:txBody>
      </p:sp>
      <p:sp>
        <p:nvSpPr>
          <p:cNvPr id="34" name="Rectangle 33"/>
          <p:cNvSpPr/>
          <p:nvPr/>
        </p:nvSpPr>
        <p:spPr>
          <a:xfrm>
            <a:off x="292608" y="4498848"/>
            <a:ext cx="5084064" cy="420624"/>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7472" y="4553712"/>
            <a:ext cx="1554480" cy="310896"/>
          </a:xfrm>
          <a:prstGeom prst="rect">
            <a:avLst/>
          </a:prstGeom>
          <a:noFill/>
        </p:spPr>
        <p:txBody>
          <a:bodyPr wrap="square">
            <a:spAutoFit/>
          </a:bodyPr>
          <a:lstStyle/>
          <a:p>
            <a:pPr algn="l"/>
            <a:r>
              <a:rPr sz="1050" b="1" i="0">
                <a:solidFill>
                  <a:srgbClr val="2C1A0E"/>
                </a:solidFill>
              </a:rPr>
              <a:t>analytics-service</a:t>
            </a:r>
          </a:p>
        </p:txBody>
      </p:sp>
      <p:sp>
        <p:nvSpPr>
          <p:cNvPr id="36" name="TextBox 35"/>
          <p:cNvSpPr txBox="1"/>
          <p:nvPr/>
        </p:nvSpPr>
        <p:spPr>
          <a:xfrm>
            <a:off x="1938528" y="4553712"/>
            <a:ext cx="1280160" cy="310896"/>
          </a:xfrm>
          <a:prstGeom prst="rect">
            <a:avLst/>
          </a:prstGeom>
          <a:noFill/>
        </p:spPr>
        <p:txBody>
          <a:bodyPr wrap="square">
            <a:spAutoFit/>
          </a:bodyPr>
          <a:lstStyle/>
          <a:p>
            <a:pPr algn="l"/>
            <a:r>
              <a:rPr sz="1050" b="0" i="0">
                <a:solidFill>
                  <a:srgbClr val="1A5C99"/>
                </a:solidFill>
              </a:rPr>
              <a:t>analytics_db</a:t>
            </a:r>
          </a:p>
        </p:txBody>
      </p:sp>
      <p:sp>
        <p:nvSpPr>
          <p:cNvPr id="37" name="TextBox 36"/>
          <p:cNvSpPr txBox="1"/>
          <p:nvPr/>
        </p:nvSpPr>
        <p:spPr>
          <a:xfrm>
            <a:off x="3246120" y="4553712"/>
            <a:ext cx="2011680" cy="310896"/>
          </a:xfrm>
          <a:prstGeom prst="rect">
            <a:avLst/>
          </a:prstGeom>
          <a:noFill/>
        </p:spPr>
        <p:txBody>
          <a:bodyPr wrap="square">
            <a:spAutoFit/>
          </a:bodyPr>
          <a:lstStyle/>
          <a:p>
            <a:pPr algn="l"/>
            <a:r>
              <a:rPr sz="1000" b="0" i="0">
                <a:solidFill>
                  <a:srgbClr val="3D3D3D"/>
                </a:solidFill>
              </a:rPr>
              <a:t>OrderAnalytics, DailySummary</a:t>
            </a:r>
          </a:p>
        </p:txBody>
      </p:sp>
      <p:sp>
        <p:nvSpPr>
          <p:cNvPr id="38" name="TextBox 37"/>
          <p:cNvSpPr txBox="1"/>
          <p:nvPr/>
        </p:nvSpPr>
        <p:spPr>
          <a:xfrm>
            <a:off x="347472" y="5020056"/>
            <a:ext cx="4846320" cy="310896"/>
          </a:xfrm>
          <a:prstGeom prst="rect">
            <a:avLst/>
          </a:prstGeom>
          <a:noFill/>
        </p:spPr>
        <p:txBody>
          <a:bodyPr wrap="square">
            <a:spAutoFit/>
          </a:bodyPr>
          <a:lstStyle/>
          <a:p>
            <a:pPr algn="l"/>
            <a:r>
              <a:rPr sz="1000" b="0" i="1">
                <a:solidFill>
                  <a:srgbClr val="3E6B44"/>
                </a:solidFill>
              </a:rPr>
              <a:t>✓ No cross-DB joins  ·  ✓ Independent schema evolution  ·  ✓ Service-level backup</a:t>
            </a:r>
          </a:p>
        </p:txBody>
      </p:sp>
      <p:sp>
        <p:nvSpPr>
          <p:cNvPr id="39" name="Rectangle 38"/>
          <p:cNvSpPr/>
          <p:nvPr/>
        </p:nvSpPr>
        <p:spPr>
          <a:xfrm>
            <a:off x="5669280" y="1417320"/>
            <a:ext cx="6309360" cy="2743200"/>
          </a:xfrm>
          <a:prstGeom prst="rect">
            <a:avLst/>
          </a:prstGeom>
          <a:solidFill>
            <a:srgbClr val="FFFBF5"/>
          </a:solidFill>
          <a:ln w="2286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0" y="1417320"/>
            <a:ext cx="6309360" cy="42062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06440" y="1472184"/>
            <a:ext cx="6080760" cy="329184"/>
          </a:xfrm>
          <a:prstGeom prst="rect">
            <a:avLst/>
          </a:prstGeom>
          <a:noFill/>
        </p:spPr>
        <p:txBody>
          <a:bodyPr wrap="square">
            <a:spAutoFit/>
          </a:bodyPr>
          <a:lstStyle/>
          <a:p>
            <a:pPr algn="l"/>
            <a:r>
              <a:rPr sz="1300" b="1" i="0">
                <a:solidFill>
                  <a:srgbClr val="FFFBF5"/>
                </a:solidFill>
              </a:rPr>
              <a:t>⚡  Kafka Topics &amp; Flow</a:t>
            </a:r>
          </a:p>
        </p:txBody>
      </p:sp>
      <p:sp>
        <p:nvSpPr>
          <p:cNvPr id="42" name="Rectangle 41"/>
          <p:cNvSpPr/>
          <p:nvPr/>
        </p:nvSpPr>
        <p:spPr>
          <a:xfrm>
            <a:off x="5687568" y="1847088"/>
            <a:ext cx="6181344" cy="274320"/>
          </a:xfrm>
          <a:prstGeom prst="rect">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42432" y="1865376"/>
            <a:ext cx="2743200" cy="237744"/>
          </a:xfrm>
          <a:prstGeom prst="rect">
            <a:avLst/>
          </a:prstGeom>
          <a:noFill/>
        </p:spPr>
        <p:txBody>
          <a:bodyPr wrap="square">
            <a:spAutoFit/>
          </a:bodyPr>
          <a:lstStyle/>
          <a:p>
            <a:pPr algn="l"/>
            <a:r>
              <a:rPr sz="950" b="1" i="0">
                <a:solidFill>
                  <a:srgbClr val="E65100"/>
                </a:solidFill>
              </a:rPr>
              <a:t>Topic</a:t>
            </a:r>
          </a:p>
        </p:txBody>
      </p:sp>
      <p:sp>
        <p:nvSpPr>
          <p:cNvPr id="44" name="TextBox 43"/>
          <p:cNvSpPr txBox="1"/>
          <p:nvPr/>
        </p:nvSpPr>
        <p:spPr>
          <a:xfrm>
            <a:off x="8522208" y="1865376"/>
            <a:ext cx="1280160" cy="237744"/>
          </a:xfrm>
          <a:prstGeom prst="rect">
            <a:avLst/>
          </a:prstGeom>
          <a:noFill/>
        </p:spPr>
        <p:txBody>
          <a:bodyPr wrap="square">
            <a:spAutoFit/>
          </a:bodyPr>
          <a:lstStyle/>
          <a:p>
            <a:pPr algn="l"/>
            <a:r>
              <a:rPr sz="950" b="1" i="0">
                <a:solidFill>
                  <a:srgbClr val="E65100"/>
                </a:solidFill>
              </a:rPr>
              <a:t>Producer</a:t>
            </a:r>
          </a:p>
        </p:txBody>
      </p:sp>
      <p:sp>
        <p:nvSpPr>
          <p:cNvPr id="45" name="TextBox 44"/>
          <p:cNvSpPr txBox="1"/>
          <p:nvPr/>
        </p:nvSpPr>
        <p:spPr>
          <a:xfrm>
            <a:off x="9829800" y="1865376"/>
            <a:ext cx="2011680" cy="237744"/>
          </a:xfrm>
          <a:prstGeom prst="rect">
            <a:avLst/>
          </a:prstGeom>
          <a:noFill/>
        </p:spPr>
        <p:txBody>
          <a:bodyPr wrap="square">
            <a:spAutoFit/>
          </a:bodyPr>
          <a:lstStyle/>
          <a:p>
            <a:pPr algn="l"/>
            <a:r>
              <a:rPr sz="950" b="1" i="0">
                <a:solidFill>
                  <a:srgbClr val="E65100"/>
                </a:solidFill>
              </a:rPr>
              <a:t>Consumer(s)</a:t>
            </a:r>
          </a:p>
        </p:txBody>
      </p:sp>
      <p:sp>
        <p:nvSpPr>
          <p:cNvPr id="46" name="Rectangle 45"/>
          <p:cNvSpPr/>
          <p:nvPr/>
        </p:nvSpPr>
        <p:spPr>
          <a:xfrm>
            <a:off x="5687568" y="2212848"/>
            <a:ext cx="6181344" cy="402336"/>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42432" y="2267712"/>
            <a:ext cx="2743200" cy="310896"/>
          </a:xfrm>
          <a:prstGeom prst="rect">
            <a:avLst/>
          </a:prstGeom>
          <a:noFill/>
        </p:spPr>
        <p:txBody>
          <a:bodyPr wrap="square">
            <a:spAutoFit/>
          </a:bodyPr>
          <a:lstStyle/>
          <a:p>
            <a:pPr algn="l"/>
            <a:r>
              <a:rPr sz="1000" b="0" i="0">
                <a:solidFill>
                  <a:srgbClr val="E65100"/>
                </a:solidFill>
              </a:rPr>
              <a:t>order.created</a:t>
            </a:r>
          </a:p>
        </p:txBody>
      </p:sp>
      <p:sp>
        <p:nvSpPr>
          <p:cNvPr id="48" name="TextBox 47"/>
          <p:cNvSpPr txBox="1"/>
          <p:nvPr/>
        </p:nvSpPr>
        <p:spPr>
          <a:xfrm>
            <a:off x="8522208" y="2267712"/>
            <a:ext cx="1280160" cy="310896"/>
          </a:xfrm>
          <a:prstGeom prst="rect">
            <a:avLst/>
          </a:prstGeom>
          <a:noFill/>
        </p:spPr>
        <p:txBody>
          <a:bodyPr wrap="square">
            <a:spAutoFit/>
          </a:bodyPr>
          <a:lstStyle/>
          <a:p>
            <a:pPr algn="l"/>
            <a:r>
              <a:rPr sz="1000" b="0" i="0">
                <a:solidFill>
                  <a:srgbClr val="3D3D3D"/>
                </a:solidFill>
              </a:rPr>
              <a:t>Order Svc</a:t>
            </a:r>
          </a:p>
        </p:txBody>
      </p:sp>
      <p:sp>
        <p:nvSpPr>
          <p:cNvPr id="49" name="TextBox 48"/>
          <p:cNvSpPr txBox="1"/>
          <p:nvPr/>
        </p:nvSpPr>
        <p:spPr>
          <a:xfrm>
            <a:off x="9829800" y="2267712"/>
            <a:ext cx="2011680" cy="310896"/>
          </a:xfrm>
          <a:prstGeom prst="rect">
            <a:avLst/>
          </a:prstGeom>
          <a:noFill/>
        </p:spPr>
        <p:txBody>
          <a:bodyPr wrap="square">
            <a:spAutoFit/>
          </a:bodyPr>
          <a:lstStyle/>
          <a:p>
            <a:pPr algn="l"/>
            <a:r>
              <a:rPr sz="1000" b="0" i="0">
                <a:solidFill>
                  <a:srgbClr val="3D3D3D"/>
                </a:solidFill>
              </a:rPr>
              <a:t>Kitchen Svc, Analytics Svc</a:t>
            </a:r>
          </a:p>
        </p:txBody>
      </p:sp>
      <p:sp>
        <p:nvSpPr>
          <p:cNvPr id="50" name="Rectangle 49"/>
          <p:cNvSpPr/>
          <p:nvPr/>
        </p:nvSpPr>
        <p:spPr>
          <a:xfrm>
            <a:off x="5687568" y="2633472"/>
            <a:ext cx="6181344"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742432" y="2688336"/>
            <a:ext cx="2743200" cy="310896"/>
          </a:xfrm>
          <a:prstGeom prst="rect">
            <a:avLst/>
          </a:prstGeom>
          <a:noFill/>
        </p:spPr>
        <p:txBody>
          <a:bodyPr wrap="square">
            <a:spAutoFit/>
          </a:bodyPr>
          <a:lstStyle/>
          <a:p>
            <a:pPr algn="l"/>
            <a:r>
              <a:rPr sz="1000" b="0" i="0">
                <a:solidFill>
                  <a:srgbClr val="E65100"/>
                </a:solidFill>
              </a:rPr>
              <a:t>order.status.updated</a:t>
            </a:r>
          </a:p>
        </p:txBody>
      </p:sp>
      <p:sp>
        <p:nvSpPr>
          <p:cNvPr id="52" name="TextBox 51"/>
          <p:cNvSpPr txBox="1"/>
          <p:nvPr/>
        </p:nvSpPr>
        <p:spPr>
          <a:xfrm>
            <a:off x="8522208" y="2688336"/>
            <a:ext cx="1280160" cy="310896"/>
          </a:xfrm>
          <a:prstGeom prst="rect">
            <a:avLst/>
          </a:prstGeom>
          <a:noFill/>
        </p:spPr>
        <p:txBody>
          <a:bodyPr wrap="square">
            <a:spAutoFit/>
          </a:bodyPr>
          <a:lstStyle/>
          <a:p>
            <a:pPr algn="l"/>
            <a:r>
              <a:rPr sz="1000" b="0" i="0">
                <a:solidFill>
                  <a:srgbClr val="3D3D3D"/>
                </a:solidFill>
              </a:rPr>
              <a:t>Order Svc</a:t>
            </a:r>
          </a:p>
        </p:txBody>
      </p:sp>
      <p:sp>
        <p:nvSpPr>
          <p:cNvPr id="53" name="TextBox 52"/>
          <p:cNvSpPr txBox="1"/>
          <p:nvPr/>
        </p:nvSpPr>
        <p:spPr>
          <a:xfrm>
            <a:off x="9829800" y="2688336"/>
            <a:ext cx="2011680" cy="310896"/>
          </a:xfrm>
          <a:prstGeom prst="rect">
            <a:avLst/>
          </a:prstGeom>
          <a:noFill/>
        </p:spPr>
        <p:txBody>
          <a:bodyPr wrap="square">
            <a:spAutoFit/>
          </a:bodyPr>
          <a:lstStyle/>
          <a:p>
            <a:pPr algn="l"/>
            <a:r>
              <a:rPr sz="1000" b="0" i="0">
                <a:solidFill>
                  <a:srgbClr val="3D3D3D"/>
                </a:solidFill>
              </a:rPr>
              <a:t>Notification Svc, Analytics</a:t>
            </a:r>
          </a:p>
        </p:txBody>
      </p:sp>
      <p:sp>
        <p:nvSpPr>
          <p:cNvPr id="54" name="Rectangle 53"/>
          <p:cNvSpPr/>
          <p:nvPr/>
        </p:nvSpPr>
        <p:spPr>
          <a:xfrm>
            <a:off x="5687568" y="3054096"/>
            <a:ext cx="6181344" cy="402336"/>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42432" y="3108960"/>
            <a:ext cx="2743200" cy="310896"/>
          </a:xfrm>
          <a:prstGeom prst="rect">
            <a:avLst/>
          </a:prstGeom>
          <a:noFill/>
        </p:spPr>
        <p:txBody>
          <a:bodyPr wrap="square">
            <a:spAutoFit/>
          </a:bodyPr>
          <a:lstStyle/>
          <a:p>
            <a:pPr algn="l"/>
            <a:r>
              <a:rPr sz="1000" b="0" i="0">
                <a:solidFill>
                  <a:srgbClr val="E65100"/>
                </a:solidFill>
              </a:rPr>
              <a:t>kitchen.order.updated</a:t>
            </a:r>
          </a:p>
        </p:txBody>
      </p:sp>
      <p:sp>
        <p:nvSpPr>
          <p:cNvPr id="56" name="TextBox 55"/>
          <p:cNvSpPr txBox="1"/>
          <p:nvPr/>
        </p:nvSpPr>
        <p:spPr>
          <a:xfrm>
            <a:off x="8522208" y="3108960"/>
            <a:ext cx="1280160" cy="310896"/>
          </a:xfrm>
          <a:prstGeom prst="rect">
            <a:avLst/>
          </a:prstGeom>
          <a:noFill/>
        </p:spPr>
        <p:txBody>
          <a:bodyPr wrap="square">
            <a:spAutoFit/>
          </a:bodyPr>
          <a:lstStyle/>
          <a:p>
            <a:pPr algn="l"/>
            <a:r>
              <a:rPr sz="1000" b="0" i="0">
                <a:solidFill>
                  <a:srgbClr val="3D3D3D"/>
                </a:solidFill>
              </a:rPr>
              <a:t>Kitchen Svc</a:t>
            </a:r>
          </a:p>
        </p:txBody>
      </p:sp>
      <p:sp>
        <p:nvSpPr>
          <p:cNvPr id="57" name="TextBox 56"/>
          <p:cNvSpPr txBox="1"/>
          <p:nvPr/>
        </p:nvSpPr>
        <p:spPr>
          <a:xfrm>
            <a:off x="9829800" y="3108960"/>
            <a:ext cx="2011680" cy="310896"/>
          </a:xfrm>
          <a:prstGeom prst="rect">
            <a:avLst/>
          </a:prstGeom>
          <a:noFill/>
        </p:spPr>
        <p:txBody>
          <a:bodyPr wrap="square">
            <a:spAutoFit/>
          </a:bodyPr>
          <a:lstStyle/>
          <a:p>
            <a:pPr algn="l"/>
            <a:r>
              <a:rPr sz="1000" b="0" i="0">
                <a:solidFill>
                  <a:srgbClr val="3D3D3D"/>
                </a:solidFill>
              </a:rPr>
              <a:t>Order Svc, Notification Svc</a:t>
            </a:r>
          </a:p>
        </p:txBody>
      </p:sp>
      <p:sp>
        <p:nvSpPr>
          <p:cNvPr id="58" name="Rectangle 57"/>
          <p:cNvSpPr/>
          <p:nvPr/>
        </p:nvSpPr>
        <p:spPr>
          <a:xfrm>
            <a:off x="5687568" y="3474720"/>
            <a:ext cx="6181344"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42432" y="3529584"/>
            <a:ext cx="2743200" cy="310896"/>
          </a:xfrm>
          <a:prstGeom prst="rect">
            <a:avLst/>
          </a:prstGeom>
          <a:noFill/>
        </p:spPr>
        <p:txBody>
          <a:bodyPr wrap="square">
            <a:spAutoFit/>
          </a:bodyPr>
          <a:lstStyle/>
          <a:p>
            <a:pPr algn="l"/>
            <a:r>
              <a:rPr sz="1000" b="0" i="0">
                <a:solidFill>
                  <a:srgbClr val="E65100"/>
                </a:solidFill>
              </a:rPr>
              <a:t>notification.email.send</a:t>
            </a:r>
          </a:p>
        </p:txBody>
      </p:sp>
      <p:sp>
        <p:nvSpPr>
          <p:cNvPr id="60" name="TextBox 59"/>
          <p:cNvSpPr txBox="1"/>
          <p:nvPr/>
        </p:nvSpPr>
        <p:spPr>
          <a:xfrm>
            <a:off x="8522208" y="3529584"/>
            <a:ext cx="1280160" cy="310896"/>
          </a:xfrm>
          <a:prstGeom prst="rect">
            <a:avLst/>
          </a:prstGeom>
          <a:noFill/>
        </p:spPr>
        <p:txBody>
          <a:bodyPr wrap="square">
            <a:spAutoFit/>
          </a:bodyPr>
          <a:lstStyle/>
          <a:p>
            <a:pPr algn="l"/>
            <a:r>
              <a:rPr sz="1000" b="0" i="0">
                <a:solidFill>
                  <a:srgbClr val="3D3D3D"/>
                </a:solidFill>
              </a:rPr>
              <a:t>User Svc</a:t>
            </a:r>
          </a:p>
        </p:txBody>
      </p:sp>
      <p:sp>
        <p:nvSpPr>
          <p:cNvPr id="61" name="TextBox 60"/>
          <p:cNvSpPr txBox="1"/>
          <p:nvPr/>
        </p:nvSpPr>
        <p:spPr>
          <a:xfrm>
            <a:off x="9829800" y="3529584"/>
            <a:ext cx="2011680" cy="310896"/>
          </a:xfrm>
          <a:prstGeom prst="rect">
            <a:avLst/>
          </a:prstGeom>
          <a:noFill/>
        </p:spPr>
        <p:txBody>
          <a:bodyPr wrap="square">
            <a:spAutoFit/>
          </a:bodyPr>
          <a:lstStyle/>
          <a:p>
            <a:pPr algn="l"/>
            <a:r>
              <a:rPr sz="1000" b="0" i="0">
                <a:solidFill>
                  <a:srgbClr val="3D3D3D"/>
                </a:solidFill>
              </a:rPr>
              <a:t>Notification Svc</a:t>
            </a:r>
          </a:p>
        </p:txBody>
      </p:sp>
      <p:sp>
        <p:nvSpPr>
          <p:cNvPr id="62" name="Rectangle 61"/>
          <p:cNvSpPr/>
          <p:nvPr/>
        </p:nvSpPr>
        <p:spPr>
          <a:xfrm>
            <a:off x="5687568" y="3895344"/>
            <a:ext cx="6181344" cy="402336"/>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742432" y="3950208"/>
            <a:ext cx="2743200" cy="310896"/>
          </a:xfrm>
          <a:prstGeom prst="rect">
            <a:avLst/>
          </a:prstGeom>
          <a:noFill/>
        </p:spPr>
        <p:txBody>
          <a:bodyPr wrap="square">
            <a:spAutoFit/>
          </a:bodyPr>
          <a:lstStyle/>
          <a:p>
            <a:pPr algn="l"/>
            <a:r>
              <a:rPr sz="1000" b="0" i="0">
                <a:solidFill>
                  <a:srgbClr val="E65100"/>
                </a:solidFill>
              </a:rPr>
              <a:t>analytics.order.completed</a:t>
            </a:r>
          </a:p>
        </p:txBody>
      </p:sp>
      <p:sp>
        <p:nvSpPr>
          <p:cNvPr id="64" name="TextBox 63"/>
          <p:cNvSpPr txBox="1"/>
          <p:nvPr/>
        </p:nvSpPr>
        <p:spPr>
          <a:xfrm>
            <a:off x="8522208" y="3950208"/>
            <a:ext cx="1280160" cy="310896"/>
          </a:xfrm>
          <a:prstGeom prst="rect">
            <a:avLst/>
          </a:prstGeom>
          <a:noFill/>
        </p:spPr>
        <p:txBody>
          <a:bodyPr wrap="square">
            <a:spAutoFit/>
          </a:bodyPr>
          <a:lstStyle/>
          <a:p>
            <a:pPr algn="l"/>
            <a:r>
              <a:rPr sz="1000" b="0" i="0">
                <a:solidFill>
                  <a:srgbClr val="3D3D3D"/>
                </a:solidFill>
              </a:rPr>
              <a:t>Order Svc</a:t>
            </a:r>
          </a:p>
        </p:txBody>
      </p:sp>
      <p:sp>
        <p:nvSpPr>
          <p:cNvPr id="65" name="TextBox 64"/>
          <p:cNvSpPr txBox="1"/>
          <p:nvPr/>
        </p:nvSpPr>
        <p:spPr>
          <a:xfrm>
            <a:off x="9829800" y="3950208"/>
            <a:ext cx="2011680" cy="310896"/>
          </a:xfrm>
          <a:prstGeom prst="rect">
            <a:avLst/>
          </a:prstGeom>
          <a:noFill/>
        </p:spPr>
        <p:txBody>
          <a:bodyPr wrap="square">
            <a:spAutoFit/>
          </a:bodyPr>
          <a:lstStyle/>
          <a:p>
            <a:pPr algn="l"/>
            <a:r>
              <a:rPr sz="1000" b="0" i="0">
                <a:solidFill>
                  <a:srgbClr val="3D3D3D"/>
                </a:solidFill>
              </a:rPr>
              <a:t>Analytics Svc</a:t>
            </a:r>
          </a:p>
        </p:txBody>
      </p:sp>
      <p:sp>
        <p:nvSpPr>
          <p:cNvPr id="66" name="Rectangle 65"/>
          <p:cNvSpPr/>
          <p:nvPr/>
        </p:nvSpPr>
        <p:spPr>
          <a:xfrm>
            <a:off x="5669280" y="4343400"/>
            <a:ext cx="6309360" cy="2148840"/>
          </a:xfrm>
          <a:prstGeom prst="rect">
            <a:avLst/>
          </a:prstGeom>
          <a:solidFill>
            <a:srgbClr val="FFFBF5"/>
          </a:solidFill>
          <a:ln w="1905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669280" y="4343400"/>
            <a:ext cx="6309360" cy="420624"/>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806440" y="4398264"/>
            <a:ext cx="6080760" cy="329184"/>
          </a:xfrm>
          <a:prstGeom prst="rect">
            <a:avLst/>
          </a:prstGeom>
          <a:noFill/>
        </p:spPr>
        <p:txBody>
          <a:bodyPr wrap="square">
            <a:spAutoFit/>
          </a:bodyPr>
          <a:lstStyle/>
          <a:p>
            <a:pPr algn="l"/>
            <a:r>
              <a:rPr sz="1300" b="1" i="0">
                <a:solidFill>
                  <a:srgbClr val="FFFBF5"/>
                </a:solidFill>
              </a:rPr>
              <a:t>⚡  Redis — Cache &amp; Session Strategy</a:t>
            </a:r>
          </a:p>
        </p:txBody>
      </p:sp>
      <p:sp>
        <p:nvSpPr>
          <p:cNvPr id="69" name="Rectangle 68"/>
          <p:cNvSpPr/>
          <p:nvPr/>
        </p:nvSpPr>
        <p:spPr>
          <a:xfrm>
            <a:off x="5742432" y="4910328"/>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870448" y="4846320"/>
            <a:ext cx="5989320" cy="274320"/>
          </a:xfrm>
          <a:prstGeom prst="rect">
            <a:avLst/>
          </a:prstGeom>
          <a:noFill/>
        </p:spPr>
        <p:txBody>
          <a:bodyPr wrap="square">
            <a:spAutoFit/>
          </a:bodyPr>
          <a:lstStyle/>
          <a:p>
            <a:pPr algn="l"/>
            <a:r>
              <a:rPr sz="1100" b="0" i="0">
                <a:solidFill>
                  <a:srgbClr val="3D3D3D"/>
                </a:solidFill>
              </a:rPr>
              <a:t>Kitchen queue: branch-scoped key, priority sort, sub-ms reads</a:t>
            </a:r>
          </a:p>
        </p:txBody>
      </p:sp>
      <p:sp>
        <p:nvSpPr>
          <p:cNvPr id="71" name="Rectangle 70"/>
          <p:cNvSpPr/>
          <p:nvPr/>
        </p:nvSpPr>
        <p:spPr>
          <a:xfrm>
            <a:off x="5742432" y="5257800"/>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70448" y="5193792"/>
            <a:ext cx="5989320" cy="274320"/>
          </a:xfrm>
          <a:prstGeom prst="rect">
            <a:avLst/>
          </a:prstGeom>
          <a:noFill/>
        </p:spPr>
        <p:txBody>
          <a:bodyPr wrap="square">
            <a:spAutoFit/>
          </a:bodyPr>
          <a:lstStyle/>
          <a:p>
            <a:pPr algn="l"/>
            <a:r>
              <a:rPr sz="1100" b="0" i="0">
                <a:solidFill>
                  <a:srgbClr val="3D3D3D"/>
                </a:solidFill>
              </a:rPr>
              <a:t>JWT blacklist: revoked tokens checked on every request</a:t>
            </a:r>
          </a:p>
        </p:txBody>
      </p:sp>
      <p:sp>
        <p:nvSpPr>
          <p:cNvPr id="73" name="Rectangle 72"/>
          <p:cNvSpPr/>
          <p:nvPr/>
        </p:nvSpPr>
        <p:spPr>
          <a:xfrm>
            <a:off x="5742432" y="5605272"/>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870448" y="5541264"/>
            <a:ext cx="5989320" cy="274320"/>
          </a:xfrm>
          <a:prstGeom prst="rect">
            <a:avLst/>
          </a:prstGeom>
          <a:noFill/>
        </p:spPr>
        <p:txBody>
          <a:bodyPr wrap="square">
            <a:spAutoFit/>
          </a:bodyPr>
          <a:lstStyle/>
          <a:p>
            <a:pPr algn="l"/>
            <a:r>
              <a:rPr sz="1100" b="0" i="0">
                <a:solidFill>
                  <a:srgbClr val="3D3D3D"/>
                </a:solidFill>
              </a:rPr>
              <a:t>Analytics cache: GET endpoints cached 5 min, invalidated on write</a:t>
            </a:r>
          </a:p>
        </p:txBody>
      </p:sp>
      <p:sp>
        <p:nvSpPr>
          <p:cNvPr id="75" name="Rectangle 74"/>
          <p:cNvSpPr/>
          <p:nvPr/>
        </p:nvSpPr>
        <p:spPr>
          <a:xfrm>
            <a:off x="5742432" y="5952744"/>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870448" y="5888736"/>
            <a:ext cx="5989320" cy="274320"/>
          </a:xfrm>
          <a:prstGeom prst="rect">
            <a:avLst/>
          </a:prstGeom>
          <a:noFill/>
        </p:spPr>
        <p:txBody>
          <a:bodyPr wrap="square">
            <a:spAutoFit/>
          </a:bodyPr>
          <a:lstStyle/>
          <a:p>
            <a:pPr algn="l"/>
            <a:r>
              <a:rPr sz="1100" b="0" i="0">
                <a:solidFill>
                  <a:srgbClr val="3D3D3D"/>
                </a:solidFill>
              </a:rPr>
              <a:t>Menu cache: active items cached per branch, busted on menu update</a:t>
            </a:r>
          </a:p>
        </p:txBody>
      </p:sp>
      <p:sp>
        <p:nvSpPr>
          <p:cNvPr id="77" name="Rectangle 76"/>
          <p:cNvSpPr/>
          <p:nvPr/>
        </p:nvSpPr>
        <p:spPr>
          <a:xfrm>
            <a:off x="5742432" y="6300216"/>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870448" y="6236208"/>
            <a:ext cx="5989320" cy="274320"/>
          </a:xfrm>
          <a:prstGeom prst="rect">
            <a:avLst/>
          </a:prstGeom>
          <a:noFill/>
        </p:spPr>
        <p:txBody>
          <a:bodyPr wrap="square">
            <a:spAutoFit/>
          </a:bodyPr>
          <a:lstStyle/>
          <a:p>
            <a:pPr algn="l"/>
            <a:r>
              <a:rPr sz="1100" b="0" i="0">
                <a:solidFill>
                  <a:srgbClr val="3D3D3D"/>
                </a:solidFill>
              </a:rPr>
              <a:t>Session persistence: survives service restarts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AI Food Recommendation Feature</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Google Gemini 2.5 Flash · Real inventory · Zero hallucination</a:t>
            </a:r>
          </a:p>
        </p:txBody>
      </p:sp>
      <p:sp>
        <p:nvSpPr>
          <p:cNvPr id="6" name="Rectangle 5"/>
          <p:cNvSpPr/>
          <p:nvPr/>
        </p:nvSpPr>
        <p:spPr>
          <a:xfrm>
            <a:off x="274320"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81328"/>
            <a:ext cx="329184" cy="384048"/>
          </a:xfrm>
          <a:prstGeom prst="rect">
            <a:avLst/>
          </a:prstGeom>
          <a:noFill/>
        </p:spPr>
        <p:txBody>
          <a:bodyPr wrap="square">
            <a:spAutoFit/>
          </a:bodyPr>
          <a:lstStyle/>
          <a:p>
            <a:pPr algn="ctr"/>
            <a:r>
              <a:rPr sz="1800" b="1" i="0">
                <a:solidFill>
                  <a:srgbClr val="F5A623"/>
                </a:solidFill>
              </a:rPr>
              <a:t>1</a:t>
            </a:r>
          </a:p>
        </p:txBody>
      </p:sp>
      <p:sp>
        <p:nvSpPr>
          <p:cNvPr id="8" name="TextBox 7"/>
          <p:cNvSpPr txBox="1"/>
          <p:nvPr/>
        </p:nvSpPr>
        <p:spPr>
          <a:xfrm>
            <a:off x="658368" y="1517904"/>
            <a:ext cx="1097280" cy="548640"/>
          </a:xfrm>
          <a:prstGeom prst="rect">
            <a:avLst/>
          </a:prstGeom>
          <a:noFill/>
        </p:spPr>
        <p:txBody>
          <a:bodyPr wrap="square">
            <a:spAutoFit/>
          </a:bodyPr>
          <a:lstStyle/>
          <a:p>
            <a:pPr algn="l"/>
            <a:r>
              <a:rPr sz="1050" b="1" i="0">
                <a:solidFill>
                  <a:srgbClr val="FFFBF5"/>
                </a:solidFill>
              </a:rPr>
              <a:t>Hunger
Level</a:t>
            </a:r>
          </a:p>
        </p:txBody>
      </p:sp>
      <p:sp>
        <p:nvSpPr>
          <p:cNvPr id="9" name="Rectangle 8"/>
          <p:cNvSpPr/>
          <p:nvPr/>
        </p:nvSpPr>
        <p:spPr>
          <a:xfrm>
            <a:off x="1847088" y="1828800"/>
            <a:ext cx="914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56816"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 y="1481328"/>
            <a:ext cx="329184" cy="384048"/>
          </a:xfrm>
          <a:prstGeom prst="rect">
            <a:avLst/>
          </a:prstGeom>
          <a:noFill/>
        </p:spPr>
        <p:txBody>
          <a:bodyPr wrap="square">
            <a:spAutoFit/>
          </a:bodyPr>
          <a:lstStyle/>
          <a:p>
            <a:pPr algn="ctr"/>
            <a:r>
              <a:rPr sz="1800" b="1" i="0">
                <a:solidFill>
                  <a:srgbClr val="F5A623"/>
                </a:solidFill>
              </a:rPr>
              <a:t>2</a:t>
            </a:r>
          </a:p>
        </p:txBody>
      </p:sp>
      <p:sp>
        <p:nvSpPr>
          <p:cNvPr id="12" name="TextBox 11"/>
          <p:cNvSpPr txBox="1"/>
          <p:nvPr/>
        </p:nvSpPr>
        <p:spPr>
          <a:xfrm>
            <a:off x="2340864" y="1517904"/>
            <a:ext cx="1097280" cy="548640"/>
          </a:xfrm>
          <a:prstGeom prst="rect">
            <a:avLst/>
          </a:prstGeom>
          <a:noFill/>
        </p:spPr>
        <p:txBody>
          <a:bodyPr wrap="square">
            <a:spAutoFit/>
          </a:bodyPr>
          <a:lstStyle/>
          <a:p>
            <a:pPr algn="l"/>
            <a:r>
              <a:rPr sz="1050" b="1" i="0">
                <a:solidFill>
                  <a:srgbClr val="FFFBF5"/>
                </a:solidFill>
              </a:rPr>
              <a:t>Mood /
Cravings</a:t>
            </a:r>
          </a:p>
        </p:txBody>
      </p:sp>
      <p:sp>
        <p:nvSpPr>
          <p:cNvPr id="13" name="Rectangle 12"/>
          <p:cNvSpPr/>
          <p:nvPr/>
        </p:nvSpPr>
        <p:spPr>
          <a:xfrm>
            <a:off x="3529584" y="1828800"/>
            <a:ext cx="914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39312"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1481328"/>
            <a:ext cx="329184" cy="384048"/>
          </a:xfrm>
          <a:prstGeom prst="rect">
            <a:avLst/>
          </a:prstGeom>
          <a:noFill/>
        </p:spPr>
        <p:txBody>
          <a:bodyPr wrap="square">
            <a:spAutoFit/>
          </a:bodyPr>
          <a:lstStyle/>
          <a:p>
            <a:pPr algn="ctr"/>
            <a:r>
              <a:rPr sz="1800" b="1" i="0">
                <a:solidFill>
                  <a:srgbClr val="F5A623"/>
                </a:solidFill>
              </a:rPr>
              <a:t>3</a:t>
            </a:r>
          </a:p>
        </p:txBody>
      </p:sp>
      <p:sp>
        <p:nvSpPr>
          <p:cNvPr id="16" name="TextBox 15"/>
          <p:cNvSpPr txBox="1"/>
          <p:nvPr/>
        </p:nvSpPr>
        <p:spPr>
          <a:xfrm>
            <a:off x="4023360" y="1517904"/>
            <a:ext cx="1097280" cy="548640"/>
          </a:xfrm>
          <a:prstGeom prst="rect">
            <a:avLst/>
          </a:prstGeom>
          <a:noFill/>
        </p:spPr>
        <p:txBody>
          <a:bodyPr wrap="square">
            <a:spAutoFit/>
          </a:bodyPr>
          <a:lstStyle/>
          <a:p>
            <a:pPr algn="l"/>
            <a:r>
              <a:rPr sz="1050" b="1" i="0">
                <a:solidFill>
                  <a:srgbClr val="FFFBF5"/>
                </a:solidFill>
              </a:rPr>
              <a:t>Meal
Type</a:t>
            </a:r>
          </a:p>
        </p:txBody>
      </p:sp>
      <p:sp>
        <p:nvSpPr>
          <p:cNvPr id="17" name="Rectangle 16"/>
          <p:cNvSpPr/>
          <p:nvPr/>
        </p:nvSpPr>
        <p:spPr>
          <a:xfrm>
            <a:off x="5212080" y="1828800"/>
            <a:ext cx="914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21808"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67528" y="1481328"/>
            <a:ext cx="329184" cy="384048"/>
          </a:xfrm>
          <a:prstGeom prst="rect">
            <a:avLst/>
          </a:prstGeom>
          <a:noFill/>
        </p:spPr>
        <p:txBody>
          <a:bodyPr wrap="square">
            <a:spAutoFit/>
          </a:bodyPr>
          <a:lstStyle/>
          <a:p>
            <a:pPr algn="ctr"/>
            <a:r>
              <a:rPr sz="1800" b="1" i="0">
                <a:solidFill>
                  <a:srgbClr val="F5A623"/>
                </a:solidFill>
              </a:rPr>
              <a:t>4</a:t>
            </a:r>
          </a:p>
        </p:txBody>
      </p:sp>
      <p:sp>
        <p:nvSpPr>
          <p:cNvPr id="20" name="TextBox 19"/>
          <p:cNvSpPr txBox="1"/>
          <p:nvPr/>
        </p:nvSpPr>
        <p:spPr>
          <a:xfrm>
            <a:off x="5705856" y="1517904"/>
            <a:ext cx="1097280" cy="548640"/>
          </a:xfrm>
          <a:prstGeom prst="rect">
            <a:avLst/>
          </a:prstGeom>
          <a:noFill/>
        </p:spPr>
        <p:txBody>
          <a:bodyPr wrap="square">
            <a:spAutoFit/>
          </a:bodyPr>
          <a:lstStyle/>
          <a:p>
            <a:pPr algn="l"/>
            <a:r>
              <a:rPr sz="1050" b="1" i="0">
                <a:solidFill>
                  <a:srgbClr val="FFFBF5"/>
                </a:solidFill>
              </a:rPr>
              <a:t>Fulfilment
Type</a:t>
            </a:r>
          </a:p>
        </p:txBody>
      </p:sp>
      <p:sp>
        <p:nvSpPr>
          <p:cNvPr id="21" name="Rectangle 20"/>
          <p:cNvSpPr/>
          <p:nvPr/>
        </p:nvSpPr>
        <p:spPr>
          <a:xfrm>
            <a:off x="6894576" y="1828800"/>
            <a:ext cx="914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04304"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1481328"/>
            <a:ext cx="329184" cy="384048"/>
          </a:xfrm>
          <a:prstGeom prst="rect">
            <a:avLst/>
          </a:prstGeom>
          <a:noFill/>
        </p:spPr>
        <p:txBody>
          <a:bodyPr wrap="square">
            <a:spAutoFit/>
          </a:bodyPr>
          <a:lstStyle/>
          <a:p>
            <a:pPr algn="ctr"/>
            <a:r>
              <a:rPr sz="1800" b="1" i="0">
                <a:solidFill>
                  <a:srgbClr val="F5A623"/>
                </a:solidFill>
              </a:rPr>
              <a:t>5</a:t>
            </a:r>
          </a:p>
        </p:txBody>
      </p:sp>
      <p:sp>
        <p:nvSpPr>
          <p:cNvPr id="24" name="TextBox 23"/>
          <p:cNvSpPr txBox="1"/>
          <p:nvPr/>
        </p:nvSpPr>
        <p:spPr>
          <a:xfrm>
            <a:off x="7388352" y="1517904"/>
            <a:ext cx="1097280" cy="548640"/>
          </a:xfrm>
          <a:prstGeom prst="rect">
            <a:avLst/>
          </a:prstGeom>
          <a:noFill/>
        </p:spPr>
        <p:txBody>
          <a:bodyPr wrap="square">
            <a:spAutoFit/>
          </a:bodyPr>
          <a:lstStyle/>
          <a:p>
            <a:pPr algn="l"/>
            <a:r>
              <a:rPr sz="1050" b="1" i="0">
                <a:solidFill>
                  <a:srgbClr val="FFFBF5"/>
                </a:solidFill>
              </a:rPr>
              <a:t>Budget
Range</a:t>
            </a:r>
          </a:p>
        </p:txBody>
      </p:sp>
      <p:sp>
        <p:nvSpPr>
          <p:cNvPr id="25" name="Rectangle 24"/>
          <p:cNvSpPr/>
          <p:nvPr/>
        </p:nvSpPr>
        <p:spPr>
          <a:xfrm>
            <a:off x="8577072" y="1828800"/>
            <a:ext cx="914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0"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20" y="1481328"/>
            <a:ext cx="329184" cy="384048"/>
          </a:xfrm>
          <a:prstGeom prst="rect">
            <a:avLst/>
          </a:prstGeom>
          <a:noFill/>
        </p:spPr>
        <p:txBody>
          <a:bodyPr wrap="square">
            <a:spAutoFit/>
          </a:bodyPr>
          <a:lstStyle/>
          <a:p>
            <a:pPr algn="ctr"/>
            <a:r>
              <a:rPr sz="1800" b="1" i="0">
                <a:solidFill>
                  <a:srgbClr val="F5A623"/>
                </a:solidFill>
              </a:rPr>
              <a:t>6</a:t>
            </a:r>
          </a:p>
        </p:txBody>
      </p:sp>
      <p:sp>
        <p:nvSpPr>
          <p:cNvPr id="28" name="TextBox 27"/>
          <p:cNvSpPr txBox="1"/>
          <p:nvPr/>
        </p:nvSpPr>
        <p:spPr>
          <a:xfrm>
            <a:off x="9070848" y="1517904"/>
            <a:ext cx="1097280" cy="548640"/>
          </a:xfrm>
          <a:prstGeom prst="rect">
            <a:avLst/>
          </a:prstGeom>
          <a:noFill/>
        </p:spPr>
        <p:txBody>
          <a:bodyPr wrap="square">
            <a:spAutoFit/>
          </a:bodyPr>
          <a:lstStyle/>
          <a:p>
            <a:pPr algn="l"/>
            <a:r>
              <a:rPr sz="1050" b="1" i="0">
                <a:solidFill>
                  <a:srgbClr val="FFFBF5"/>
                </a:solidFill>
              </a:rPr>
              <a:t>Dietary
Prefs</a:t>
            </a:r>
          </a:p>
        </p:txBody>
      </p:sp>
      <p:sp>
        <p:nvSpPr>
          <p:cNvPr id="29" name="Rectangle 28"/>
          <p:cNvSpPr/>
          <p:nvPr/>
        </p:nvSpPr>
        <p:spPr>
          <a:xfrm>
            <a:off x="10259568" y="1828800"/>
            <a:ext cx="9144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369296" y="1463040"/>
            <a:ext cx="1554480" cy="82296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15016" y="1481328"/>
            <a:ext cx="329184" cy="384048"/>
          </a:xfrm>
          <a:prstGeom prst="rect">
            <a:avLst/>
          </a:prstGeom>
          <a:noFill/>
        </p:spPr>
        <p:txBody>
          <a:bodyPr wrap="square">
            <a:spAutoFit/>
          </a:bodyPr>
          <a:lstStyle/>
          <a:p>
            <a:pPr algn="ctr"/>
            <a:r>
              <a:rPr sz="1800" b="1" i="0">
                <a:solidFill>
                  <a:srgbClr val="F5A623"/>
                </a:solidFill>
              </a:rPr>
              <a:t>7</a:t>
            </a:r>
          </a:p>
        </p:txBody>
      </p:sp>
      <p:sp>
        <p:nvSpPr>
          <p:cNvPr id="32" name="TextBox 31"/>
          <p:cNvSpPr txBox="1"/>
          <p:nvPr/>
        </p:nvSpPr>
        <p:spPr>
          <a:xfrm>
            <a:off x="10753344" y="1517904"/>
            <a:ext cx="1097280" cy="548640"/>
          </a:xfrm>
          <a:prstGeom prst="rect">
            <a:avLst/>
          </a:prstGeom>
          <a:noFill/>
        </p:spPr>
        <p:txBody>
          <a:bodyPr wrap="square">
            <a:spAutoFit/>
          </a:bodyPr>
          <a:lstStyle/>
          <a:p>
            <a:pPr algn="l"/>
            <a:r>
              <a:rPr sz="1050" b="1" i="0">
                <a:solidFill>
                  <a:srgbClr val="FFFBF5"/>
                </a:solidFill>
              </a:rPr>
              <a:t>Extra
Notes</a:t>
            </a:r>
          </a:p>
        </p:txBody>
      </p:sp>
      <p:sp>
        <p:nvSpPr>
          <p:cNvPr id="33" name="Rectangle 32"/>
          <p:cNvSpPr/>
          <p:nvPr/>
        </p:nvSpPr>
        <p:spPr>
          <a:xfrm>
            <a:off x="274320" y="2487168"/>
            <a:ext cx="5852160" cy="658368"/>
          </a:xfrm>
          <a:prstGeom prst="rect">
            <a:avLst/>
          </a:prstGeom>
          <a:solidFill>
            <a:srgbClr val="F3E5F5"/>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2542032"/>
            <a:ext cx="1554480" cy="530352"/>
          </a:xfrm>
          <a:prstGeom prst="rect">
            <a:avLst/>
          </a:prstGeom>
          <a:noFill/>
        </p:spPr>
        <p:txBody>
          <a:bodyPr wrap="square">
            <a:spAutoFit/>
          </a:bodyPr>
          <a:lstStyle/>
          <a:p>
            <a:pPr algn="l"/>
            <a:r>
              <a:rPr sz="1200" b="1" i="0">
                <a:solidFill>
                  <a:srgbClr val="6A1B9A"/>
                </a:solidFill>
              </a:rPr>
              <a:t>Build Prompt</a:t>
            </a:r>
          </a:p>
        </p:txBody>
      </p:sp>
      <p:sp>
        <p:nvSpPr>
          <p:cNvPr id="35" name="TextBox 34"/>
          <p:cNvSpPr txBox="1"/>
          <p:nvPr/>
        </p:nvSpPr>
        <p:spPr>
          <a:xfrm>
            <a:off x="1993392" y="2578608"/>
            <a:ext cx="4023360" cy="475488"/>
          </a:xfrm>
          <a:prstGeom prst="rect">
            <a:avLst/>
          </a:prstGeom>
          <a:noFill/>
        </p:spPr>
        <p:txBody>
          <a:bodyPr wrap="square">
            <a:spAutoFit/>
          </a:bodyPr>
          <a:lstStyle/>
          <a:p>
            <a:pPr algn="l"/>
            <a:r>
              <a:rPr sz="1150" b="0" i="0">
                <a:solidFill>
                  <a:srgbClr val="3D3D3D"/>
                </a:solidFill>
              </a:rPr>
              <a:t>Wizard answers + active menu items (≤40) sent to Gemini</a:t>
            </a:r>
          </a:p>
        </p:txBody>
      </p:sp>
      <p:sp>
        <p:nvSpPr>
          <p:cNvPr id="36" name="Rectangle 35"/>
          <p:cNvSpPr/>
          <p:nvPr/>
        </p:nvSpPr>
        <p:spPr>
          <a:xfrm>
            <a:off x="3108960" y="3145536"/>
            <a:ext cx="36576" cy="16459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4320" y="3310128"/>
            <a:ext cx="5852160" cy="658368"/>
          </a:xfrm>
          <a:prstGeom prst="rect">
            <a:avLst/>
          </a:prstGeom>
          <a:solidFill>
            <a:srgbClr val="FFFBF5"/>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3364992"/>
            <a:ext cx="1554480" cy="530352"/>
          </a:xfrm>
          <a:prstGeom prst="rect">
            <a:avLst/>
          </a:prstGeom>
          <a:noFill/>
        </p:spPr>
        <p:txBody>
          <a:bodyPr wrap="square">
            <a:spAutoFit/>
          </a:bodyPr>
          <a:lstStyle/>
          <a:p>
            <a:pPr algn="l"/>
            <a:r>
              <a:rPr sz="1200" b="1" i="0">
                <a:solidFill>
                  <a:srgbClr val="6A1B9A"/>
                </a:solidFill>
              </a:rPr>
              <a:t>Gemini Reasons</a:t>
            </a:r>
          </a:p>
        </p:txBody>
      </p:sp>
      <p:sp>
        <p:nvSpPr>
          <p:cNvPr id="39" name="TextBox 38"/>
          <p:cNvSpPr txBox="1"/>
          <p:nvPr/>
        </p:nvSpPr>
        <p:spPr>
          <a:xfrm>
            <a:off x="1993392" y="3401568"/>
            <a:ext cx="4023360" cy="475488"/>
          </a:xfrm>
          <a:prstGeom prst="rect">
            <a:avLst/>
          </a:prstGeom>
          <a:noFill/>
        </p:spPr>
        <p:txBody>
          <a:bodyPr wrap="square">
            <a:spAutoFit/>
          </a:bodyPr>
          <a:lstStyle/>
          <a:p>
            <a:pPr algn="l"/>
            <a:r>
              <a:rPr sz="1150" b="0" i="0">
                <a:solidFill>
                  <a:srgbClr val="3D3D3D"/>
                </a:solidFill>
              </a:rPr>
              <a:t>AI selects item IDs + justification in JSON schema</a:t>
            </a:r>
          </a:p>
        </p:txBody>
      </p:sp>
      <p:sp>
        <p:nvSpPr>
          <p:cNvPr id="40" name="Rectangle 39"/>
          <p:cNvSpPr/>
          <p:nvPr/>
        </p:nvSpPr>
        <p:spPr>
          <a:xfrm>
            <a:off x="3108960" y="3968496"/>
            <a:ext cx="36576" cy="16459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4133088"/>
            <a:ext cx="5852160" cy="658368"/>
          </a:xfrm>
          <a:prstGeom prst="rect">
            <a:avLst/>
          </a:prstGeom>
          <a:solidFill>
            <a:srgbClr val="F3E5F5"/>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8" y="4187952"/>
            <a:ext cx="1554480" cy="530352"/>
          </a:xfrm>
          <a:prstGeom prst="rect">
            <a:avLst/>
          </a:prstGeom>
          <a:noFill/>
        </p:spPr>
        <p:txBody>
          <a:bodyPr wrap="square">
            <a:spAutoFit/>
          </a:bodyPr>
          <a:lstStyle/>
          <a:p>
            <a:pPr algn="l"/>
            <a:r>
              <a:rPr sz="1200" b="1" i="0">
                <a:solidFill>
                  <a:srgbClr val="6A1B9A"/>
                </a:solidFill>
              </a:rPr>
              <a:t>Validate IDs</a:t>
            </a:r>
          </a:p>
        </p:txBody>
      </p:sp>
      <p:sp>
        <p:nvSpPr>
          <p:cNvPr id="43" name="TextBox 42"/>
          <p:cNvSpPr txBox="1"/>
          <p:nvPr/>
        </p:nvSpPr>
        <p:spPr>
          <a:xfrm>
            <a:off x="1993392" y="4224528"/>
            <a:ext cx="4023360" cy="475488"/>
          </a:xfrm>
          <a:prstGeom prst="rect">
            <a:avLst/>
          </a:prstGeom>
          <a:noFill/>
        </p:spPr>
        <p:txBody>
          <a:bodyPr wrap="square">
            <a:spAutoFit/>
          </a:bodyPr>
          <a:lstStyle/>
          <a:p>
            <a:pPr algn="l"/>
            <a:r>
              <a:rPr sz="1150" b="0" i="0">
                <a:solidFill>
                  <a:srgbClr val="3D3D3D"/>
                </a:solidFill>
              </a:rPr>
              <a:t>Only IDs matching our DB menuById map are accepted</a:t>
            </a:r>
          </a:p>
        </p:txBody>
      </p:sp>
      <p:sp>
        <p:nvSpPr>
          <p:cNvPr id="44" name="Rectangle 43"/>
          <p:cNvSpPr/>
          <p:nvPr/>
        </p:nvSpPr>
        <p:spPr>
          <a:xfrm>
            <a:off x="3108960" y="4791456"/>
            <a:ext cx="36576" cy="16459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4320" y="4956048"/>
            <a:ext cx="5852160" cy="658368"/>
          </a:xfrm>
          <a:prstGeom prst="rect">
            <a:avLst/>
          </a:prstGeom>
          <a:solidFill>
            <a:srgbClr val="FFFBF5"/>
          </a:solidFill>
          <a:ln w="127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5010912"/>
            <a:ext cx="1554480" cy="530352"/>
          </a:xfrm>
          <a:prstGeom prst="rect">
            <a:avLst/>
          </a:prstGeom>
          <a:noFill/>
        </p:spPr>
        <p:txBody>
          <a:bodyPr wrap="square">
            <a:spAutoFit/>
          </a:bodyPr>
          <a:lstStyle/>
          <a:p>
            <a:pPr algn="l"/>
            <a:r>
              <a:rPr sz="1200" b="1" i="0">
                <a:solidFill>
                  <a:srgbClr val="6A1B9A"/>
                </a:solidFill>
              </a:rPr>
              <a:t>Return Results</a:t>
            </a:r>
          </a:p>
        </p:txBody>
      </p:sp>
      <p:sp>
        <p:nvSpPr>
          <p:cNvPr id="47" name="TextBox 46"/>
          <p:cNvSpPr txBox="1"/>
          <p:nvPr/>
        </p:nvSpPr>
        <p:spPr>
          <a:xfrm>
            <a:off x="1993392" y="5047488"/>
            <a:ext cx="4023360" cy="475488"/>
          </a:xfrm>
          <a:prstGeom prst="rect">
            <a:avLst/>
          </a:prstGeom>
          <a:noFill/>
        </p:spPr>
        <p:txBody>
          <a:bodyPr wrap="square">
            <a:spAutoFit/>
          </a:bodyPr>
          <a:lstStyle/>
          <a:p>
            <a:pPr algn="l"/>
            <a:r>
              <a:rPr sz="1150" b="0" i="0">
                <a:solidFill>
                  <a:srgbClr val="3D3D3D"/>
                </a:solidFill>
              </a:rPr>
              <a:t>Suggestions + price + reason + optional add-ons</a:t>
            </a:r>
          </a:p>
        </p:txBody>
      </p:sp>
      <p:sp>
        <p:nvSpPr>
          <p:cNvPr id="48" name="Rectangle 47"/>
          <p:cNvSpPr/>
          <p:nvPr/>
        </p:nvSpPr>
        <p:spPr>
          <a:xfrm>
            <a:off x="6400800" y="1417320"/>
            <a:ext cx="5577840" cy="2606040"/>
          </a:xfrm>
          <a:prstGeom prst="rect">
            <a:avLst/>
          </a:prstGeom>
          <a:solidFill>
            <a:srgbClr val="FFFBF5"/>
          </a:solidFill>
          <a:ln w="1651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0" y="1417320"/>
            <a:ext cx="5577840" cy="34747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2240" y="1463040"/>
            <a:ext cx="5394960" cy="274320"/>
          </a:xfrm>
          <a:prstGeom prst="rect">
            <a:avLst/>
          </a:prstGeom>
          <a:noFill/>
        </p:spPr>
        <p:txBody>
          <a:bodyPr wrap="square">
            <a:spAutoFit/>
          </a:bodyPr>
          <a:lstStyle/>
          <a:p>
            <a:pPr algn="l"/>
            <a:r>
              <a:rPr sz="1200" b="1" i="0">
                <a:solidFill>
                  <a:srgbClr val="F5A623"/>
                </a:solidFill>
              </a:rPr>
              <a:t>📤 Request</a:t>
            </a:r>
          </a:p>
        </p:txBody>
      </p:sp>
      <p:sp>
        <p:nvSpPr>
          <p:cNvPr id="51" name="TextBox 50"/>
          <p:cNvSpPr txBox="1"/>
          <p:nvPr/>
        </p:nvSpPr>
        <p:spPr>
          <a:xfrm>
            <a:off x="6473952" y="1783080"/>
            <a:ext cx="5394960" cy="2148840"/>
          </a:xfrm>
          <a:prstGeom prst="rect">
            <a:avLst/>
          </a:prstGeom>
          <a:noFill/>
        </p:spPr>
        <p:txBody>
          <a:bodyPr wrap="square">
            <a:spAutoFit/>
          </a:bodyPr>
          <a:lstStyle/>
          <a:p>
            <a:pPr algn="l"/>
            <a:r>
              <a:rPr sz="1050" b="0" i="0">
                <a:solidFill>
                  <a:srgbClr val="1B5E20"/>
                </a:solidFill>
              </a:rPr>
              <a:t>{
  "branchId":          "ae8f...",
  "budget":            5000,
  "mealType":          "dinner",
  "appetite":          "heavy",
  "peopleCount":       2,
  "fulfillmentType":   "dine-in",
  "dietaryPreferences":["halal"],
  "limit":             5
}</a:t>
            </a:r>
          </a:p>
        </p:txBody>
      </p:sp>
      <p:sp>
        <p:nvSpPr>
          <p:cNvPr id="52" name="Rectangle 51"/>
          <p:cNvSpPr/>
          <p:nvPr/>
        </p:nvSpPr>
        <p:spPr>
          <a:xfrm>
            <a:off x="6400800" y="4160520"/>
            <a:ext cx="5577840" cy="2331720"/>
          </a:xfrm>
          <a:prstGeom prst="rect">
            <a:avLst/>
          </a:prstGeom>
          <a:solidFill>
            <a:srgbClr val="FFFBF5"/>
          </a:solidFill>
          <a:ln w="1651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0800" y="4160520"/>
            <a:ext cx="5577840" cy="34747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92240" y="4206240"/>
            <a:ext cx="5394960" cy="274320"/>
          </a:xfrm>
          <a:prstGeom prst="rect">
            <a:avLst/>
          </a:prstGeom>
          <a:noFill/>
        </p:spPr>
        <p:txBody>
          <a:bodyPr wrap="square">
            <a:spAutoFit/>
          </a:bodyPr>
          <a:lstStyle/>
          <a:p>
            <a:pPr algn="l"/>
            <a:r>
              <a:rPr sz="1200" b="1" i="0">
                <a:solidFill>
                  <a:srgbClr val="FFFBF5"/>
                </a:solidFill>
              </a:rPr>
              <a:t>📥 AI Response (validated)</a:t>
            </a:r>
          </a:p>
        </p:txBody>
      </p:sp>
      <p:sp>
        <p:nvSpPr>
          <p:cNvPr id="55" name="TextBox 54"/>
          <p:cNvSpPr txBox="1"/>
          <p:nvPr/>
        </p:nvSpPr>
        <p:spPr>
          <a:xfrm>
            <a:off x="6473952" y="4526280"/>
            <a:ext cx="5394960" cy="1920240"/>
          </a:xfrm>
          <a:prstGeom prst="rect">
            <a:avLst/>
          </a:prstGeom>
          <a:noFill/>
        </p:spPr>
        <p:txBody>
          <a:bodyPr wrap="square">
            <a:spAutoFit/>
          </a:bodyPr>
          <a:lstStyle/>
          <a:p>
            <a:pPr algn="l"/>
            <a:r>
              <a:rPr sz="1050" b="0" i="0">
                <a:solidFill>
                  <a:srgbClr val="1B5E20"/>
                </a:solidFill>
              </a:rPr>
              <a:t>{
  "readyForSuggestions": true,
  "suggestions": [{
    "menuItemName": "Grilled Chicken Jollof",
    "price": 3500,
    "reason": "High-protein halal dinner, great value",
    "estimatedTotalCost": 7000,
    "optionalAddOns": ["Coleslaw", "Zobo Drink"]
  }]
}</a:t>
            </a:r>
          </a:p>
        </p:txBody>
      </p:sp>
      <p:sp>
        <p:nvSpPr>
          <p:cNvPr id="56" name="Rectangle 55"/>
          <p:cNvSpPr/>
          <p:nvPr/>
        </p:nvSpPr>
        <p:spPr>
          <a:xfrm>
            <a:off x="274320" y="6217920"/>
            <a:ext cx="5943600" cy="34747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47472" y="6254496"/>
            <a:ext cx="5760720" cy="274320"/>
          </a:xfrm>
          <a:prstGeom prst="rect">
            <a:avLst/>
          </a:prstGeom>
          <a:noFill/>
        </p:spPr>
        <p:txBody>
          <a:bodyPr wrap="square">
            <a:spAutoFit/>
          </a:bodyPr>
          <a:lstStyle/>
          <a:p>
            <a:pPr algn="l"/>
            <a:r>
              <a:rPr sz="1050" b="1" i="0">
                <a:solidFill>
                  <a:srgbClr val="F5A623"/>
                </a:solidFill>
              </a:rPr>
              <a:t>🛡️  Anti-Hallucination Guard: AI item IDs are validated against live DB — invalid IDs silently dropped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Analytics &amp; Reporting</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Real-time insights · RBAC-filtered · Exportable reports</a:t>
            </a:r>
          </a:p>
        </p:txBody>
      </p:sp>
      <p:sp>
        <p:nvSpPr>
          <p:cNvPr id="6" name="Rectangle 5"/>
          <p:cNvSpPr/>
          <p:nvPr/>
        </p:nvSpPr>
        <p:spPr>
          <a:xfrm>
            <a:off x="274320" y="1417320"/>
            <a:ext cx="1920240" cy="12344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444752"/>
            <a:ext cx="1920240" cy="475488"/>
          </a:xfrm>
          <a:prstGeom prst="rect">
            <a:avLst/>
          </a:prstGeom>
          <a:noFill/>
        </p:spPr>
        <p:txBody>
          <a:bodyPr wrap="square">
            <a:spAutoFit/>
          </a:bodyPr>
          <a:lstStyle/>
          <a:p>
            <a:pPr algn="ctr"/>
            <a:r>
              <a:rPr sz="2400" b="0" i="0">
                <a:solidFill>
                  <a:srgbClr val="2C1A0E"/>
                </a:solidFill>
              </a:rPr>
              <a:t>📦</a:t>
            </a:r>
          </a:p>
        </p:txBody>
      </p:sp>
      <p:sp>
        <p:nvSpPr>
          <p:cNvPr id="8" name="TextBox 7"/>
          <p:cNvSpPr txBox="1"/>
          <p:nvPr/>
        </p:nvSpPr>
        <p:spPr>
          <a:xfrm>
            <a:off x="274320" y="1920240"/>
            <a:ext cx="1920240" cy="310896"/>
          </a:xfrm>
          <a:prstGeom prst="rect">
            <a:avLst/>
          </a:prstGeom>
          <a:noFill/>
        </p:spPr>
        <p:txBody>
          <a:bodyPr wrap="square">
            <a:spAutoFit/>
          </a:bodyPr>
          <a:lstStyle/>
          <a:p>
            <a:pPr algn="ctr"/>
            <a:r>
              <a:rPr sz="1100" b="1" i="0">
                <a:solidFill>
                  <a:srgbClr val="2C1A0E"/>
                </a:solidFill>
              </a:rPr>
              <a:t>Total Orders</a:t>
            </a:r>
          </a:p>
        </p:txBody>
      </p:sp>
      <p:sp>
        <p:nvSpPr>
          <p:cNvPr id="9" name="TextBox 8"/>
          <p:cNvSpPr txBox="1"/>
          <p:nvPr/>
        </p:nvSpPr>
        <p:spPr>
          <a:xfrm>
            <a:off x="274320" y="2231136"/>
            <a:ext cx="1920240" cy="274320"/>
          </a:xfrm>
          <a:prstGeom prst="rect">
            <a:avLst/>
          </a:prstGeom>
          <a:noFill/>
        </p:spPr>
        <p:txBody>
          <a:bodyPr wrap="square">
            <a:spAutoFit/>
          </a:bodyPr>
          <a:lstStyle/>
          <a:p>
            <a:pPr algn="ctr"/>
            <a:r>
              <a:rPr sz="950" b="0" i="0">
                <a:solidFill>
                  <a:srgbClr val="B0A89E"/>
                </a:solidFill>
              </a:rPr>
              <a:t>By branch &amp; date range</a:t>
            </a:r>
          </a:p>
        </p:txBody>
      </p:sp>
      <p:sp>
        <p:nvSpPr>
          <p:cNvPr id="10" name="Rectangle 9"/>
          <p:cNvSpPr/>
          <p:nvPr/>
        </p:nvSpPr>
        <p:spPr>
          <a:xfrm>
            <a:off x="2286000" y="1417320"/>
            <a:ext cx="1920240" cy="12344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1444752"/>
            <a:ext cx="1920240" cy="475488"/>
          </a:xfrm>
          <a:prstGeom prst="rect">
            <a:avLst/>
          </a:prstGeom>
          <a:noFill/>
        </p:spPr>
        <p:txBody>
          <a:bodyPr wrap="square">
            <a:spAutoFit/>
          </a:bodyPr>
          <a:lstStyle/>
          <a:p>
            <a:pPr algn="ctr"/>
            <a:r>
              <a:rPr sz="2400" b="0" i="0">
                <a:solidFill>
                  <a:srgbClr val="2C1A0E"/>
                </a:solidFill>
              </a:rPr>
              <a:t>💰</a:t>
            </a:r>
          </a:p>
        </p:txBody>
      </p:sp>
      <p:sp>
        <p:nvSpPr>
          <p:cNvPr id="12" name="TextBox 11"/>
          <p:cNvSpPr txBox="1"/>
          <p:nvPr/>
        </p:nvSpPr>
        <p:spPr>
          <a:xfrm>
            <a:off x="2286000" y="1920240"/>
            <a:ext cx="1920240" cy="310896"/>
          </a:xfrm>
          <a:prstGeom prst="rect">
            <a:avLst/>
          </a:prstGeom>
          <a:noFill/>
        </p:spPr>
        <p:txBody>
          <a:bodyPr wrap="square">
            <a:spAutoFit/>
          </a:bodyPr>
          <a:lstStyle/>
          <a:p>
            <a:pPr algn="ctr"/>
            <a:r>
              <a:rPr sz="1100" b="1" i="0">
                <a:solidFill>
                  <a:srgbClr val="2C1A0E"/>
                </a:solidFill>
              </a:rPr>
              <a:t>Gross Revenue</a:t>
            </a:r>
          </a:p>
        </p:txBody>
      </p:sp>
      <p:sp>
        <p:nvSpPr>
          <p:cNvPr id="13" name="TextBox 12"/>
          <p:cNvSpPr txBox="1"/>
          <p:nvPr/>
        </p:nvSpPr>
        <p:spPr>
          <a:xfrm>
            <a:off x="2286000" y="2231136"/>
            <a:ext cx="1920240" cy="274320"/>
          </a:xfrm>
          <a:prstGeom prst="rect">
            <a:avLst/>
          </a:prstGeom>
          <a:noFill/>
        </p:spPr>
        <p:txBody>
          <a:bodyPr wrap="square">
            <a:spAutoFit/>
          </a:bodyPr>
          <a:lstStyle/>
          <a:p>
            <a:pPr algn="ctr"/>
            <a:r>
              <a:rPr sz="950" b="0" i="0">
                <a:solidFill>
                  <a:srgbClr val="B0A89E"/>
                </a:solidFill>
              </a:rPr>
              <a:t>Sum of completed orders</a:t>
            </a:r>
          </a:p>
        </p:txBody>
      </p:sp>
      <p:sp>
        <p:nvSpPr>
          <p:cNvPr id="14" name="Rectangle 13"/>
          <p:cNvSpPr/>
          <p:nvPr/>
        </p:nvSpPr>
        <p:spPr>
          <a:xfrm>
            <a:off x="4297680" y="1417320"/>
            <a:ext cx="1920240" cy="12344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1444752"/>
            <a:ext cx="1920240" cy="475488"/>
          </a:xfrm>
          <a:prstGeom prst="rect">
            <a:avLst/>
          </a:prstGeom>
          <a:noFill/>
        </p:spPr>
        <p:txBody>
          <a:bodyPr wrap="square">
            <a:spAutoFit/>
          </a:bodyPr>
          <a:lstStyle/>
          <a:p>
            <a:pPr algn="ctr"/>
            <a:r>
              <a:rPr sz="2400" b="0" i="0">
                <a:solidFill>
                  <a:srgbClr val="2C1A0E"/>
                </a:solidFill>
              </a:rPr>
              <a:t>⭐</a:t>
            </a:r>
          </a:p>
        </p:txBody>
      </p:sp>
      <p:sp>
        <p:nvSpPr>
          <p:cNvPr id="16" name="TextBox 15"/>
          <p:cNvSpPr txBox="1"/>
          <p:nvPr/>
        </p:nvSpPr>
        <p:spPr>
          <a:xfrm>
            <a:off x="4297680" y="1920240"/>
            <a:ext cx="1920240" cy="310896"/>
          </a:xfrm>
          <a:prstGeom prst="rect">
            <a:avLst/>
          </a:prstGeom>
          <a:noFill/>
        </p:spPr>
        <p:txBody>
          <a:bodyPr wrap="square">
            <a:spAutoFit/>
          </a:bodyPr>
          <a:lstStyle/>
          <a:p>
            <a:pPr algn="ctr"/>
            <a:r>
              <a:rPr sz="1100" b="1" i="0">
                <a:solidFill>
                  <a:srgbClr val="2C1A0E"/>
                </a:solidFill>
              </a:rPr>
              <a:t>Top Menu Items</a:t>
            </a:r>
          </a:p>
        </p:txBody>
      </p:sp>
      <p:sp>
        <p:nvSpPr>
          <p:cNvPr id="17" name="TextBox 16"/>
          <p:cNvSpPr txBox="1"/>
          <p:nvPr/>
        </p:nvSpPr>
        <p:spPr>
          <a:xfrm>
            <a:off x="4297680" y="2231136"/>
            <a:ext cx="1920240" cy="274320"/>
          </a:xfrm>
          <a:prstGeom prst="rect">
            <a:avLst/>
          </a:prstGeom>
          <a:noFill/>
        </p:spPr>
        <p:txBody>
          <a:bodyPr wrap="square">
            <a:spAutoFit/>
          </a:bodyPr>
          <a:lstStyle/>
          <a:p>
            <a:pPr algn="ctr"/>
            <a:r>
              <a:rPr sz="950" b="0" i="0">
                <a:solidFill>
                  <a:srgbClr val="B0A89E"/>
                </a:solidFill>
              </a:rPr>
              <a:t>By quantity &amp; revenue</a:t>
            </a:r>
          </a:p>
        </p:txBody>
      </p:sp>
      <p:sp>
        <p:nvSpPr>
          <p:cNvPr id="18" name="Rectangle 17"/>
          <p:cNvSpPr/>
          <p:nvPr/>
        </p:nvSpPr>
        <p:spPr>
          <a:xfrm>
            <a:off x="6309360" y="1417320"/>
            <a:ext cx="1920240" cy="12344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444752"/>
            <a:ext cx="1920240" cy="475488"/>
          </a:xfrm>
          <a:prstGeom prst="rect">
            <a:avLst/>
          </a:prstGeom>
          <a:noFill/>
        </p:spPr>
        <p:txBody>
          <a:bodyPr wrap="square">
            <a:spAutoFit/>
          </a:bodyPr>
          <a:lstStyle/>
          <a:p>
            <a:pPr algn="ctr"/>
            <a:r>
              <a:rPr sz="2400" b="0" i="0">
                <a:solidFill>
                  <a:srgbClr val="2C1A0E"/>
                </a:solidFill>
              </a:rPr>
              <a:t>⏱️</a:t>
            </a:r>
          </a:p>
        </p:txBody>
      </p:sp>
      <p:sp>
        <p:nvSpPr>
          <p:cNvPr id="20" name="TextBox 19"/>
          <p:cNvSpPr txBox="1"/>
          <p:nvPr/>
        </p:nvSpPr>
        <p:spPr>
          <a:xfrm>
            <a:off x="6309360" y="1920240"/>
            <a:ext cx="1920240" cy="310896"/>
          </a:xfrm>
          <a:prstGeom prst="rect">
            <a:avLst/>
          </a:prstGeom>
          <a:noFill/>
        </p:spPr>
        <p:txBody>
          <a:bodyPr wrap="square">
            <a:spAutoFit/>
          </a:bodyPr>
          <a:lstStyle/>
          <a:p>
            <a:pPr algn="ctr"/>
            <a:r>
              <a:rPr sz="1100" b="1" i="0">
                <a:solidFill>
                  <a:srgbClr val="2C1A0E"/>
                </a:solidFill>
              </a:rPr>
              <a:t>Avg Fulfilment</a:t>
            </a:r>
          </a:p>
        </p:txBody>
      </p:sp>
      <p:sp>
        <p:nvSpPr>
          <p:cNvPr id="21" name="TextBox 20"/>
          <p:cNvSpPr txBox="1"/>
          <p:nvPr/>
        </p:nvSpPr>
        <p:spPr>
          <a:xfrm>
            <a:off x="6309360" y="2231136"/>
            <a:ext cx="1920240" cy="274320"/>
          </a:xfrm>
          <a:prstGeom prst="rect">
            <a:avLst/>
          </a:prstGeom>
          <a:noFill/>
        </p:spPr>
        <p:txBody>
          <a:bodyPr wrap="square">
            <a:spAutoFit/>
          </a:bodyPr>
          <a:lstStyle/>
          <a:p>
            <a:pPr algn="ctr"/>
            <a:r>
              <a:rPr sz="950" b="0" i="0">
                <a:solidFill>
                  <a:srgbClr val="B0A89E"/>
                </a:solidFill>
              </a:rPr>
              <a:t>SLA compliance %</a:t>
            </a:r>
          </a:p>
        </p:txBody>
      </p:sp>
      <p:sp>
        <p:nvSpPr>
          <p:cNvPr id="22" name="Rectangle 21"/>
          <p:cNvSpPr/>
          <p:nvPr/>
        </p:nvSpPr>
        <p:spPr>
          <a:xfrm>
            <a:off x="8321040" y="1417320"/>
            <a:ext cx="1920240" cy="12344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1444752"/>
            <a:ext cx="1920240" cy="475488"/>
          </a:xfrm>
          <a:prstGeom prst="rect">
            <a:avLst/>
          </a:prstGeom>
          <a:noFill/>
        </p:spPr>
        <p:txBody>
          <a:bodyPr wrap="square">
            <a:spAutoFit/>
          </a:bodyPr>
          <a:lstStyle/>
          <a:p>
            <a:pPr algn="ctr"/>
            <a:r>
              <a:rPr sz="2400" b="0" i="0">
                <a:solidFill>
                  <a:srgbClr val="2C1A0E"/>
                </a:solidFill>
              </a:rPr>
              <a:t>📊</a:t>
            </a:r>
          </a:p>
        </p:txBody>
      </p:sp>
      <p:sp>
        <p:nvSpPr>
          <p:cNvPr id="24" name="TextBox 23"/>
          <p:cNvSpPr txBox="1"/>
          <p:nvPr/>
        </p:nvSpPr>
        <p:spPr>
          <a:xfrm>
            <a:off x="8321040" y="1920240"/>
            <a:ext cx="1920240" cy="310896"/>
          </a:xfrm>
          <a:prstGeom prst="rect">
            <a:avLst/>
          </a:prstGeom>
          <a:noFill/>
        </p:spPr>
        <p:txBody>
          <a:bodyPr wrap="square">
            <a:spAutoFit/>
          </a:bodyPr>
          <a:lstStyle/>
          <a:p>
            <a:pPr algn="ctr"/>
            <a:r>
              <a:rPr sz="1100" b="1" i="0">
                <a:solidFill>
                  <a:srgbClr val="2C1A0E"/>
                </a:solidFill>
              </a:rPr>
              <a:t>Daily Summary</a:t>
            </a:r>
          </a:p>
        </p:txBody>
      </p:sp>
      <p:sp>
        <p:nvSpPr>
          <p:cNvPr id="25" name="TextBox 24"/>
          <p:cNvSpPr txBox="1"/>
          <p:nvPr/>
        </p:nvSpPr>
        <p:spPr>
          <a:xfrm>
            <a:off x="8321040" y="2231136"/>
            <a:ext cx="1920240" cy="274320"/>
          </a:xfrm>
          <a:prstGeom prst="rect">
            <a:avLst/>
          </a:prstGeom>
          <a:noFill/>
        </p:spPr>
        <p:txBody>
          <a:bodyPr wrap="square">
            <a:spAutoFit/>
          </a:bodyPr>
          <a:lstStyle/>
          <a:p>
            <a:pPr algn="ctr"/>
            <a:r>
              <a:rPr sz="950" b="0" i="0">
                <a:solidFill>
                  <a:srgbClr val="B0A89E"/>
                </a:solidFill>
              </a:rPr>
              <a:t>Trend &amp; peak hours</a:t>
            </a:r>
          </a:p>
        </p:txBody>
      </p:sp>
      <p:sp>
        <p:nvSpPr>
          <p:cNvPr id="26" name="Rectangle 25"/>
          <p:cNvSpPr/>
          <p:nvPr/>
        </p:nvSpPr>
        <p:spPr>
          <a:xfrm>
            <a:off x="10332720" y="1417320"/>
            <a:ext cx="1920240" cy="123444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0" y="1444752"/>
            <a:ext cx="1920240" cy="475488"/>
          </a:xfrm>
          <a:prstGeom prst="rect">
            <a:avLst/>
          </a:prstGeom>
          <a:noFill/>
        </p:spPr>
        <p:txBody>
          <a:bodyPr wrap="square">
            <a:spAutoFit/>
          </a:bodyPr>
          <a:lstStyle/>
          <a:p>
            <a:pPr algn="ctr"/>
            <a:r>
              <a:rPr sz="2400" b="0" i="0">
                <a:solidFill>
                  <a:srgbClr val="2C1A0E"/>
                </a:solidFill>
              </a:rPr>
              <a:t>🔁</a:t>
            </a:r>
          </a:p>
        </p:txBody>
      </p:sp>
      <p:sp>
        <p:nvSpPr>
          <p:cNvPr id="28" name="TextBox 27"/>
          <p:cNvSpPr txBox="1"/>
          <p:nvPr/>
        </p:nvSpPr>
        <p:spPr>
          <a:xfrm>
            <a:off x="10332720" y="1920240"/>
            <a:ext cx="1920240" cy="310896"/>
          </a:xfrm>
          <a:prstGeom prst="rect">
            <a:avLst/>
          </a:prstGeom>
          <a:noFill/>
        </p:spPr>
        <p:txBody>
          <a:bodyPr wrap="square">
            <a:spAutoFit/>
          </a:bodyPr>
          <a:lstStyle/>
          <a:p>
            <a:pPr algn="ctr"/>
            <a:r>
              <a:rPr sz="1100" b="1" i="0">
                <a:solidFill>
                  <a:srgbClr val="2C1A0E"/>
                </a:solidFill>
              </a:rPr>
              <a:t>Item Analytics</a:t>
            </a:r>
          </a:p>
        </p:txBody>
      </p:sp>
      <p:sp>
        <p:nvSpPr>
          <p:cNvPr id="29" name="TextBox 28"/>
          <p:cNvSpPr txBox="1"/>
          <p:nvPr/>
        </p:nvSpPr>
        <p:spPr>
          <a:xfrm>
            <a:off x="10332720" y="2231136"/>
            <a:ext cx="1920240" cy="274320"/>
          </a:xfrm>
          <a:prstGeom prst="rect">
            <a:avLst/>
          </a:prstGeom>
          <a:noFill/>
        </p:spPr>
        <p:txBody>
          <a:bodyPr wrap="square">
            <a:spAutoFit/>
          </a:bodyPr>
          <a:lstStyle/>
          <a:p>
            <a:pPr algn="ctr"/>
            <a:r>
              <a:rPr sz="950" b="0" i="0">
                <a:solidFill>
                  <a:srgbClr val="B0A89E"/>
                </a:solidFill>
              </a:rPr>
              <a:t>Per-item performance</a:t>
            </a:r>
          </a:p>
        </p:txBody>
      </p:sp>
      <p:sp>
        <p:nvSpPr>
          <p:cNvPr id="30" name="Rectangle 29"/>
          <p:cNvSpPr/>
          <p:nvPr/>
        </p:nvSpPr>
        <p:spPr>
          <a:xfrm>
            <a:off x="274320" y="2834640"/>
            <a:ext cx="5303520" cy="3657600"/>
          </a:xfrm>
          <a:prstGeom prst="rect">
            <a:avLst/>
          </a:prstGeom>
          <a:solidFill>
            <a:srgbClr val="FFFBF5"/>
          </a:solidFill>
          <a:ln w="1651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2834640"/>
            <a:ext cx="530352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 y="2889504"/>
            <a:ext cx="5029200" cy="329184"/>
          </a:xfrm>
          <a:prstGeom prst="rect">
            <a:avLst/>
          </a:prstGeom>
          <a:noFill/>
        </p:spPr>
        <p:txBody>
          <a:bodyPr wrap="square">
            <a:spAutoFit/>
          </a:bodyPr>
          <a:lstStyle/>
          <a:p>
            <a:pPr algn="l"/>
            <a:r>
              <a:rPr sz="1300" b="1" i="0">
                <a:solidFill>
                  <a:srgbClr val="FFFBF5"/>
                </a:solidFill>
              </a:rPr>
              <a:t>📐  Data Model</a:t>
            </a:r>
          </a:p>
        </p:txBody>
      </p:sp>
      <p:sp>
        <p:nvSpPr>
          <p:cNvPr id="33" name="Rectangle 32"/>
          <p:cNvSpPr/>
          <p:nvPr/>
        </p:nvSpPr>
        <p:spPr>
          <a:xfrm>
            <a:off x="292608" y="3337560"/>
            <a:ext cx="5266944" cy="621792"/>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3392424"/>
            <a:ext cx="2011680" cy="256032"/>
          </a:xfrm>
          <a:prstGeom prst="rect">
            <a:avLst/>
          </a:prstGeom>
          <a:noFill/>
        </p:spPr>
        <p:txBody>
          <a:bodyPr wrap="square">
            <a:spAutoFit/>
          </a:bodyPr>
          <a:lstStyle/>
          <a:p>
            <a:pPr algn="l"/>
            <a:r>
              <a:rPr sz="1150" b="1" i="0">
                <a:solidFill>
                  <a:srgbClr val="1A5C99"/>
                </a:solidFill>
              </a:rPr>
              <a:t>OrderAnalytics</a:t>
            </a:r>
          </a:p>
        </p:txBody>
      </p:sp>
      <p:sp>
        <p:nvSpPr>
          <p:cNvPr id="35" name="TextBox 34"/>
          <p:cNvSpPr txBox="1"/>
          <p:nvPr/>
        </p:nvSpPr>
        <p:spPr>
          <a:xfrm>
            <a:off x="384048" y="3666744"/>
            <a:ext cx="5074920" cy="256032"/>
          </a:xfrm>
          <a:prstGeom prst="rect">
            <a:avLst/>
          </a:prstGeom>
          <a:noFill/>
        </p:spPr>
        <p:txBody>
          <a:bodyPr wrap="square">
            <a:spAutoFit/>
          </a:bodyPr>
          <a:lstStyle/>
          <a:p>
            <a:pPr algn="l"/>
            <a:r>
              <a:rPr sz="1100" b="0" i="0">
                <a:solidFill>
                  <a:srgbClr val="3D3D3D"/>
                </a:solidFill>
              </a:rPr>
              <a:t>Order-level: total, item count, fulfilment time, status</a:t>
            </a:r>
          </a:p>
        </p:txBody>
      </p:sp>
      <p:sp>
        <p:nvSpPr>
          <p:cNvPr id="36" name="Rectangle 35"/>
          <p:cNvSpPr/>
          <p:nvPr/>
        </p:nvSpPr>
        <p:spPr>
          <a:xfrm>
            <a:off x="292608" y="3959352"/>
            <a:ext cx="5266944"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3977640"/>
            <a:ext cx="5266944" cy="621792"/>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4032504"/>
            <a:ext cx="2011680" cy="256032"/>
          </a:xfrm>
          <a:prstGeom prst="rect">
            <a:avLst/>
          </a:prstGeom>
          <a:noFill/>
        </p:spPr>
        <p:txBody>
          <a:bodyPr wrap="square">
            <a:spAutoFit/>
          </a:bodyPr>
          <a:lstStyle/>
          <a:p>
            <a:pPr algn="l"/>
            <a:r>
              <a:rPr sz="1150" b="1" i="0">
                <a:solidFill>
                  <a:srgbClr val="1A5C99"/>
                </a:solidFill>
              </a:rPr>
              <a:t>OrderItemAnalytics</a:t>
            </a:r>
          </a:p>
        </p:txBody>
      </p:sp>
      <p:sp>
        <p:nvSpPr>
          <p:cNvPr id="39" name="TextBox 38"/>
          <p:cNvSpPr txBox="1"/>
          <p:nvPr/>
        </p:nvSpPr>
        <p:spPr>
          <a:xfrm>
            <a:off x="384048" y="4306824"/>
            <a:ext cx="5074920" cy="256032"/>
          </a:xfrm>
          <a:prstGeom prst="rect">
            <a:avLst/>
          </a:prstGeom>
          <a:noFill/>
        </p:spPr>
        <p:txBody>
          <a:bodyPr wrap="square">
            <a:spAutoFit/>
          </a:bodyPr>
          <a:lstStyle/>
          <a:p>
            <a:pPr algn="l"/>
            <a:r>
              <a:rPr sz="1100" b="0" i="0">
                <a:solidFill>
                  <a:srgbClr val="3D3D3D"/>
                </a:solidFill>
              </a:rPr>
              <a:t>Per-item: quantity, revenue, category, branch, date</a:t>
            </a:r>
          </a:p>
        </p:txBody>
      </p:sp>
      <p:sp>
        <p:nvSpPr>
          <p:cNvPr id="40" name="Rectangle 39"/>
          <p:cNvSpPr/>
          <p:nvPr/>
        </p:nvSpPr>
        <p:spPr>
          <a:xfrm>
            <a:off x="292608" y="4599432"/>
            <a:ext cx="5266944"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2608" y="4617720"/>
            <a:ext cx="5266944" cy="621792"/>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4048" y="4672584"/>
            <a:ext cx="2011680" cy="256032"/>
          </a:xfrm>
          <a:prstGeom prst="rect">
            <a:avLst/>
          </a:prstGeom>
          <a:noFill/>
        </p:spPr>
        <p:txBody>
          <a:bodyPr wrap="square">
            <a:spAutoFit/>
          </a:bodyPr>
          <a:lstStyle/>
          <a:p>
            <a:pPr algn="l"/>
            <a:r>
              <a:rPr sz="1150" b="1" i="0">
                <a:solidFill>
                  <a:srgbClr val="1A5C99"/>
                </a:solidFill>
              </a:rPr>
              <a:t>BranchDailySummary</a:t>
            </a:r>
          </a:p>
        </p:txBody>
      </p:sp>
      <p:sp>
        <p:nvSpPr>
          <p:cNvPr id="43" name="TextBox 42"/>
          <p:cNvSpPr txBox="1"/>
          <p:nvPr/>
        </p:nvSpPr>
        <p:spPr>
          <a:xfrm>
            <a:off x="384048" y="4946904"/>
            <a:ext cx="5074920" cy="256032"/>
          </a:xfrm>
          <a:prstGeom prst="rect">
            <a:avLst/>
          </a:prstGeom>
          <a:noFill/>
        </p:spPr>
        <p:txBody>
          <a:bodyPr wrap="square">
            <a:spAutoFit/>
          </a:bodyPr>
          <a:lstStyle/>
          <a:p>
            <a:pPr algn="l"/>
            <a:r>
              <a:rPr sz="1100" b="0" i="0">
                <a:solidFill>
                  <a:srgbClr val="3D3D3D"/>
                </a:solidFill>
              </a:rPr>
              <a:t>Daily rollup: orders, revenue, avg time, SLA rate</a:t>
            </a:r>
          </a:p>
        </p:txBody>
      </p:sp>
      <p:sp>
        <p:nvSpPr>
          <p:cNvPr id="44" name="Rectangle 43"/>
          <p:cNvSpPr/>
          <p:nvPr/>
        </p:nvSpPr>
        <p:spPr>
          <a:xfrm>
            <a:off x="292608" y="5239512"/>
            <a:ext cx="5266944"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92608" y="5257800"/>
            <a:ext cx="5266944" cy="621792"/>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5312664"/>
            <a:ext cx="2011680" cy="256032"/>
          </a:xfrm>
          <a:prstGeom prst="rect">
            <a:avLst/>
          </a:prstGeom>
          <a:noFill/>
        </p:spPr>
        <p:txBody>
          <a:bodyPr wrap="square">
            <a:spAutoFit/>
          </a:bodyPr>
          <a:lstStyle/>
          <a:p>
            <a:pPr algn="l"/>
            <a:r>
              <a:rPr sz="1150" b="1" i="0">
                <a:solidFill>
                  <a:srgbClr val="1A5C99"/>
                </a:solidFill>
              </a:rPr>
              <a:t>Report</a:t>
            </a:r>
          </a:p>
        </p:txBody>
      </p:sp>
      <p:sp>
        <p:nvSpPr>
          <p:cNvPr id="47" name="TextBox 46"/>
          <p:cNvSpPr txBox="1"/>
          <p:nvPr/>
        </p:nvSpPr>
        <p:spPr>
          <a:xfrm>
            <a:off x="384048" y="5586984"/>
            <a:ext cx="5074920" cy="256032"/>
          </a:xfrm>
          <a:prstGeom prst="rect">
            <a:avLst/>
          </a:prstGeom>
          <a:noFill/>
        </p:spPr>
        <p:txBody>
          <a:bodyPr wrap="square">
            <a:spAutoFit/>
          </a:bodyPr>
          <a:lstStyle/>
          <a:p>
            <a:pPr algn="l"/>
            <a:r>
              <a:rPr sz="1100" b="0" i="0">
                <a:solidFill>
                  <a:srgbClr val="3D3D3D"/>
                </a:solidFill>
              </a:rPr>
              <a:t>Saved snapshots: params, format, generated date</a:t>
            </a:r>
          </a:p>
        </p:txBody>
      </p:sp>
      <p:sp>
        <p:nvSpPr>
          <p:cNvPr id="48" name="Rectangle 47"/>
          <p:cNvSpPr/>
          <p:nvPr/>
        </p:nvSpPr>
        <p:spPr>
          <a:xfrm>
            <a:off x="292608" y="5879592"/>
            <a:ext cx="5266944"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852160" y="2834640"/>
            <a:ext cx="2834640" cy="3657600"/>
          </a:xfrm>
          <a:prstGeom prst="rect">
            <a:avLst/>
          </a:prstGeom>
          <a:solidFill>
            <a:srgbClr val="FFFBF5"/>
          </a:solidFill>
          <a:ln w="1651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52160" y="2834640"/>
            <a:ext cx="2834640" cy="420624"/>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89320" y="2889504"/>
            <a:ext cx="2651760" cy="329184"/>
          </a:xfrm>
          <a:prstGeom prst="rect">
            <a:avLst/>
          </a:prstGeom>
          <a:noFill/>
        </p:spPr>
        <p:txBody>
          <a:bodyPr wrap="square">
            <a:spAutoFit/>
          </a:bodyPr>
          <a:lstStyle/>
          <a:p>
            <a:pPr algn="ctr"/>
            <a:r>
              <a:rPr sz="1300" b="1" i="0">
                <a:solidFill>
                  <a:srgbClr val="FFFBF5"/>
                </a:solidFill>
              </a:rPr>
              <a:t>📄 Reports</a:t>
            </a:r>
          </a:p>
        </p:txBody>
      </p:sp>
      <p:sp>
        <p:nvSpPr>
          <p:cNvPr id="52" name="Rectangle 51"/>
          <p:cNvSpPr/>
          <p:nvPr/>
        </p:nvSpPr>
        <p:spPr>
          <a:xfrm>
            <a:off x="5980176" y="3419856"/>
            <a:ext cx="91440" cy="9144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44768" y="3337560"/>
            <a:ext cx="2377440" cy="274320"/>
          </a:xfrm>
          <a:prstGeom prst="rect">
            <a:avLst/>
          </a:prstGeom>
          <a:noFill/>
        </p:spPr>
        <p:txBody>
          <a:bodyPr wrap="square">
            <a:spAutoFit/>
          </a:bodyPr>
          <a:lstStyle/>
          <a:p>
            <a:pPr algn="l"/>
            <a:r>
              <a:rPr sz="1150" b="0" i="0">
                <a:solidFill>
                  <a:srgbClr val="3D3D3D"/>
                </a:solidFill>
              </a:rPr>
              <a:t>PDF summary</a:t>
            </a:r>
          </a:p>
        </p:txBody>
      </p:sp>
      <p:sp>
        <p:nvSpPr>
          <p:cNvPr id="54" name="Rectangle 53"/>
          <p:cNvSpPr/>
          <p:nvPr/>
        </p:nvSpPr>
        <p:spPr>
          <a:xfrm>
            <a:off x="5980176" y="3913632"/>
            <a:ext cx="91440" cy="9144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44768" y="3831336"/>
            <a:ext cx="2377440" cy="274320"/>
          </a:xfrm>
          <a:prstGeom prst="rect">
            <a:avLst/>
          </a:prstGeom>
          <a:noFill/>
        </p:spPr>
        <p:txBody>
          <a:bodyPr wrap="square">
            <a:spAutoFit/>
          </a:bodyPr>
          <a:lstStyle/>
          <a:p>
            <a:pPr algn="l"/>
            <a:r>
              <a:rPr sz="1150" b="0" i="0">
                <a:solidFill>
                  <a:srgbClr val="3D3D3D"/>
                </a:solidFill>
              </a:rPr>
              <a:t>CSV export</a:t>
            </a:r>
          </a:p>
        </p:txBody>
      </p:sp>
      <p:sp>
        <p:nvSpPr>
          <p:cNvPr id="56" name="Rectangle 55"/>
          <p:cNvSpPr/>
          <p:nvPr/>
        </p:nvSpPr>
        <p:spPr>
          <a:xfrm>
            <a:off x="5980176" y="4407408"/>
            <a:ext cx="91440" cy="9144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44768" y="4325112"/>
            <a:ext cx="2377440" cy="274320"/>
          </a:xfrm>
          <a:prstGeom prst="rect">
            <a:avLst/>
          </a:prstGeom>
          <a:noFill/>
        </p:spPr>
        <p:txBody>
          <a:bodyPr wrap="square">
            <a:spAutoFit/>
          </a:bodyPr>
          <a:lstStyle/>
          <a:p>
            <a:pPr algn="l"/>
            <a:r>
              <a:rPr sz="1150" b="0" i="0">
                <a:solidFill>
                  <a:srgbClr val="3D3D3D"/>
                </a:solidFill>
              </a:rPr>
              <a:t>Excel workbook</a:t>
            </a:r>
          </a:p>
        </p:txBody>
      </p:sp>
      <p:sp>
        <p:nvSpPr>
          <p:cNvPr id="58" name="Rectangle 57"/>
          <p:cNvSpPr/>
          <p:nvPr/>
        </p:nvSpPr>
        <p:spPr>
          <a:xfrm>
            <a:off x="5980176" y="4901184"/>
            <a:ext cx="91440" cy="9144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44768" y="4818888"/>
            <a:ext cx="2377440" cy="274320"/>
          </a:xfrm>
          <a:prstGeom prst="rect">
            <a:avLst/>
          </a:prstGeom>
          <a:noFill/>
        </p:spPr>
        <p:txBody>
          <a:bodyPr wrap="square">
            <a:spAutoFit/>
          </a:bodyPr>
          <a:lstStyle/>
          <a:p>
            <a:pPr algn="l"/>
            <a:r>
              <a:rPr sz="1150" b="0" i="0">
                <a:solidFill>
                  <a:srgbClr val="3D3D3D"/>
                </a:solidFill>
              </a:rPr>
              <a:t>Date range filter</a:t>
            </a:r>
          </a:p>
        </p:txBody>
      </p:sp>
      <p:sp>
        <p:nvSpPr>
          <p:cNvPr id="60" name="Rectangle 59"/>
          <p:cNvSpPr/>
          <p:nvPr/>
        </p:nvSpPr>
        <p:spPr>
          <a:xfrm>
            <a:off x="5980176" y="5394960"/>
            <a:ext cx="91440" cy="9144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44768" y="5312664"/>
            <a:ext cx="2377440" cy="274320"/>
          </a:xfrm>
          <a:prstGeom prst="rect">
            <a:avLst/>
          </a:prstGeom>
          <a:noFill/>
        </p:spPr>
        <p:txBody>
          <a:bodyPr wrap="square">
            <a:spAutoFit/>
          </a:bodyPr>
          <a:lstStyle/>
          <a:p>
            <a:pPr algn="l"/>
            <a:r>
              <a:rPr sz="1150" b="0" i="0">
                <a:solidFill>
                  <a:srgbClr val="3D3D3D"/>
                </a:solidFill>
              </a:rPr>
              <a:t>Branch filter</a:t>
            </a:r>
          </a:p>
        </p:txBody>
      </p:sp>
      <p:sp>
        <p:nvSpPr>
          <p:cNvPr id="62" name="Rectangle 61"/>
          <p:cNvSpPr/>
          <p:nvPr/>
        </p:nvSpPr>
        <p:spPr>
          <a:xfrm>
            <a:off x="5980176" y="5888736"/>
            <a:ext cx="91440" cy="91440"/>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44768" y="5806440"/>
            <a:ext cx="2377440" cy="274320"/>
          </a:xfrm>
          <a:prstGeom prst="rect">
            <a:avLst/>
          </a:prstGeom>
          <a:noFill/>
        </p:spPr>
        <p:txBody>
          <a:bodyPr wrap="square">
            <a:spAutoFit/>
          </a:bodyPr>
          <a:lstStyle/>
          <a:p>
            <a:pPr algn="l"/>
            <a:r>
              <a:rPr sz="1150" b="0" i="0">
                <a:solidFill>
                  <a:srgbClr val="3D3D3D"/>
                </a:solidFill>
              </a:rPr>
              <a:t>Scheduled reports</a:t>
            </a:r>
          </a:p>
        </p:txBody>
      </p:sp>
      <p:sp>
        <p:nvSpPr>
          <p:cNvPr id="64" name="Rectangle 63"/>
          <p:cNvSpPr/>
          <p:nvPr/>
        </p:nvSpPr>
        <p:spPr>
          <a:xfrm>
            <a:off x="8915400" y="2834640"/>
            <a:ext cx="3017520" cy="3657600"/>
          </a:xfrm>
          <a:prstGeom prst="rect">
            <a:avLst/>
          </a:prstGeom>
          <a:solidFill>
            <a:srgbClr val="FFFBF5"/>
          </a:solidFill>
          <a:ln w="1651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915400" y="2834640"/>
            <a:ext cx="3017520" cy="42062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052560" y="2889504"/>
            <a:ext cx="2834640" cy="329184"/>
          </a:xfrm>
          <a:prstGeom prst="rect">
            <a:avLst/>
          </a:prstGeom>
          <a:noFill/>
        </p:spPr>
        <p:txBody>
          <a:bodyPr wrap="square">
            <a:spAutoFit/>
          </a:bodyPr>
          <a:lstStyle/>
          <a:p>
            <a:pPr algn="ctr"/>
            <a:r>
              <a:rPr sz="1300" b="1" i="0">
                <a:solidFill>
                  <a:srgbClr val="FFFBF5"/>
                </a:solidFill>
              </a:rPr>
              <a:t>🔐 RBAC Filtering</a:t>
            </a:r>
          </a:p>
        </p:txBody>
      </p:sp>
      <p:sp>
        <p:nvSpPr>
          <p:cNvPr id="67" name="Rectangle 66"/>
          <p:cNvSpPr/>
          <p:nvPr/>
        </p:nvSpPr>
        <p:spPr>
          <a:xfrm>
            <a:off x="8933688" y="3337560"/>
            <a:ext cx="2980944" cy="73152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34272" y="3392424"/>
            <a:ext cx="1463040" cy="274320"/>
          </a:xfrm>
          <a:prstGeom prst="rect">
            <a:avLst/>
          </a:prstGeom>
          <a:noFill/>
        </p:spPr>
        <p:txBody>
          <a:bodyPr wrap="square">
            <a:spAutoFit/>
          </a:bodyPr>
          <a:lstStyle/>
          <a:p>
            <a:pPr algn="l"/>
            <a:r>
              <a:rPr sz="1100" b="1" i="0">
                <a:solidFill>
                  <a:srgbClr val="C62828"/>
                </a:solidFill>
              </a:rPr>
              <a:t>CUSTOMER</a:t>
            </a:r>
          </a:p>
        </p:txBody>
      </p:sp>
      <p:sp>
        <p:nvSpPr>
          <p:cNvPr id="69" name="TextBox 68"/>
          <p:cNvSpPr txBox="1"/>
          <p:nvPr/>
        </p:nvSpPr>
        <p:spPr>
          <a:xfrm>
            <a:off x="9034272" y="3721608"/>
            <a:ext cx="2743200" cy="274320"/>
          </a:xfrm>
          <a:prstGeom prst="rect">
            <a:avLst/>
          </a:prstGeom>
          <a:noFill/>
        </p:spPr>
        <p:txBody>
          <a:bodyPr wrap="square">
            <a:spAutoFit/>
          </a:bodyPr>
          <a:lstStyle/>
          <a:p>
            <a:pPr algn="l"/>
            <a:r>
              <a:rPr sz="1100" b="0" i="0">
                <a:solidFill>
                  <a:srgbClr val="3D3D3D"/>
                </a:solidFill>
              </a:rPr>
              <a:t>Own orders only</a:t>
            </a:r>
          </a:p>
        </p:txBody>
      </p:sp>
      <p:sp>
        <p:nvSpPr>
          <p:cNvPr id="70" name="Rectangle 69"/>
          <p:cNvSpPr/>
          <p:nvPr/>
        </p:nvSpPr>
        <p:spPr>
          <a:xfrm>
            <a:off x="8933688" y="4087368"/>
            <a:ext cx="2980944" cy="731520"/>
          </a:xfrm>
          <a:prstGeom prst="rect">
            <a:avLst/>
          </a:prstGeom>
          <a:solidFill>
            <a:srgbClr val="FDF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34272" y="4142232"/>
            <a:ext cx="1463040" cy="274320"/>
          </a:xfrm>
          <a:prstGeom prst="rect">
            <a:avLst/>
          </a:prstGeom>
          <a:noFill/>
        </p:spPr>
        <p:txBody>
          <a:bodyPr wrap="square">
            <a:spAutoFit/>
          </a:bodyPr>
          <a:lstStyle/>
          <a:p>
            <a:pPr algn="l"/>
            <a:r>
              <a:rPr sz="1100" b="1" i="0">
                <a:solidFill>
                  <a:srgbClr val="C62828"/>
                </a:solidFill>
              </a:rPr>
              <a:t>KITCHEN</a:t>
            </a:r>
          </a:p>
        </p:txBody>
      </p:sp>
      <p:sp>
        <p:nvSpPr>
          <p:cNvPr id="72" name="TextBox 71"/>
          <p:cNvSpPr txBox="1"/>
          <p:nvPr/>
        </p:nvSpPr>
        <p:spPr>
          <a:xfrm>
            <a:off x="9034272" y="4471416"/>
            <a:ext cx="2743200" cy="274320"/>
          </a:xfrm>
          <a:prstGeom prst="rect">
            <a:avLst/>
          </a:prstGeom>
          <a:noFill/>
        </p:spPr>
        <p:txBody>
          <a:bodyPr wrap="square">
            <a:spAutoFit/>
          </a:bodyPr>
          <a:lstStyle/>
          <a:p>
            <a:pPr algn="l"/>
            <a:r>
              <a:rPr sz="1100" b="0" i="0">
                <a:solidFill>
                  <a:srgbClr val="3D3D3D"/>
                </a:solidFill>
              </a:rPr>
              <a:t>Branch queue only</a:t>
            </a:r>
          </a:p>
        </p:txBody>
      </p:sp>
      <p:sp>
        <p:nvSpPr>
          <p:cNvPr id="73" name="Rectangle 72"/>
          <p:cNvSpPr/>
          <p:nvPr/>
        </p:nvSpPr>
        <p:spPr>
          <a:xfrm>
            <a:off x="8933688" y="4837176"/>
            <a:ext cx="2980944" cy="731520"/>
          </a:xfrm>
          <a:prstGeom prst="rect">
            <a:avLst/>
          </a:prstGeom>
          <a:solidFill>
            <a:srgbClr val="FFF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34272" y="4892040"/>
            <a:ext cx="1463040" cy="274320"/>
          </a:xfrm>
          <a:prstGeom prst="rect">
            <a:avLst/>
          </a:prstGeom>
          <a:noFill/>
        </p:spPr>
        <p:txBody>
          <a:bodyPr wrap="square">
            <a:spAutoFit/>
          </a:bodyPr>
          <a:lstStyle/>
          <a:p>
            <a:pPr algn="l"/>
            <a:r>
              <a:rPr sz="1100" b="1" i="0">
                <a:solidFill>
                  <a:srgbClr val="C62828"/>
                </a:solidFill>
              </a:rPr>
              <a:t>BRANCH MGR</a:t>
            </a:r>
          </a:p>
        </p:txBody>
      </p:sp>
      <p:sp>
        <p:nvSpPr>
          <p:cNvPr id="75" name="TextBox 74"/>
          <p:cNvSpPr txBox="1"/>
          <p:nvPr/>
        </p:nvSpPr>
        <p:spPr>
          <a:xfrm>
            <a:off x="9034272" y="5221224"/>
            <a:ext cx="2743200" cy="274320"/>
          </a:xfrm>
          <a:prstGeom prst="rect">
            <a:avLst/>
          </a:prstGeom>
          <a:noFill/>
        </p:spPr>
        <p:txBody>
          <a:bodyPr wrap="square">
            <a:spAutoFit/>
          </a:bodyPr>
          <a:lstStyle/>
          <a:p>
            <a:pPr algn="l"/>
            <a:r>
              <a:rPr sz="1100" b="0" i="0">
                <a:solidFill>
                  <a:srgbClr val="3D3D3D"/>
                </a:solidFill>
              </a:rPr>
              <a:t>Own branch data</a:t>
            </a:r>
          </a:p>
        </p:txBody>
      </p:sp>
      <p:sp>
        <p:nvSpPr>
          <p:cNvPr id="76" name="Rectangle 75"/>
          <p:cNvSpPr/>
          <p:nvPr/>
        </p:nvSpPr>
        <p:spPr>
          <a:xfrm>
            <a:off x="8933688" y="5586984"/>
            <a:ext cx="2980944" cy="731520"/>
          </a:xfrm>
          <a:prstGeom prst="rect">
            <a:avLst/>
          </a:prstGeom>
          <a:solidFill>
            <a:srgbClr val="FDF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34272" y="5641848"/>
            <a:ext cx="1463040" cy="274320"/>
          </a:xfrm>
          <a:prstGeom prst="rect">
            <a:avLst/>
          </a:prstGeom>
          <a:noFill/>
        </p:spPr>
        <p:txBody>
          <a:bodyPr wrap="square">
            <a:spAutoFit/>
          </a:bodyPr>
          <a:lstStyle/>
          <a:p>
            <a:pPr algn="l"/>
            <a:r>
              <a:rPr sz="1100" b="1" i="0">
                <a:solidFill>
                  <a:srgbClr val="C62828"/>
                </a:solidFill>
              </a:rPr>
              <a:t>HEAD OFFICE</a:t>
            </a:r>
          </a:p>
        </p:txBody>
      </p:sp>
      <p:sp>
        <p:nvSpPr>
          <p:cNvPr id="78" name="TextBox 77"/>
          <p:cNvSpPr txBox="1"/>
          <p:nvPr/>
        </p:nvSpPr>
        <p:spPr>
          <a:xfrm>
            <a:off x="9034272" y="5971032"/>
            <a:ext cx="2743200" cy="274320"/>
          </a:xfrm>
          <a:prstGeom prst="rect">
            <a:avLst/>
          </a:prstGeom>
          <a:noFill/>
        </p:spPr>
        <p:txBody>
          <a:bodyPr wrap="square">
            <a:spAutoFit/>
          </a:bodyPr>
          <a:lstStyle/>
          <a:p>
            <a:pPr algn="l"/>
            <a:r>
              <a:rPr sz="1100" b="0" i="0">
                <a:solidFill>
                  <a:srgbClr val="3D3D3D"/>
                </a:solidFill>
              </a:rPr>
              <a:t>All branches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CI/CD &amp; Deployment</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GitHub Actions · Docker · Spring Cloud · Cloud-Ready</a:t>
            </a:r>
          </a:p>
        </p:txBody>
      </p:sp>
      <p:sp>
        <p:nvSpPr>
          <p:cNvPr id="6" name="Rectangle 5"/>
          <p:cNvSpPr/>
          <p:nvPr/>
        </p:nvSpPr>
        <p:spPr>
          <a:xfrm>
            <a:off x="274320" y="1417320"/>
            <a:ext cx="1783080" cy="77724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435608"/>
            <a:ext cx="1783080" cy="384048"/>
          </a:xfrm>
          <a:prstGeom prst="rect">
            <a:avLst/>
          </a:prstGeom>
          <a:noFill/>
        </p:spPr>
        <p:txBody>
          <a:bodyPr wrap="square">
            <a:spAutoFit/>
          </a:bodyPr>
          <a:lstStyle/>
          <a:p>
            <a:pPr algn="ctr"/>
            <a:r>
              <a:rPr sz="2400" b="0" i="0">
                <a:solidFill>
                  <a:srgbClr val="F5A623"/>
                </a:solidFill>
              </a:rPr>
              <a:t>🔀</a:t>
            </a:r>
          </a:p>
        </p:txBody>
      </p:sp>
      <p:sp>
        <p:nvSpPr>
          <p:cNvPr id="8" name="TextBox 7"/>
          <p:cNvSpPr txBox="1"/>
          <p:nvPr/>
        </p:nvSpPr>
        <p:spPr>
          <a:xfrm>
            <a:off x="274320" y="1801368"/>
            <a:ext cx="1783080" cy="384048"/>
          </a:xfrm>
          <a:prstGeom prst="rect">
            <a:avLst/>
          </a:prstGeom>
          <a:noFill/>
        </p:spPr>
        <p:txBody>
          <a:bodyPr wrap="square">
            <a:spAutoFit/>
          </a:bodyPr>
          <a:lstStyle/>
          <a:p>
            <a:pPr algn="ctr"/>
            <a:r>
              <a:rPr sz="1000" b="1" i="0">
                <a:solidFill>
                  <a:srgbClr val="FFFBF5"/>
                </a:solidFill>
              </a:rPr>
              <a:t>Push to
GitHub</a:t>
            </a:r>
          </a:p>
        </p:txBody>
      </p:sp>
      <p:sp>
        <p:nvSpPr>
          <p:cNvPr id="9" name="Rectangle 8"/>
          <p:cNvSpPr/>
          <p:nvPr/>
        </p:nvSpPr>
        <p:spPr>
          <a:xfrm>
            <a:off x="2075688" y="1755648"/>
            <a:ext cx="16459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21992" y="1417320"/>
            <a:ext cx="1783080" cy="77724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1992" y="1435608"/>
            <a:ext cx="1783080" cy="384048"/>
          </a:xfrm>
          <a:prstGeom prst="rect">
            <a:avLst/>
          </a:prstGeom>
          <a:noFill/>
        </p:spPr>
        <p:txBody>
          <a:bodyPr wrap="square">
            <a:spAutoFit/>
          </a:bodyPr>
          <a:lstStyle/>
          <a:p>
            <a:pPr algn="ctr"/>
            <a:r>
              <a:rPr sz="2400" b="0" i="0">
                <a:solidFill>
                  <a:srgbClr val="F5A623"/>
                </a:solidFill>
              </a:rPr>
              <a:t>⚙️</a:t>
            </a:r>
          </a:p>
        </p:txBody>
      </p:sp>
      <p:sp>
        <p:nvSpPr>
          <p:cNvPr id="12" name="TextBox 11"/>
          <p:cNvSpPr txBox="1"/>
          <p:nvPr/>
        </p:nvSpPr>
        <p:spPr>
          <a:xfrm>
            <a:off x="2221992" y="1801368"/>
            <a:ext cx="1783080" cy="384048"/>
          </a:xfrm>
          <a:prstGeom prst="rect">
            <a:avLst/>
          </a:prstGeom>
          <a:noFill/>
        </p:spPr>
        <p:txBody>
          <a:bodyPr wrap="square">
            <a:spAutoFit/>
          </a:bodyPr>
          <a:lstStyle/>
          <a:p>
            <a:pPr algn="ctr"/>
            <a:r>
              <a:rPr sz="1000" b="1" i="0">
                <a:solidFill>
                  <a:srgbClr val="FFFBF5"/>
                </a:solidFill>
              </a:rPr>
              <a:t>GitHub Actions
Triggered</a:t>
            </a:r>
          </a:p>
        </p:txBody>
      </p:sp>
      <p:sp>
        <p:nvSpPr>
          <p:cNvPr id="13" name="Rectangle 12"/>
          <p:cNvSpPr/>
          <p:nvPr/>
        </p:nvSpPr>
        <p:spPr>
          <a:xfrm>
            <a:off x="4023360" y="1755648"/>
            <a:ext cx="16459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69664" y="1417320"/>
            <a:ext cx="1783080" cy="77724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9664" y="1435608"/>
            <a:ext cx="1783080" cy="384048"/>
          </a:xfrm>
          <a:prstGeom prst="rect">
            <a:avLst/>
          </a:prstGeom>
          <a:noFill/>
        </p:spPr>
        <p:txBody>
          <a:bodyPr wrap="square">
            <a:spAutoFit/>
          </a:bodyPr>
          <a:lstStyle/>
          <a:p>
            <a:pPr algn="ctr"/>
            <a:r>
              <a:rPr sz="2400" b="0" i="0">
                <a:solidFill>
                  <a:srgbClr val="F5A623"/>
                </a:solidFill>
              </a:rPr>
              <a:t>🧪</a:t>
            </a:r>
          </a:p>
        </p:txBody>
      </p:sp>
      <p:sp>
        <p:nvSpPr>
          <p:cNvPr id="16" name="TextBox 15"/>
          <p:cNvSpPr txBox="1"/>
          <p:nvPr/>
        </p:nvSpPr>
        <p:spPr>
          <a:xfrm>
            <a:off x="4169664" y="1801368"/>
            <a:ext cx="1783080" cy="384048"/>
          </a:xfrm>
          <a:prstGeom prst="rect">
            <a:avLst/>
          </a:prstGeom>
          <a:noFill/>
        </p:spPr>
        <p:txBody>
          <a:bodyPr wrap="square">
            <a:spAutoFit/>
          </a:bodyPr>
          <a:lstStyle/>
          <a:p>
            <a:pPr algn="ctr"/>
            <a:r>
              <a:rPr sz="1000" b="1" i="0">
                <a:solidFill>
                  <a:srgbClr val="FFFBF5"/>
                </a:solidFill>
              </a:rPr>
              <a:t>mvn test
All services</a:t>
            </a:r>
          </a:p>
        </p:txBody>
      </p:sp>
      <p:sp>
        <p:nvSpPr>
          <p:cNvPr id="17" name="Rectangle 16"/>
          <p:cNvSpPr/>
          <p:nvPr/>
        </p:nvSpPr>
        <p:spPr>
          <a:xfrm>
            <a:off x="5971032" y="1755648"/>
            <a:ext cx="16459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17336" y="1417320"/>
            <a:ext cx="1783080" cy="77724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17336" y="1435608"/>
            <a:ext cx="1783080" cy="384048"/>
          </a:xfrm>
          <a:prstGeom prst="rect">
            <a:avLst/>
          </a:prstGeom>
          <a:noFill/>
        </p:spPr>
        <p:txBody>
          <a:bodyPr wrap="square">
            <a:spAutoFit/>
          </a:bodyPr>
          <a:lstStyle/>
          <a:p>
            <a:pPr algn="ctr"/>
            <a:r>
              <a:rPr sz="2400" b="0" i="0">
                <a:solidFill>
                  <a:srgbClr val="F5A623"/>
                </a:solidFill>
              </a:rPr>
              <a:t>🐳</a:t>
            </a:r>
          </a:p>
        </p:txBody>
      </p:sp>
      <p:sp>
        <p:nvSpPr>
          <p:cNvPr id="20" name="TextBox 19"/>
          <p:cNvSpPr txBox="1"/>
          <p:nvPr/>
        </p:nvSpPr>
        <p:spPr>
          <a:xfrm>
            <a:off x="6117336" y="1801368"/>
            <a:ext cx="1783080" cy="384048"/>
          </a:xfrm>
          <a:prstGeom prst="rect">
            <a:avLst/>
          </a:prstGeom>
          <a:noFill/>
        </p:spPr>
        <p:txBody>
          <a:bodyPr wrap="square">
            <a:spAutoFit/>
          </a:bodyPr>
          <a:lstStyle/>
          <a:p>
            <a:pPr algn="ctr"/>
            <a:r>
              <a:rPr sz="1000" b="1" i="0">
                <a:solidFill>
                  <a:srgbClr val="FFFBF5"/>
                </a:solidFill>
              </a:rPr>
              <a:t>Docker
build &amp; tag</a:t>
            </a:r>
          </a:p>
        </p:txBody>
      </p:sp>
      <p:sp>
        <p:nvSpPr>
          <p:cNvPr id="21" name="Rectangle 20"/>
          <p:cNvSpPr/>
          <p:nvPr/>
        </p:nvSpPr>
        <p:spPr>
          <a:xfrm>
            <a:off x="7918704" y="1755648"/>
            <a:ext cx="16459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5008" y="1417320"/>
            <a:ext cx="1783080" cy="77724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65008" y="1435608"/>
            <a:ext cx="1783080" cy="384048"/>
          </a:xfrm>
          <a:prstGeom prst="rect">
            <a:avLst/>
          </a:prstGeom>
          <a:noFill/>
        </p:spPr>
        <p:txBody>
          <a:bodyPr wrap="square">
            <a:spAutoFit/>
          </a:bodyPr>
          <a:lstStyle/>
          <a:p>
            <a:pPr algn="ctr"/>
            <a:r>
              <a:rPr sz="2400" b="0" i="0">
                <a:solidFill>
                  <a:srgbClr val="F5A623"/>
                </a:solidFill>
              </a:rPr>
              <a:t>📦</a:t>
            </a:r>
          </a:p>
        </p:txBody>
      </p:sp>
      <p:sp>
        <p:nvSpPr>
          <p:cNvPr id="24" name="TextBox 23"/>
          <p:cNvSpPr txBox="1"/>
          <p:nvPr/>
        </p:nvSpPr>
        <p:spPr>
          <a:xfrm>
            <a:off x="8065008" y="1801368"/>
            <a:ext cx="1783080" cy="384048"/>
          </a:xfrm>
          <a:prstGeom prst="rect">
            <a:avLst/>
          </a:prstGeom>
          <a:noFill/>
        </p:spPr>
        <p:txBody>
          <a:bodyPr wrap="square">
            <a:spAutoFit/>
          </a:bodyPr>
          <a:lstStyle/>
          <a:p>
            <a:pPr algn="ctr"/>
            <a:r>
              <a:rPr sz="1000" b="1" i="0">
                <a:solidFill>
                  <a:srgbClr val="FFFBF5"/>
                </a:solidFill>
              </a:rPr>
              <a:t>Push to
Registry</a:t>
            </a:r>
          </a:p>
        </p:txBody>
      </p:sp>
      <p:sp>
        <p:nvSpPr>
          <p:cNvPr id="25" name="Rectangle 24"/>
          <p:cNvSpPr/>
          <p:nvPr/>
        </p:nvSpPr>
        <p:spPr>
          <a:xfrm>
            <a:off x="9866376" y="1755648"/>
            <a:ext cx="16459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012680" y="1417320"/>
            <a:ext cx="1783080" cy="777240"/>
          </a:xfrm>
          <a:prstGeom prst="rect">
            <a:avLst/>
          </a:prstGeom>
          <a:solidFill>
            <a:srgbClr val="2C1A0E"/>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12680" y="1435608"/>
            <a:ext cx="1783080" cy="384048"/>
          </a:xfrm>
          <a:prstGeom prst="rect">
            <a:avLst/>
          </a:prstGeom>
          <a:noFill/>
        </p:spPr>
        <p:txBody>
          <a:bodyPr wrap="square">
            <a:spAutoFit/>
          </a:bodyPr>
          <a:lstStyle/>
          <a:p>
            <a:pPr algn="ctr"/>
            <a:r>
              <a:rPr sz="2400" b="0" i="0">
                <a:solidFill>
                  <a:srgbClr val="F5A623"/>
                </a:solidFill>
              </a:rPr>
              <a:t>☁️</a:t>
            </a:r>
          </a:p>
        </p:txBody>
      </p:sp>
      <p:sp>
        <p:nvSpPr>
          <p:cNvPr id="28" name="TextBox 27"/>
          <p:cNvSpPr txBox="1"/>
          <p:nvPr/>
        </p:nvSpPr>
        <p:spPr>
          <a:xfrm>
            <a:off x="10012680" y="1801368"/>
            <a:ext cx="1783080" cy="384048"/>
          </a:xfrm>
          <a:prstGeom prst="rect">
            <a:avLst/>
          </a:prstGeom>
          <a:noFill/>
        </p:spPr>
        <p:txBody>
          <a:bodyPr wrap="square">
            <a:spAutoFit/>
          </a:bodyPr>
          <a:lstStyle/>
          <a:p>
            <a:pPr algn="ctr"/>
            <a:r>
              <a:rPr sz="1000" b="1" i="0">
                <a:solidFill>
                  <a:srgbClr val="FFFBF5"/>
                </a:solidFill>
              </a:rPr>
              <a:t>Deploy to
Cloud</a:t>
            </a:r>
          </a:p>
        </p:txBody>
      </p:sp>
      <p:sp>
        <p:nvSpPr>
          <p:cNvPr id="29" name="Rectangle 28"/>
          <p:cNvSpPr/>
          <p:nvPr/>
        </p:nvSpPr>
        <p:spPr>
          <a:xfrm>
            <a:off x="274320" y="2377440"/>
            <a:ext cx="2834640" cy="4160520"/>
          </a:xfrm>
          <a:prstGeom prst="rect">
            <a:avLst/>
          </a:prstGeom>
          <a:solidFill>
            <a:srgbClr val="FFFBF5"/>
          </a:solidFill>
          <a:ln w="228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4320" y="2377440"/>
            <a:ext cx="2834640" cy="402336"/>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2414016"/>
            <a:ext cx="2651760" cy="329184"/>
          </a:xfrm>
          <a:prstGeom prst="rect">
            <a:avLst/>
          </a:prstGeom>
          <a:noFill/>
        </p:spPr>
        <p:txBody>
          <a:bodyPr wrap="square">
            <a:spAutoFit/>
          </a:bodyPr>
          <a:lstStyle/>
          <a:p>
            <a:pPr algn="l"/>
            <a:r>
              <a:rPr sz="1200" b="1" i="0">
                <a:solidFill>
                  <a:srgbClr val="FFFBF5"/>
                </a:solidFill>
              </a:rPr>
              <a:t>🐳 Docker Compose</a:t>
            </a:r>
          </a:p>
        </p:txBody>
      </p:sp>
      <p:sp>
        <p:nvSpPr>
          <p:cNvPr id="32" name="Rectangle 31"/>
          <p:cNvSpPr/>
          <p:nvPr/>
        </p:nvSpPr>
        <p:spPr>
          <a:xfrm>
            <a:off x="384048" y="2935224"/>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2064" y="2852928"/>
            <a:ext cx="2542032" cy="274320"/>
          </a:xfrm>
          <a:prstGeom prst="rect">
            <a:avLst/>
          </a:prstGeom>
          <a:noFill/>
        </p:spPr>
        <p:txBody>
          <a:bodyPr wrap="square">
            <a:spAutoFit/>
          </a:bodyPr>
          <a:lstStyle/>
          <a:p>
            <a:pPr algn="l"/>
            <a:r>
              <a:rPr sz="1100" b="0" i="0">
                <a:solidFill>
                  <a:srgbClr val="3D3D3D"/>
                </a:solidFill>
              </a:rPr>
              <a:t>Single command: docker compose up</a:t>
            </a:r>
          </a:p>
        </p:txBody>
      </p:sp>
      <p:sp>
        <p:nvSpPr>
          <p:cNvPr id="34" name="Rectangle 33"/>
          <p:cNvSpPr/>
          <p:nvPr/>
        </p:nvSpPr>
        <p:spPr>
          <a:xfrm>
            <a:off x="384048" y="3282696"/>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2064" y="3200400"/>
            <a:ext cx="2542032" cy="274320"/>
          </a:xfrm>
          <a:prstGeom prst="rect">
            <a:avLst/>
          </a:prstGeom>
          <a:noFill/>
        </p:spPr>
        <p:txBody>
          <a:bodyPr wrap="square">
            <a:spAutoFit/>
          </a:bodyPr>
          <a:lstStyle/>
          <a:p>
            <a:pPr algn="l"/>
            <a:r>
              <a:rPr sz="1100" b="0" i="0">
                <a:solidFill>
                  <a:srgbClr val="3D3D3D"/>
                </a:solidFill>
              </a:rPr>
              <a:t>All 8 services + dependencies</a:t>
            </a:r>
          </a:p>
        </p:txBody>
      </p:sp>
      <p:sp>
        <p:nvSpPr>
          <p:cNvPr id="36" name="Rectangle 35"/>
          <p:cNvSpPr/>
          <p:nvPr/>
        </p:nvSpPr>
        <p:spPr>
          <a:xfrm>
            <a:off x="384048" y="3630168"/>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2064" y="3547872"/>
            <a:ext cx="2542032" cy="274320"/>
          </a:xfrm>
          <a:prstGeom prst="rect">
            <a:avLst/>
          </a:prstGeom>
          <a:noFill/>
        </p:spPr>
        <p:txBody>
          <a:bodyPr wrap="square">
            <a:spAutoFit/>
          </a:bodyPr>
          <a:lstStyle/>
          <a:p>
            <a:pPr algn="l"/>
            <a:r>
              <a:rPr sz="1100" b="0" i="0">
                <a:solidFill>
                  <a:srgbClr val="3D3D3D"/>
                </a:solidFill>
              </a:rPr>
              <a:t>.env for environment configuration</a:t>
            </a:r>
          </a:p>
        </p:txBody>
      </p:sp>
      <p:sp>
        <p:nvSpPr>
          <p:cNvPr id="38" name="Rectangle 37"/>
          <p:cNvSpPr/>
          <p:nvPr/>
        </p:nvSpPr>
        <p:spPr>
          <a:xfrm>
            <a:off x="384048" y="3977640"/>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2064" y="3895344"/>
            <a:ext cx="2542032" cy="274320"/>
          </a:xfrm>
          <a:prstGeom prst="rect">
            <a:avLst/>
          </a:prstGeom>
          <a:noFill/>
        </p:spPr>
        <p:txBody>
          <a:bodyPr wrap="square">
            <a:spAutoFit/>
          </a:bodyPr>
          <a:lstStyle/>
          <a:p>
            <a:pPr algn="l"/>
            <a:r>
              <a:rPr sz="1100" b="0" i="0">
                <a:solidFill>
                  <a:srgbClr val="3D3D3D"/>
                </a:solidFill>
              </a:rPr>
              <a:t>Named volumes for data persistence</a:t>
            </a:r>
          </a:p>
        </p:txBody>
      </p:sp>
      <p:sp>
        <p:nvSpPr>
          <p:cNvPr id="40" name="Rectangle 39"/>
          <p:cNvSpPr/>
          <p:nvPr/>
        </p:nvSpPr>
        <p:spPr>
          <a:xfrm>
            <a:off x="384048" y="4325112"/>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064" y="4242816"/>
            <a:ext cx="2542032" cy="274320"/>
          </a:xfrm>
          <a:prstGeom prst="rect">
            <a:avLst/>
          </a:prstGeom>
          <a:noFill/>
        </p:spPr>
        <p:txBody>
          <a:bodyPr wrap="square">
            <a:spAutoFit/>
          </a:bodyPr>
          <a:lstStyle/>
          <a:p>
            <a:pPr algn="l"/>
            <a:r>
              <a:rPr sz="1100" b="0" i="0">
                <a:solidFill>
                  <a:srgbClr val="3D3D3D"/>
                </a:solidFill>
              </a:rPr>
              <a:t>Health checks on all containers</a:t>
            </a:r>
          </a:p>
        </p:txBody>
      </p:sp>
      <p:sp>
        <p:nvSpPr>
          <p:cNvPr id="42" name="Rectangle 41"/>
          <p:cNvSpPr/>
          <p:nvPr/>
        </p:nvSpPr>
        <p:spPr>
          <a:xfrm>
            <a:off x="384048" y="4672584"/>
            <a:ext cx="73152" cy="7315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2064" y="4590288"/>
            <a:ext cx="2542032" cy="274320"/>
          </a:xfrm>
          <a:prstGeom prst="rect">
            <a:avLst/>
          </a:prstGeom>
          <a:noFill/>
        </p:spPr>
        <p:txBody>
          <a:bodyPr wrap="square">
            <a:spAutoFit/>
          </a:bodyPr>
          <a:lstStyle/>
          <a:p>
            <a:pPr algn="l"/>
            <a:r>
              <a:rPr sz="1100" b="0" i="0">
                <a:solidFill>
                  <a:srgbClr val="3D3D3D"/>
                </a:solidFill>
              </a:rPr>
              <a:t>Multi-account env file support</a:t>
            </a:r>
          </a:p>
        </p:txBody>
      </p:sp>
      <p:sp>
        <p:nvSpPr>
          <p:cNvPr id="44" name="Rectangle 43"/>
          <p:cNvSpPr/>
          <p:nvPr/>
        </p:nvSpPr>
        <p:spPr>
          <a:xfrm>
            <a:off x="3255264" y="2377440"/>
            <a:ext cx="2834640" cy="4160520"/>
          </a:xfrm>
          <a:prstGeom prst="rect">
            <a:avLst/>
          </a:prstGeom>
          <a:solidFill>
            <a:srgbClr val="FFFBF5"/>
          </a:solidFill>
          <a:ln w="2286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55264" y="2377440"/>
            <a:ext cx="2834640" cy="402336"/>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46704" y="2414016"/>
            <a:ext cx="2651760" cy="329184"/>
          </a:xfrm>
          <a:prstGeom prst="rect">
            <a:avLst/>
          </a:prstGeom>
          <a:noFill/>
        </p:spPr>
        <p:txBody>
          <a:bodyPr wrap="square">
            <a:spAutoFit/>
          </a:bodyPr>
          <a:lstStyle/>
          <a:p>
            <a:pPr algn="l"/>
            <a:r>
              <a:rPr sz="1200" b="1" i="0">
                <a:solidFill>
                  <a:srgbClr val="FFFBF5"/>
                </a:solidFill>
              </a:rPr>
              <a:t>☁️ Spring Cloud</a:t>
            </a:r>
          </a:p>
        </p:txBody>
      </p:sp>
      <p:sp>
        <p:nvSpPr>
          <p:cNvPr id="47" name="Rectangle 46"/>
          <p:cNvSpPr/>
          <p:nvPr/>
        </p:nvSpPr>
        <p:spPr>
          <a:xfrm>
            <a:off x="3364992" y="2935224"/>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93008" y="2852928"/>
            <a:ext cx="2542032" cy="274320"/>
          </a:xfrm>
          <a:prstGeom prst="rect">
            <a:avLst/>
          </a:prstGeom>
          <a:noFill/>
        </p:spPr>
        <p:txBody>
          <a:bodyPr wrap="square">
            <a:spAutoFit/>
          </a:bodyPr>
          <a:lstStyle/>
          <a:p>
            <a:pPr algn="l"/>
            <a:r>
              <a:rPr sz="1100" b="0" i="0">
                <a:solidFill>
                  <a:srgbClr val="3D3D3D"/>
                </a:solidFill>
              </a:rPr>
              <a:t>Eureka: service discovery :8761</a:t>
            </a:r>
          </a:p>
        </p:txBody>
      </p:sp>
      <p:sp>
        <p:nvSpPr>
          <p:cNvPr id="49" name="Rectangle 48"/>
          <p:cNvSpPr/>
          <p:nvPr/>
        </p:nvSpPr>
        <p:spPr>
          <a:xfrm>
            <a:off x="3364992" y="3282696"/>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93008" y="3200400"/>
            <a:ext cx="2542032" cy="274320"/>
          </a:xfrm>
          <a:prstGeom prst="rect">
            <a:avLst/>
          </a:prstGeom>
          <a:noFill/>
        </p:spPr>
        <p:txBody>
          <a:bodyPr wrap="square">
            <a:spAutoFit/>
          </a:bodyPr>
          <a:lstStyle/>
          <a:p>
            <a:pPr algn="l"/>
            <a:r>
              <a:rPr sz="1100" b="0" i="0">
                <a:solidFill>
                  <a:srgbClr val="3D3D3D"/>
                </a:solidFill>
              </a:rPr>
              <a:t>Config Server: centralised config :8888</a:t>
            </a:r>
          </a:p>
        </p:txBody>
      </p:sp>
      <p:sp>
        <p:nvSpPr>
          <p:cNvPr id="51" name="Rectangle 50"/>
          <p:cNvSpPr/>
          <p:nvPr/>
        </p:nvSpPr>
        <p:spPr>
          <a:xfrm>
            <a:off x="3364992" y="3630168"/>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93008" y="3547872"/>
            <a:ext cx="2542032" cy="274320"/>
          </a:xfrm>
          <a:prstGeom prst="rect">
            <a:avLst/>
          </a:prstGeom>
          <a:noFill/>
        </p:spPr>
        <p:txBody>
          <a:bodyPr wrap="square">
            <a:spAutoFit/>
          </a:bodyPr>
          <a:lstStyle/>
          <a:p>
            <a:pPr algn="l"/>
            <a:r>
              <a:rPr sz="1100" b="0" i="0">
                <a:solidFill>
                  <a:srgbClr val="3D3D3D"/>
                </a:solidFill>
              </a:rPr>
              <a:t>API Gateway: routing + JWT filter</a:t>
            </a:r>
          </a:p>
        </p:txBody>
      </p:sp>
      <p:sp>
        <p:nvSpPr>
          <p:cNvPr id="53" name="Rectangle 52"/>
          <p:cNvSpPr/>
          <p:nvPr/>
        </p:nvSpPr>
        <p:spPr>
          <a:xfrm>
            <a:off x="3364992" y="3977640"/>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93008" y="3895344"/>
            <a:ext cx="2542032" cy="274320"/>
          </a:xfrm>
          <a:prstGeom prst="rect">
            <a:avLst/>
          </a:prstGeom>
          <a:noFill/>
        </p:spPr>
        <p:txBody>
          <a:bodyPr wrap="square">
            <a:spAutoFit/>
          </a:bodyPr>
          <a:lstStyle/>
          <a:p>
            <a:pPr algn="l"/>
            <a:r>
              <a:rPr sz="1100" b="0" i="0">
                <a:solidFill>
                  <a:srgbClr val="3D3D3D"/>
                </a:solidFill>
              </a:rPr>
              <a:t>Services register on startup</a:t>
            </a:r>
          </a:p>
        </p:txBody>
      </p:sp>
      <p:sp>
        <p:nvSpPr>
          <p:cNvPr id="55" name="Rectangle 54"/>
          <p:cNvSpPr/>
          <p:nvPr/>
        </p:nvSpPr>
        <p:spPr>
          <a:xfrm>
            <a:off x="3364992" y="4325112"/>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93008" y="4242816"/>
            <a:ext cx="2542032" cy="274320"/>
          </a:xfrm>
          <a:prstGeom prst="rect">
            <a:avLst/>
          </a:prstGeom>
          <a:noFill/>
        </p:spPr>
        <p:txBody>
          <a:bodyPr wrap="square">
            <a:spAutoFit/>
          </a:bodyPr>
          <a:lstStyle/>
          <a:p>
            <a:pPr algn="l"/>
            <a:r>
              <a:rPr sz="1100" b="0" i="0">
                <a:solidFill>
                  <a:srgbClr val="3D3D3D"/>
                </a:solidFill>
              </a:rPr>
              <a:t>Config pulled at boot time</a:t>
            </a:r>
          </a:p>
        </p:txBody>
      </p:sp>
      <p:sp>
        <p:nvSpPr>
          <p:cNvPr id="57" name="Rectangle 56"/>
          <p:cNvSpPr/>
          <p:nvPr/>
        </p:nvSpPr>
        <p:spPr>
          <a:xfrm>
            <a:off x="3364992" y="4672584"/>
            <a:ext cx="73152" cy="73152"/>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93008" y="4590288"/>
            <a:ext cx="2542032" cy="274320"/>
          </a:xfrm>
          <a:prstGeom prst="rect">
            <a:avLst/>
          </a:prstGeom>
          <a:noFill/>
        </p:spPr>
        <p:txBody>
          <a:bodyPr wrap="square">
            <a:spAutoFit/>
          </a:bodyPr>
          <a:lstStyle/>
          <a:p>
            <a:pPr algn="l"/>
            <a:r>
              <a:rPr sz="1100" b="0" i="0">
                <a:solidFill>
                  <a:srgbClr val="3D3D3D"/>
                </a:solidFill>
              </a:rPr>
              <a:t>No hardcoded IPs anywhere</a:t>
            </a:r>
          </a:p>
        </p:txBody>
      </p:sp>
      <p:sp>
        <p:nvSpPr>
          <p:cNvPr id="59" name="Rectangle 58"/>
          <p:cNvSpPr/>
          <p:nvPr/>
        </p:nvSpPr>
        <p:spPr>
          <a:xfrm>
            <a:off x="6236208" y="2377440"/>
            <a:ext cx="2834640" cy="4160520"/>
          </a:xfrm>
          <a:prstGeom prst="rect">
            <a:avLst/>
          </a:prstGeom>
          <a:solidFill>
            <a:srgbClr val="FFFBF5"/>
          </a:solidFill>
          <a:ln w="2286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36208" y="2377440"/>
            <a:ext cx="2834640" cy="402336"/>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27648" y="2414016"/>
            <a:ext cx="2651760" cy="329184"/>
          </a:xfrm>
          <a:prstGeom prst="rect">
            <a:avLst/>
          </a:prstGeom>
          <a:noFill/>
        </p:spPr>
        <p:txBody>
          <a:bodyPr wrap="square">
            <a:spAutoFit/>
          </a:bodyPr>
          <a:lstStyle/>
          <a:p>
            <a:pPr algn="l"/>
            <a:r>
              <a:rPr sz="1200" b="1" i="0">
                <a:solidFill>
                  <a:srgbClr val="FFFBF5"/>
                </a:solidFill>
              </a:rPr>
              <a:t>🗄️ Data Infrastructure</a:t>
            </a:r>
          </a:p>
        </p:txBody>
      </p:sp>
      <p:sp>
        <p:nvSpPr>
          <p:cNvPr id="62" name="Rectangle 61"/>
          <p:cNvSpPr/>
          <p:nvPr/>
        </p:nvSpPr>
        <p:spPr>
          <a:xfrm>
            <a:off x="6345936" y="2935224"/>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73952" y="2852928"/>
            <a:ext cx="2542032" cy="274320"/>
          </a:xfrm>
          <a:prstGeom prst="rect">
            <a:avLst/>
          </a:prstGeom>
          <a:noFill/>
        </p:spPr>
        <p:txBody>
          <a:bodyPr wrap="square">
            <a:spAutoFit/>
          </a:bodyPr>
          <a:lstStyle/>
          <a:p>
            <a:pPr algn="l"/>
            <a:r>
              <a:rPr sz="1100" b="0" i="0">
                <a:solidFill>
                  <a:srgbClr val="3D3D3D"/>
                </a:solidFill>
              </a:rPr>
              <a:t>MySQL: one container per service</a:t>
            </a:r>
          </a:p>
        </p:txBody>
      </p:sp>
      <p:sp>
        <p:nvSpPr>
          <p:cNvPr id="64" name="Rectangle 63"/>
          <p:cNvSpPr/>
          <p:nvPr/>
        </p:nvSpPr>
        <p:spPr>
          <a:xfrm>
            <a:off x="6345936" y="3282696"/>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73952" y="3200400"/>
            <a:ext cx="2542032" cy="274320"/>
          </a:xfrm>
          <a:prstGeom prst="rect">
            <a:avLst/>
          </a:prstGeom>
          <a:noFill/>
        </p:spPr>
        <p:txBody>
          <a:bodyPr wrap="square">
            <a:spAutoFit/>
          </a:bodyPr>
          <a:lstStyle/>
          <a:p>
            <a:pPr algn="l"/>
            <a:r>
              <a:rPr sz="1100" b="0" i="0">
                <a:solidFill>
                  <a:srgbClr val="3D3D3D"/>
                </a:solidFill>
              </a:rPr>
              <a:t>Redis: shared cache + blacklist</a:t>
            </a:r>
          </a:p>
        </p:txBody>
      </p:sp>
      <p:sp>
        <p:nvSpPr>
          <p:cNvPr id="66" name="Rectangle 65"/>
          <p:cNvSpPr/>
          <p:nvPr/>
        </p:nvSpPr>
        <p:spPr>
          <a:xfrm>
            <a:off x="6345936" y="3630168"/>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73952" y="3547872"/>
            <a:ext cx="2542032" cy="274320"/>
          </a:xfrm>
          <a:prstGeom prst="rect">
            <a:avLst/>
          </a:prstGeom>
          <a:noFill/>
        </p:spPr>
        <p:txBody>
          <a:bodyPr wrap="square">
            <a:spAutoFit/>
          </a:bodyPr>
          <a:lstStyle/>
          <a:p>
            <a:pPr algn="l"/>
            <a:r>
              <a:rPr sz="1100" b="0" i="0">
                <a:solidFill>
                  <a:srgbClr val="3D3D3D"/>
                </a:solidFill>
              </a:rPr>
              <a:t>Kafka + Zookeeper: event bus</a:t>
            </a:r>
          </a:p>
        </p:txBody>
      </p:sp>
      <p:sp>
        <p:nvSpPr>
          <p:cNvPr id="68" name="Rectangle 67"/>
          <p:cNvSpPr/>
          <p:nvPr/>
        </p:nvSpPr>
        <p:spPr>
          <a:xfrm>
            <a:off x="6345936" y="3977640"/>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73952" y="3895344"/>
            <a:ext cx="2542032" cy="274320"/>
          </a:xfrm>
          <a:prstGeom prst="rect">
            <a:avLst/>
          </a:prstGeom>
          <a:noFill/>
        </p:spPr>
        <p:txBody>
          <a:bodyPr wrap="square">
            <a:spAutoFit/>
          </a:bodyPr>
          <a:lstStyle/>
          <a:p>
            <a:pPr algn="l"/>
            <a:r>
              <a:rPr sz="1100" b="0" i="0">
                <a:solidFill>
                  <a:srgbClr val="3D3D3D"/>
                </a:solidFill>
              </a:rPr>
              <a:t>AWS S3: menu image storage</a:t>
            </a:r>
          </a:p>
        </p:txBody>
      </p:sp>
      <p:sp>
        <p:nvSpPr>
          <p:cNvPr id="70" name="Rectangle 69"/>
          <p:cNvSpPr/>
          <p:nvPr/>
        </p:nvSpPr>
        <p:spPr>
          <a:xfrm>
            <a:off x="6345936" y="4325112"/>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73952" y="4242816"/>
            <a:ext cx="2542032" cy="274320"/>
          </a:xfrm>
          <a:prstGeom prst="rect">
            <a:avLst/>
          </a:prstGeom>
          <a:noFill/>
        </p:spPr>
        <p:txBody>
          <a:bodyPr wrap="square">
            <a:spAutoFit/>
          </a:bodyPr>
          <a:lstStyle/>
          <a:p>
            <a:pPr algn="l"/>
            <a:r>
              <a:rPr sz="1100" b="0" i="0">
                <a:solidFill>
                  <a:srgbClr val="3D3D3D"/>
                </a:solidFill>
              </a:rPr>
              <a:t>RDS-ready: env var driven</a:t>
            </a:r>
          </a:p>
        </p:txBody>
      </p:sp>
      <p:sp>
        <p:nvSpPr>
          <p:cNvPr id="72" name="Rectangle 71"/>
          <p:cNvSpPr/>
          <p:nvPr/>
        </p:nvSpPr>
        <p:spPr>
          <a:xfrm>
            <a:off x="6345936" y="4672584"/>
            <a:ext cx="73152" cy="73152"/>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73952" y="4590288"/>
            <a:ext cx="2542032" cy="274320"/>
          </a:xfrm>
          <a:prstGeom prst="rect">
            <a:avLst/>
          </a:prstGeom>
          <a:noFill/>
        </p:spPr>
        <p:txBody>
          <a:bodyPr wrap="square">
            <a:spAutoFit/>
          </a:bodyPr>
          <a:lstStyle/>
          <a:p>
            <a:pPr algn="l"/>
            <a:r>
              <a:rPr sz="1100" b="0" i="0">
                <a:solidFill>
                  <a:srgbClr val="3D3D3D"/>
                </a:solidFill>
              </a:rPr>
              <a:t>ElastiCache-ready: same config</a:t>
            </a:r>
          </a:p>
        </p:txBody>
      </p:sp>
      <p:sp>
        <p:nvSpPr>
          <p:cNvPr id="74" name="Rectangle 73"/>
          <p:cNvSpPr/>
          <p:nvPr/>
        </p:nvSpPr>
        <p:spPr>
          <a:xfrm>
            <a:off x="9217152" y="2377440"/>
            <a:ext cx="2834640" cy="4160520"/>
          </a:xfrm>
          <a:prstGeom prst="rect">
            <a:avLst/>
          </a:prstGeom>
          <a:solidFill>
            <a:srgbClr val="FFFBF5"/>
          </a:solidFill>
          <a:ln w="2286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217152" y="2377440"/>
            <a:ext cx="2834640" cy="402336"/>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08592" y="2414016"/>
            <a:ext cx="2651760" cy="329184"/>
          </a:xfrm>
          <a:prstGeom prst="rect">
            <a:avLst/>
          </a:prstGeom>
          <a:noFill/>
        </p:spPr>
        <p:txBody>
          <a:bodyPr wrap="square">
            <a:spAutoFit/>
          </a:bodyPr>
          <a:lstStyle/>
          <a:p>
            <a:pPr algn="l"/>
            <a:r>
              <a:rPr sz="1200" b="1" i="0">
                <a:solidFill>
                  <a:srgbClr val="FFFBF5"/>
                </a:solidFill>
              </a:rPr>
              <a:t>📡 Observability</a:t>
            </a:r>
          </a:p>
        </p:txBody>
      </p:sp>
      <p:sp>
        <p:nvSpPr>
          <p:cNvPr id="77" name="Rectangle 76"/>
          <p:cNvSpPr/>
          <p:nvPr/>
        </p:nvSpPr>
        <p:spPr>
          <a:xfrm>
            <a:off x="9326880" y="2935224"/>
            <a:ext cx="73152" cy="7315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54896" y="2852928"/>
            <a:ext cx="2542032" cy="274320"/>
          </a:xfrm>
          <a:prstGeom prst="rect">
            <a:avLst/>
          </a:prstGeom>
          <a:noFill/>
        </p:spPr>
        <p:txBody>
          <a:bodyPr wrap="square">
            <a:spAutoFit/>
          </a:bodyPr>
          <a:lstStyle/>
          <a:p>
            <a:pPr algn="l"/>
            <a:r>
              <a:rPr sz="1100" b="0" i="0">
                <a:solidFill>
                  <a:srgbClr val="3D3D3D"/>
                </a:solidFill>
              </a:rPr>
              <a:t>Actuator: /health on all services</a:t>
            </a:r>
          </a:p>
        </p:txBody>
      </p:sp>
      <p:sp>
        <p:nvSpPr>
          <p:cNvPr id="79" name="Rectangle 78"/>
          <p:cNvSpPr/>
          <p:nvPr/>
        </p:nvSpPr>
        <p:spPr>
          <a:xfrm>
            <a:off x="9326880" y="3282696"/>
            <a:ext cx="73152" cy="7315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454896" y="3200400"/>
            <a:ext cx="2542032" cy="274320"/>
          </a:xfrm>
          <a:prstGeom prst="rect">
            <a:avLst/>
          </a:prstGeom>
          <a:noFill/>
        </p:spPr>
        <p:txBody>
          <a:bodyPr wrap="square">
            <a:spAutoFit/>
          </a:bodyPr>
          <a:lstStyle/>
          <a:p>
            <a:pPr algn="l"/>
            <a:r>
              <a:rPr sz="1100" b="0" i="0">
                <a:solidFill>
                  <a:srgbClr val="3D3D3D"/>
                </a:solidFill>
              </a:rPr>
              <a:t>Swagger UI: /swagger-ui.html</a:t>
            </a:r>
          </a:p>
        </p:txBody>
      </p:sp>
      <p:sp>
        <p:nvSpPr>
          <p:cNvPr id="81" name="Rectangle 80"/>
          <p:cNvSpPr/>
          <p:nvPr/>
        </p:nvSpPr>
        <p:spPr>
          <a:xfrm>
            <a:off x="9326880" y="3630168"/>
            <a:ext cx="73152" cy="7315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454896" y="3547872"/>
            <a:ext cx="2542032" cy="274320"/>
          </a:xfrm>
          <a:prstGeom prst="rect">
            <a:avLst/>
          </a:prstGeom>
          <a:noFill/>
        </p:spPr>
        <p:txBody>
          <a:bodyPr wrap="square">
            <a:spAutoFit/>
          </a:bodyPr>
          <a:lstStyle/>
          <a:p>
            <a:pPr algn="l"/>
            <a:r>
              <a:rPr sz="1100" b="0" i="0">
                <a:solidFill>
                  <a:srgbClr val="3D3D3D"/>
                </a:solidFill>
              </a:rPr>
              <a:t>Structured SLF4J/Logback logging</a:t>
            </a:r>
          </a:p>
        </p:txBody>
      </p:sp>
      <p:sp>
        <p:nvSpPr>
          <p:cNvPr id="83" name="Rectangle 82"/>
          <p:cNvSpPr/>
          <p:nvPr/>
        </p:nvSpPr>
        <p:spPr>
          <a:xfrm>
            <a:off x="9326880" y="3977640"/>
            <a:ext cx="73152" cy="7315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454896" y="3895344"/>
            <a:ext cx="2542032" cy="274320"/>
          </a:xfrm>
          <a:prstGeom prst="rect">
            <a:avLst/>
          </a:prstGeom>
          <a:noFill/>
        </p:spPr>
        <p:txBody>
          <a:bodyPr wrap="square">
            <a:spAutoFit/>
          </a:bodyPr>
          <a:lstStyle/>
          <a:p>
            <a:pPr algn="l"/>
            <a:r>
              <a:rPr sz="1100" b="0" i="0">
                <a:solidFill>
                  <a:srgbClr val="3D3D3D"/>
                </a:solidFill>
              </a:rPr>
              <a:t>Correlation IDs in log output</a:t>
            </a:r>
          </a:p>
        </p:txBody>
      </p:sp>
      <p:sp>
        <p:nvSpPr>
          <p:cNvPr id="85" name="Rectangle 84"/>
          <p:cNvSpPr/>
          <p:nvPr/>
        </p:nvSpPr>
        <p:spPr>
          <a:xfrm>
            <a:off x="9326880" y="4325112"/>
            <a:ext cx="73152" cy="7315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454896" y="4242816"/>
            <a:ext cx="2542032" cy="274320"/>
          </a:xfrm>
          <a:prstGeom prst="rect">
            <a:avLst/>
          </a:prstGeom>
          <a:noFill/>
        </p:spPr>
        <p:txBody>
          <a:bodyPr wrap="square">
            <a:spAutoFit/>
          </a:bodyPr>
          <a:lstStyle/>
          <a:p>
            <a:pPr algn="l"/>
            <a:r>
              <a:rPr sz="1100" b="0" i="0">
                <a:solidFill>
                  <a:srgbClr val="3D3D3D"/>
                </a:solidFill>
              </a:rPr>
              <a:t>Docker container health checks</a:t>
            </a:r>
          </a:p>
        </p:txBody>
      </p:sp>
      <p:sp>
        <p:nvSpPr>
          <p:cNvPr id="87" name="Rectangle 86"/>
          <p:cNvSpPr/>
          <p:nvPr/>
        </p:nvSpPr>
        <p:spPr>
          <a:xfrm>
            <a:off x="9326880" y="4672584"/>
            <a:ext cx="73152" cy="7315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454896" y="4590288"/>
            <a:ext cx="2542032" cy="274320"/>
          </a:xfrm>
          <a:prstGeom prst="rect">
            <a:avLst/>
          </a:prstGeom>
          <a:noFill/>
        </p:spPr>
        <p:txBody>
          <a:bodyPr wrap="square">
            <a:spAutoFit/>
          </a:bodyPr>
          <a:lstStyle/>
          <a:p>
            <a:pPr algn="l"/>
            <a:r>
              <a:rPr sz="1100" b="0" i="0">
                <a:solidFill>
                  <a:srgbClr val="3D3D3D"/>
                </a:solidFill>
              </a:rPr>
              <a:t>Ready for Prometheus/Grafana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Code Quality &amp; Testing</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Clean architecture · Spring Security Test · Testcontainers</a:t>
            </a:r>
          </a:p>
        </p:txBody>
      </p:sp>
      <p:sp>
        <p:nvSpPr>
          <p:cNvPr id="6" name="Rectangle 5"/>
          <p:cNvSpPr/>
          <p:nvPr/>
        </p:nvSpPr>
        <p:spPr>
          <a:xfrm>
            <a:off x="274320" y="1417320"/>
            <a:ext cx="3931920" cy="5074920"/>
          </a:xfrm>
          <a:prstGeom prst="rect">
            <a:avLst/>
          </a:prstGeom>
          <a:solidFill>
            <a:srgbClr val="FFFBF5"/>
          </a:solidFill>
          <a:ln w="1651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3931920" cy="42062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472184"/>
            <a:ext cx="3749039" cy="329184"/>
          </a:xfrm>
          <a:prstGeom prst="rect">
            <a:avLst/>
          </a:prstGeom>
          <a:noFill/>
        </p:spPr>
        <p:txBody>
          <a:bodyPr wrap="square">
            <a:spAutoFit/>
          </a:bodyPr>
          <a:lstStyle/>
          <a:p>
            <a:pPr algn="l"/>
            <a:r>
              <a:rPr sz="1300" b="1" i="0">
                <a:solidFill>
                  <a:srgbClr val="FFFBF5"/>
                </a:solidFill>
              </a:rPr>
              <a:t>🏗️  Design Principles</a:t>
            </a:r>
          </a:p>
        </p:txBody>
      </p:sp>
      <p:sp>
        <p:nvSpPr>
          <p:cNvPr id="9" name="Rectangle 8"/>
          <p:cNvSpPr/>
          <p:nvPr/>
        </p:nvSpPr>
        <p:spPr>
          <a:xfrm>
            <a:off x="402336" y="1847088"/>
            <a:ext cx="3675887"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 y="1938528"/>
            <a:ext cx="3611880" cy="237744"/>
          </a:xfrm>
          <a:prstGeom prst="rect">
            <a:avLst/>
          </a:prstGeom>
          <a:noFill/>
        </p:spPr>
        <p:txBody>
          <a:bodyPr wrap="square">
            <a:spAutoFit/>
          </a:bodyPr>
          <a:lstStyle/>
          <a:p>
            <a:pPr algn="l"/>
            <a:r>
              <a:rPr sz="1100" b="1" i="0">
                <a:solidFill>
                  <a:srgbClr val="2C1A0E"/>
                </a:solidFill>
              </a:rPr>
              <a:t>SOLID</a:t>
            </a:r>
          </a:p>
        </p:txBody>
      </p:sp>
      <p:sp>
        <p:nvSpPr>
          <p:cNvPr id="11" name="TextBox 10"/>
          <p:cNvSpPr txBox="1"/>
          <p:nvPr/>
        </p:nvSpPr>
        <p:spPr>
          <a:xfrm>
            <a:off x="402336" y="2157984"/>
            <a:ext cx="3611880" cy="292608"/>
          </a:xfrm>
          <a:prstGeom prst="rect">
            <a:avLst/>
          </a:prstGeom>
          <a:noFill/>
        </p:spPr>
        <p:txBody>
          <a:bodyPr wrap="square">
            <a:spAutoFit/>
          </a:bodyPr>
          <a:lstStyle/>
          <a:p>
            <a:pPr algn="l"/>
            <a:r>
              <a:rPr sz="1050" b="0" i="1">
                <a:solidFill>
                  <a:srgbClr val="3D3D3D"/>
                </a:solidFill>
              </a:rPr>
              <a:t>Single responsibility per class. Services behind interfaces.</a:t>
            </a:r>
          </a:p>
        </p:txBody>
      </p:sp>
      <p:sp>
        <p:nvSpPr>
          <p:cNvPr id="12" name="Rectangle 11"/>
          <p:cNvSpPr/>
          <p:nvPr/>
        </p:nvSpPr>
        <p:spPr>
          <a:xfrm>
            <a:off x="402336" y="2459735"/>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23744"/>
            <a:ext cx="3611880" cy="237744"/>
          </a:xfrm>
          <a:prstGeom prst="rect">
            <a:avLst/>
          </a:prstGeom>
          <a:noFill/>
        </p:spPr>
        <p:txBody>
          <a:bodyPr wrap="square">
            <a:spAutoFit/>
          </a:bodyPr>
          <a:lstStyle/>
          <a:p>
            <a:pPr algn="l"/>
            <a:r>
              <a:rPr sz="1100" b="1" i="0">
                <a:solidFill>
                  <a:srgbClr val="2C1A0E"/>
                </a:solidFill>
              </a:rPr>
              <a:t>Clean Architecture</a:t>
            </a:r>
          </a:p>
        </p:txBody>
      </p:sp>
      <p:sp>
        <p:nvSpPr>
          <p:cNvPr id="14" name="TextBox 13"/>
          <p:cNvSpPr txBox="1"/>
          <p:nvPr/>
        </p:nvSpPr>
        <p:spPr>
          <a:xfrm>
            <a:off x="402336" y="2743200"/>
            <a:ext cx="3611880" cy="292608"/>
          </a:xfrm>
          <a:prstGeom prst="rect">
            <a:avLst/>
          </a:prstGeom>
          <a:noFill/>
        </p:spPr>
        <p:txBody>
          <a:bodyPr wrap="square">
            <a:spAutoFit/>
          </a:bodyPr>
          <a:lstStyle/>
          <a:p>
            <a:pPr algn="l"/>
            <a:r>
              <a:rPr sz="1050" b="0" i="1">
                <a:solidFill>
                  <a:srgbClr val="3D3D3D"/>
                </a:solidFill>
              </a:rPr>
              <a:t>Controller → Service → Repository. No layer skipping.</a:t>
            </a:r>
          </a:p>
        </p:txBody>
      </p:sp>
      <p:sp>
        <p:nvSpPr>
          <p:cNvPr id="15" name="Rectangle 14"/>
          <p:cNvSpPr/>
          <p:nvPr/>
        </p:nvSpPr>
        <p:spPr>
          <a:xfrm>
            <a:off x="402336" y="3044951"/>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2336" y="3108960"/>
            <a:ext cx="3611880" cy="237744"/>
          </a:xfrm>
          <a:prstGeom prst="rect">
            <a:avLst/>
          </a:prstGeom>
          <a:noFill/>
        </p:spPr>
        <p:txBody>
          <a:bodyPr wrap="square">
            <a:spAutoFit/>
          </a:bodyPr>
          <a:lstStyle/>
          <a:p>
            <a:pPr algn="l"/>
            <a:r>
              <a:rPr sz="1100" b="1" i="0">
                <a:solidFill>
                  <a:srgbClr val="2C1A0E"/>
                </a:solidFill>
              </a:rPr>
              <a:t>Fail Fast</a:t>
            </a:r>
          </a:p>
        </p:txBody>
      </p:sp>
      <p:sp>
        <p:nvSpPr>
          <p:cNvPr id="17" name="TextBox 16"/>
          <p:cNvSpPr txBox="1"/>
          <p:nvPr/>
        </p:nvSpPr>
        <p:spPr>
          <a:xfrm>
            <a:off x="402336" y="3328416"/>
            <a:ext cx="3611880" cy="292608"/>
          </a:xfrm>
          <a:prstGeom prst="rect">
            <a:avLst/>
          </a:prstGeom>
          <a:noFill/>
        </p:spPr>
        <p:txBody>
          <a:bodyPr wrap="square">
            <a:spAutoFit/>
          </a:bodyPr>
          <a:lstStyle/>
          <a:p>
            <a:pPr algn="l"/>
            <a:r>
              <a:rPr sz="1050" b="0" i="1">
                <a:solidFill>
                  <a:srgbClr val="3D3D3D"/>
                </a:solidFill>
              </a:rPr>
              <a:t>Validation at system boundaries — not deep in business logic.</a:t>
            </a:r>
          </a:p>
        </p:txBody>
      </p:sp>
      <p:sp>
        <p:nvSpPr>
          <p:cNvPr id="18" name="Rectangle 17"/>
          <p:cNvSpPr/>
          <p:nvPr/>
        </p:nvSpPr>
        <p:spPr>
          <a:xfrm>
            <a:off x="402336" y="3630167"/>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694176"/>
            <a:ext cx="3611880" cy="237744"/>
          </a:xfrm>
          <a:prstGeom prst="rect">
            <a:avLst/>
          </a:prstGeom>
          <a:noFill/>
        </p:spPr>
        <p:txBody>
          <a:bodyPr wrap="square">
            <a:spAutoFit/>
          </a:bodyPr>
          <a:lstStyle/>
          <a:p>
            <a:pPr algn="l"/>
            <a:r>
              <a:rPr sz="1100" b="1" i="0">
                <a:solidFill>
                  <a:srgbClr val="2C1A0E"/>
                </a:solidFill>
              </a:rPr>
              <a:t>Java Records for DTOs</a:t>
            </a:r>
          </a:p>
        </p:txBody>
      </p:sp>
      <p:sp>
        <p:nvSpPr>
          <p:cNvPr id="20" name="TextBox 19"/>
          <p:cNvSpPr txBox="1"/>
          <p:nvPr/>
        </p:nvSpPr>
        <p:spPr>
          <a:xfrm>
            <a:off x="402336" y="3913632"/>
            <a:ext cx="3611880" cy="292608"/>
          </a:xfrm>
          <a:prstGeom prst="rect">
            <a:avLst/>
          </a:prstGeom>
          <a:noFill/>
        </p:spPr>
        <p:txBody>
          <a:bodyPr wrap="square">
            <a:spAutoFit/>
          </a:bodyPr>
          <a:lstStyle/>
          <a:p>
            <a:pPr algn="l"/>
            <a:r>
              <a:rPr sz="1050" b="0" i="1">
                <a:solidFill>
                  <a:srgbClr val="3D3D3D"/>
                </a:solidFill>
              </a:rPr>
              <a:t>Immutable, compact, zero boilerplate request/response objects.</a:t>
            </a:r>
          </a:p>
        </p:txBody>
      </p:sp>
      <p:sp>
        <p:nvSpPr>
          <p:cNvPr id="21" name="Rectangle 20"/>
          <p:cNvSpPr/>
          <p:nvPr/>
        </p:nvSpPr>
        <p:spPr>
          <a:xfrm>
            <a:off x="402336" y="4215383"/>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4279392"/>
            <a:ext cx="3611880" cy="237744"/>
          </a:xfrm>
          <a:prstGeom prst="rect">
            <a:avLst/>
          </a:prstGeom>
          <a:noFill/>
        </p:spPr>
        <p:txBody>
          <a:bodyPr wrap="square">
            <a:spAutoFit/>
          </a:bodyPr>
          <a:lstStyle/>
          <a:p>
            <a:pPr algn="l"/>
            <a:r>
              <a:rPr sz="1100" b="1" i="0">
                <a:solidFill>
                  <a:srgbClr val="2C1A0E"/>
                </a:solidFill>
              </a:rPr>
              <a:t>Interface-first AI</a:t>
            </a:r>
          </a:p>
        </p:txBody>
      </p:sp>
      <p:sp>
        <p:nvSpPr>
          <p:cNvPr id="23" name="TextBox 22"/>
          <p:cNvSpPr txBox="1"/>
          <p:nvPr/>
        </p:nvSpPr>
        <p:spPr>
          <a:xfrm>
            <a:off x="402336" y="4498848"/>
            <a:ext cx="3611880" cy="292608"/>
          </a:xfrm>
          <a:prstGeom prst="rect">
            <a:avLst/>
          </a:prstGeom>
          <a:noFill/>
        </p:spPr>
        <p:txBody>
          <a:bodyPr wrap="square">
            <a:spAutoFit/>
          </a:bodyPr>
          <a:lstStyle/>
          <a:p>
            <a:pPr algn="l"/>
            <a:r>
              <a:rPr sz="1050" b="0" i="1">
                <a:solidFill>
                  <a:srgbClr val="3D3D3D"/>
                </a:solidFill>
              </a:rPr>
              <a:t>FoodSuggestionAiClient interface — swap Gemini for GPT in one class.</a:t>
            </a:r>
          </a:p>
        </p:txBody>
      </p:sp>
      <p:sp>
        <p:nvSpPr>
          <p:cNvPr id="24" name="Rectangle 23"/>
          <p:cNvSpPr/>
          <p:nvPr/>
        </p:nvSpPr>
        <p:spPr>
          <a:xfrm>
            <a:off x="402336" y="4800599"/>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2336" y="4864608"/>
            <a:ext cx="3611880" cy="237744"/>
          </a:xfrm>
          <a:prstGeom prst="rect">
            <a:avLst/>
          </a:prstGeom>
          <a:noFill/>
        </p:spPr>
        <p:txBody>
          <a:bodyPr wrap="square">
            <a:spAutoFit/>
          </a:bodyPr>
          <a:lstStyle/>
          <a:p>
            <a:pPr algn="l"/>
            <a:r>
              <a:rPr sz="1100" b="1" i="0">
                <a:solidFill>
                  <a:srgbClr val="2C1A0E"/>
                </a:solidFill>
              </a:rPr>
              <a:t>Enum-driven State</a:t>
            </a:r>
          </a:p>
        </p:txBody>
      </p:sp>
      <p:sp>
        <p:nvSpPr>
          <p:cNvPr id="26" name="TextBox 25"/>
          <p:cNvSpPr txBox="1"/>
          <p:nvPr/>
        </p:nvSpPr>
        <p:spPr>
          <a:xfrm>
            <a:off x="402336" y="5084064"/>
            <a:ext cx="3611880" cy="292608"/>
          </a:xfrm>
          <a:prstGeom prst="rect">
            <a:avLst/>
          </a:prstGeom>
          <a:noFill/>
        </p:spPr>
        <p:txBody>
          <a:bodyPr wrap="square">
            <a:spAutoFit/>
          </a:bodyPr>
          <a:lstStyle/>
          <a:p>
            <a:pPr algn="l"/>
            <a:r>
              <a:rPr sz="1050" b="0" i="1">
                <a:solidFill>
                  <a:srgbClr val="3D3D3D"/>
                </a:solidFill>
              </a:rPr>
              <a:t>No magic strings. OrderStatus, Role, NotificationType as enums.</a:t>
            </a:r>
          </a:p>
        </p:txBody>
      </p:sp>
      <p:sp>
        <p:nvSpPr>
          <p:cNvPr id="27" name="Rectangle 26"/>
          <p:cNvSpPr/>
          <p:nvPr/>
        </p:nvSpPr>
        <p:spPr>
          <a:xfrm>
            <a:off x="402336" y="5385815"/>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 y="5449824"/>
            <a:ext cx="3611880" cy="237744"/>
          </a:xfrm>
          <a:prstGeom prst="rect">
            <a:avLst/>
          </a:prstGeom>
          <a:noFill/>
        </p:spPr>
        <p:txBody>
          <a:bodyPr wrap="square">
            <a:spAutoFit/>
          </a:bodyPr>
          <a:lstStyle/>
          <a:p>
            <a:pPr algn="l"/>
            <a:r>
              <a:rPr sz="1100" b="1" i="0">
                <a:solidFill>
                  <a:srgbClr val="2C1A0E"/>
                </a:solidFill>
              </a:rPr>
              <a:t>Outbox for Reliability</a:t>
            </a:r>
          </a:p>
        </p:txBody>
      </p:sp>
      <p:sp>
        <p:nvSpPr>
          <p:cNvPr id="29" name="TextBox 28"/>
          <p:cNvSpPr txBox="1"/>
          <p:nvPr/>
        </p:nvSpPr>
        <p:spPr>
          <a:xfrm>
            <a:off x="402336" y="5669280"/>
            <a:ext cx="3611880" cy="292608"/>
          </a:xfrm>
          <a:prstGeom prst="rect">
            <a:avLst/>
          </a:prstGeom>
          <a:noFill/>
        </p:spPr>
        <p:txBody>
          <a:bodyPr wrap="square">
            <a:spAutoFit/>
          </a:bodyPr>
          <a:lstStyle/>
          <a:p>
            <a:pPr algn="l"/>
            <a:r>
              <a:rPr sz="1050" b="0" i="1">
                <a:solidFill>
                  <a:srgbClr val="3D3D3D"/>
                </a:solidFill>
              </a:rPr>
              <a:t>DB-level transaction guarantees for every Kafka event.</a:t>
            </a:r>
          </a:p>
        </p:txBody>
      </p:sp>
      <p:sp>
        <p:nvSpPr>
          <p:cNvPr id="30" name="Rectangle 29"/>
          <p:cNvSpPr/>
          <p:nvPr/>
        </p:nvSpPr>
        <p:spPr>
          <a:xfrm>
            <a:off x="402336" y="5971031"/>
            <a:ext cx="3611880" cy="9144"/>
          </a:xfrm>
          <a:prstGeom prst="rect">
            <a:avLst/>
          </a:prstGeom>
          <a:solidFill>
            <a:srgbClr val="B0A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34840" y="1417320"/>
            <a:ext cx="7452360" cy="5074920"/>
          </a:xfrm>
          <a:prstGeom prst="rect">
            <a:avLst/>
          </a:prstGeom>
          <a:solidFill>
            <a:srgbClr val="FFFBF5"/>
          </a:solidFill>
          <a:ln w="16510">
            <a:solidFill>
              <a:srgbClr val="6B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4840" y="1417320"/>
            <a:ext cx="7452360" cy="420624"/>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0" y="1472184"/>
            <a:ext cx="7223760" cy="329184"/>
          </a:xfrm>
          <a:prstGeom prst="rect">
            <a:avLst/>
          </a:prstGeom>
          <a:noFill/>
        </p:spPr>
        <p:txBody>
          <a:bodyPr wrap="square">
            <a:spAutoFit/>
          </a:bodyPr>
          <a:lstStyle/>
          <a:p>
            <a:pPr algn="l"/>
            <a:r>
              <a:rPr sz="1300" b="1" i="0">
                <a:solidFill>
                  <a:srgbClr val="FFFBF5"/>
                </a:solidFill>
              </a:rPr>
              <a:t>🧪  Testing Strategy</a:t>
            </a:r>
          </a:p>
        </p:txBody>
      </p:sp>
      <p:sp>
        <p:nvSpPr>
          <p:cNvPr id="34" name="Rectangle 33"/>
          <p:cNvSpPr/>
          <p:nvPr/>
        </p:nvSpPr>
        <p:spPr>
          <a:xfrm>
            <a:off x="4453128" y="1920240"/>
            <a:ext cx="7415783" cy="914400"/>
          </a:xfrm>
          <a:prstGeom prst="rect">
            <a:avLst/>
          </a:prstGeom>
          <a:solidFill>
            <a:srgbClr val="FFFBF5"/>
          </a:solidFill>
          <a:ln w="1524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53128" y="1920240"/>
            <a:ext cx="274320" cy="9144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91456" y="1975104"/>
            <a:ext cx="2560320" cy="274320"/>
          </a:xfrm>
          <a:prstGeom prst="rect">
            <a:avLst/>
          </a:prstGeom>
          <a:noFill/>
        </p:spPr>
        <p:txBody>
          <a:bodyPr wrap="square">
            <a:spAutoFit/>
          </a:bodyPr>
          <a:lstStyle/>
          <a:p>
            <a:pPr algn="l"/>
            <a:r>
              <a:rPr sz="1200" b="1" i="0">
                <a:solidFill>
                  <a:srgbClr val="2C1A0E"/>
                </a:solidFill>
              </a:rPr>
              <a:t>Unit Tests</a:t>
            </a:r>
          </a:p>
        </p:txBody>
      </p:sp>
      <p:sp>
        <p:nvSpPr>
          <p:cNvPr id="37" name="TextBox 36"/>
          <p:cNvSpPr txBox="1"/>
          <p:nvPr/>
        </p:nvSpPr>
        <p:spPr>
          <a:xfrm>
            <a:off x="7406640" y="1975104"/>
            <a:ext cx="4297680" cy="274320"/>
          </a:xfrm>
          <a:prstGeom prst="rect">
            <a:avLst/>
          </a:prstGeom>
          <a:noFill/>
        </p:spPr>
        <p:txBody>
          <a:bodyPr wrap="square">
            <a:spAutoFit/>
          </a:bodyPr>
          <a:lstStyle/>
          <a:p>
            <a:pPr algn="l"/>
            <a:r>
              <a:rPr sz="1100" b="0" i="1">
                <a:solidFill>
                  <a:srgbClr val="2C1A0E"/>
                </a:solidFill>
              </a:rPr>
              <a:t>Mockito · No Spring context</a:t>
            </a:r>
          </a:p>
        </p:txBody>
      </p:sp>
      <p:sp>
        <p:nvSpPr>
          <p:cNvPr id="38" name="TextBox 37"/>
          <p:cNvSpPr txBox="1"/>
          <p:nvPr/>
        </p:nvSpPr>
        <p:spPr>
          <a:xfrm>
            <a:off x="4791456" y="2304288"/>
            <a:ext cx="6949440" cy="475488"/>
          </a:xfrm>
          <a:prstGeom prst="rect">
            <a:avLst/>
          </a:prstGeom>
          <a:noFill/>
        </p:spPr>
        <p:txBody>
          <a:bodyPr wrap="square">
            <a:spAutoFit/>
          </a:bodyPr>
          <a:lstStyle/>
          <a:p>
            <a:pPr algn="l"/>
            <a:r>
              <a:rPr sz="1100" b="0" i="0">
                <a:solidFill>
                  <a:srgbClr val="3D3D3D"/>
                </a:solidFill>
              </a:rPr>
              <a:t>Service logic in isolation. Fast, no I/O, every business rule covered.</a:t>
            </a:r>
          </a:p>
        </p:txBody>
      </p:sp>
      <p:sp>
        <p:nvSpPr>
          <p:cNvPr id="39" name="Rectangle 38"/>
          <p:cNvSpPr/>
          <p:nvPr/>
        </p:nvSpPr>
        <p:spPr>
          <a:xfrm>
            <a:off x="4453128" y="2880360"/>
            <a:ext cx="7415783" cy="914400"/>
          </a:xfrm>
          <a:prstGeom prst="rect">
            <a:avLst/>
          </a:prstGeom>
          <a:solidFill>
            <a:srgbClr val="FFFBF5"/>
          </a:solidFill>
          <a:ln w="1524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453128" y="2880360"/>
            <a:ext cx="274320" cy="914400"/>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91456" y="2935224"/>
            <a:ext cx="2560320" cy="274320"/>
          </a:xfrm>
          <a:prstGeom prst="rect">
            <a:avLst/>
          </a:prstGeom>
          <a:noFill/>
        </p:spPr>
        <p:txBody>
          <a:bodyPr wrap="square">
            <a:spAutoFit/>
          </a:bodyPr>
          <a:lstStyle/>
          <a:p>
            <a:pPr algn="l"/>
            <a:r>
              <a:rPr sz="1200" b="1" i="0">
                <a:solidFill>
                  <a:srgbClr val="2C1A0E"/>
                </a:solidFill>
              </a:rPr>
              <a:t>Controller Tests</a:t>
            </a:r>
          </a:p>
        </p:txBody>
      </p:sp>
      <p:sp>
        <p:nvSpPr>
          <p:cNvPr id="42" name="TextBox 41"/>
          <p:cNvSpPr txBox="1"/>
          <p:nvPr/>
        </p:nvSpPr>
        <p:spPr>
          <a:xfrm>
            <a:off x="7406640" y="2935224"/>
            <a:ext cx="4297680" cy="274320"/>
          </a:xfrm>
          <a:prstGeom prst="rect">
            <a:avLst/>
          </a:prstGeom>
          <a:noFill/>
        </p:spPr>
        <p:txBody>
          <a:bodyPr wrap="square">
            <a:spAutoFit/>
          </a:bodyPr>
          <a:lstStyle/>
          <a:p>
            <a:pPr algn="l"/>
            <a:r>
              <a:rPr sz="1100" b="0" i="1">
                <a:solidFill>
                  <a:srgbClr val="1A5C99"/>
                </a:solidFill>
              </a:rPr>
              <a:t>@WebMvcTest · MockMvc</a:t>
            </a:r>
          </a:p>
        </p:txBody>
      </p:sp>
      <p:sp>
        <p:nvSpPr>
          <p:cNvPr id="43" name="TextBox 42"/>
          <p:cNvSpPr txBox="1"/>
          <p:nvPr/>
        </p:nvSpPr>
        <p:spPr>
          <a:xfrm>
            <a:off x="4791456" y="3264408"/>
            <a:ext cx="6949440" cy="475488"/>
          </a:xfrm>
          <a:prstGeom prst="rect">
            <a:avLst/>
          </a:prstGeom>
          <a:noFill/>
        </p:spPr>
        <p:txBody>
          <a:bodyPr wrap="square">
            <a:spAutoFit/>
          </a:bodyPr>
          <a:lstStyle/>
          <a:p>
            <a:pPr algn="l"/>
            <a:r>
              <a:rPr sz="1100" b="0" i="0">
                <a:solidFill>
                  <a:srgbClr val="3D3D3D"/>
                </a:solidFill>
              </a:rPr>
              <a:t>Full HTTP cycle: JSON serialisation, path params, response codes, error handling.</a:t>
            </a:r>
          </a:p>
        </p:txBody>
      </p:sp>
      <p:sp>
        <p:nvSpPr>
          <p:cNvPr id="44" name="Rectangle 43"/>
          <p:cNvSpPr/>
          <p:nvPr/>
        </p:nvSpPr>
        <p:spPr>
          <a:xfrm>
            <a:off x="4453128" y="3840480"/>
            <a:ext cx="7415783" cy="914400"/>
          </a:xfrm>
          <a:prstGeom prst="rect">
            <a:avLst/>
          </a:prstGeom>
          <a:solidFill>
            <a:srgbClr val="FFFBF5"/>
          </a:solidFill>
          <a:ln w="1524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53128" y="3840480"/>
            <a:ext cx="274320" cy="9144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91456" y="3895344"/>
            <a:ext cx="2560320" cy="274320"/>
          </a:xfrm>
          <a:prstGeom prst="rect">
            <a:avLst/>
          </a:prstGeom>
          <a:noFill/>
        </p:spPr>
        <p:txBody>
          <a:bodyPr wrap="square">
            <a:spAutoFit/>
          </a:bodyPr>
          <a:lstStyle/>
          <a:p>
            <a:pPr algn="l"/>
            <a:r>
              <a:rPr sz="1200" b="1" i="0">
                <a:solidFill>
                  <a:srgbClr val="2C1A0E"/>
                </a:solidFill>
              </a:rPr>
              <a:t>Security Tests</a:t>
            </a:r>
          </a:p>
        </p:txBody>
      </p:sp>
      <p:sp>
        <p:nvSpPr>
          <p:cNvPr id="47" name="TextBox 46"/>
          <p:cNvSpPr txBox="1"/>
          <p:nvPr/>
        </p:nvSpPr>
        <p:spPr>
          <a:xfrm>
            <a:off x="7406640" y="3895344"/>
            <a:ext cx="4297680" cy="274320"/>
          </a:xfrm>
          <a:prstGeom prst="rect">
            <a:avLst/>
          </a:prstGeom>
          <a:noFill/>
        </p:spPr>
        <p:txBody>
          <a:bodyPr wrap="square">
            <a:spAutoFit/>
          </a:bodyPr>
          <a:lstStyle/>
          <a:p>
            <a:pPr algn="l"/>
            <a:r>
              <a:rPr sz="1100" b="0" i="1">
                <a:solidFill>
                  <a:srgbClr val="C62828"/>
                </a:solidFill>
              </a:rPr>
              <a:t>Spring Security Test · @WithMockUser</a:t>
            </a:r>
          </a:p>
        </p:txBody>
      </p:sp>
      <p:sp>
        <p:nvSpPr>
          <p:cNvPr id="48" name="TextBox 47"/>
          <p:cNvSpPr txBox="1"/>
          <p:nvPr/>
        </p:nvSpPr>
        <p:spPr>
          <a:xfrm>
            <a:off x="4791456" y="4224528"/>
            <a:ext cx="6949440" cy="475488"/>
          </a:xfrm>
          <a:prstGeom prst="rect">
            <a:avLst/>
          </a:prstGeom>
          <a:noFill/>
        </p:spPr>
        <p:txBody>
          <a:bodyPr wrap="square">
            <a:spAutoFit/>
          </a:bodyPr>
          <a:lstStyle/>
          <a:p>
            <a:pPr algn="l"/>
            <a:r>
              <a:rPr sz="1100" b="0" i="0">
                <a:solidFill>
                  <a:srgbClr val="3D3D3D"/>
                </a:solidFill>
              </a:rPr>
              <a:t>401/403 on every secured endpoint. Token blacklist. Role boundary assertions.</a:t>
            </a:r>
          </a:p>
        </p:txBody>
      </p:sp>
      <p:sp>
        <p:nvSpPr>
          <p:cNvPr id="49" name="Rectangle 48"/>
          <p:cNvSpPr/>
          <p:nvPr/>
        </p:nvSpPr>
        <p:spPr>
          <a:xfrm>
            <a:off x="4453128" y="4800600"/>
            <a:ext cx="7415783" cy="914400"/>
          </a:xfrm>
          <a:prstGeom prst="rect">
            <a:avLst/>
          </a:prstGeom>
          <a:solidFill>
            <a:srgbClr val="FFFBF5"/>
          </a:solidFill>
          <a:ln w="1524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453128" y="4800600"/>
            <a:ext cx="274320" cy="914400"/>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91456" y="4855464"/>
            <a:ext cx="2560320" cy="274320"/>
          </a:xfrm>
          <a:prstGeom prst="rect">
            <a:avLst/>
          </a:prstGeom>
          <a:noFill/>
        </p:spPr>
        <p:txBody>
          <a:bodyPr wrap="square">
            <a:spAutoFit/>
          </a:bodyPr>
          <a:lstStyle/>
          <a:p>
            <a:pPr algn="l"/>
            <a:r>
              <a:rPr sz="1200" b="1" i="0">
                <a:solidFill>
                  <a:srgbClr val="2C1A0E"/>
                </a:solidFill>
              </a:rPr>
              <a:t>Integration Tests</a:t>
            </a:r>
          </a:p>
        </p:txBody>
      </p:sp>
      <p:sp>
        <p:nvSpPr>
          <p:cNvPr id="52" name="TextBox 51"/>
          <p:cNvSpPr txBox="1"/>
          <p:nvPr/>
        </p:nvSpPr>
        <p:spPr>
          <a:xfrm>
            <a:off x="7406640" y="4855464"/>
            <a:ext cx="4297680" cy="274320"/>
          </a:xfrm>
          <a:prstGeom prst="rect">
            <a:avLst/>
          </a:prstGeom>
          <a:noFill/>
        </p:spPr>
        <p:txBody>
          <a:bodyPr wrap="square">
            <a:spAutoFit/>
          </a:bodyPr>
          <a:lstStyle/>
          <a:p>
            <a:pPr algn="l"/>
            <a:r>
              <a:rPr sz="1100" b="0" i="1">
                <a:solidFill>
                  <a:srgbClr val="3E6B44"/>
                </a:solidFill>
              </a:rPr>
              <a:t>H2 · Testcontainers · @SpringBootTest</a:t>
            </a:r>
          </a:p>
        </p:txBody>
      </p:sp>
      <p:sp>
        <p:nvSpPr>
          <p:cNvPr id="53" name="TextBox 52"/>
          <p:cNvSpPr txBox="1"/>
          <p:nvPr/>
        </p:nvSpPr>
        <p:spPr>
          <a:xfrm>
            <a:off x="4791456" y="5184648"/>
            <a:ext cx="6949440" cy="475488"/>
          </a:xfrm>
          <a:prstGeom prst="rect">
            <a:avLst/>
          </a:prstGeom>
          <a:noFill/>
        </p:spPr>
        <p:txBody>
          <a:bodyPr wrap="square">
            <a:spAutoFit/>
          </a:bodyPr>
          <a:lstStyle/>
          <a:p>
            <a:pPr algn="l"/>
            <a:r>
              <a:rPr sz="1100" b="0" i="0">
                <a:solidFill>
                  <a:srgbClr val="3D3D3D"/>
                </a:solidFill>
              </a:rPr>
              <a:t>Repository layer with real DB. Kafka consumer flows. Full service wiring.</a:t>
            </a:r>
          </a:p>
        </p:txBody>
      </p:sp>
      <p:sp>
        <p:nvSpPr>
          <p:cNvPr id="54" name="Rectangle 53"/>
          <p:cNvSpPr/>
          <p:nvPr/>
        </p:nvSpPr>
        <p:spPr>
          <a:xfrm>
            <a:off x="4453128" y="5760720"/>
            <a:ext cx="7415783" cy="914400"/>
          </a:xfrm>
          <a:prstGeom prst="rect">
            <a:avLst/>
          </a:prstGeom>
          <a:solidFill>
            <a:srgbClr val="FFFBF5"/>
          </a:solidFill>
          <a:ln w="1524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453128" y="5760720"/>
            <a:ext cx="274320"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91456" y="5815584"/>
            <a:ext cx="2560320" cy="274320"/>
          </a:xfrm>
          <a:prstGeom prst="rect">
            <a:avLst/>
          </a:prstGeom>
          <a:noFill/>
        </p:spPr>
        <p:txBody>
          <a:bodyPr wrap="square">
            <a:spAutoFit/>
          </a:bodyPr>
          <a:lstStyle/>
          <a:p>
            <a:pPr algn="l"/>
            <a:r>
              <a:rPr sz="1200" b="1" i="0">
                <a:solidFill>
                  <a:srgbClr val="2C1A0E"/>
                </a:solidFill>
              </a:rPr>
              <a:t>API Contract Tests</a:t>
            </a:r>
          </a:p>
        </p:txBody>
      </p:sp>
      <p:sp>
        <p:nvSpPr>
          <p:cNvPr id="57" name="TextBox 56"/>
          <p:cNvSpPr txBox="1"/>
          <p:nvPr/>
        </p:nvSpPr>
        <p:spPr>
          <a:xfrm>
            <a:off x="7406640" y="5815584"/>
            <a:ext cx="4297680" cy="274320"/>
          </a:xfrm>
          <a:prstGeom prst="rect">
            <a:avLst/>
          </a:prstGeom>
          <a:noFill/>
        </p:spPr>
        <p:txBody>
          <a:bodyPr wrap="square">
            <a:spAutoFit/>
          </a:bodyPr>
          <a:lstStyle/>
          <a:p>
            <a:pPr algn="l"/>
            <a:r>
              <a:rPr sz="1100" b="0" i="1">
                <a:solidFill>
                  <a:srgbClr val="6A1B9A"/>
                </a:solidFill>
              </a:rPr>
              <a:t>MockMvc · DTOs validated</a:t>
            </a:r>
          </a:p>
        </p:txBody>
      </p:sp>
      <p:sp>
        <p:nvSpPr>
          <p:cNvPr id="58" name="TextBox 57"/>
          <p:cNvSpPr txBox="1"/>
          <p:nvPr/>
        </p:nvSpPr>
        <p:spPr>
          <a:xfrm>
            <a:off x="4791456" y="6144768"/>
            <a:ext cx="6949440" cy="475488"/>
          </a:xfrm>
          <a:prstGeom prst="rect">
            <a:avLst/>
          </a:prstGeom>
          <a:noFill/>
        </p:spPr>
        <p:txBody>
          <a:bodyPr wrap="square">
            <a:spAutoFit/>
          </a:bodyPr>
          <a:lstStyle/>
          <a:p>
            <a:pPr algn="l"/>
            <a:r>
              <a:rPr sz="1100" b="0" i="0">
                <a:solidFill>
                  <a:srgbClr val="3D3D3D"/>
                </a:solidFill>
              </a:rPr>
              <a:t>Request/response shapes asserted. Validation annotations tested at boundaries.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Live Demo</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Presenter 3  ·  ~5 minutes  ·  End-to-end customer journey</a:t>
            </a:r>
          </a:p>
        </p:txBody>
      </p:sp>
      <p:sp>
        <p:nvSpPr>
          <p:cNvPr id="6" name="Rectangle 5"/>
          <p:cNvSpPr/>
          <p:nvPr/>
        </p:nvSpPr>
        <p:spPr>
          <a:xfrm>
            <a:off x="256032" y="141732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490472"/>
            <a:ext cx="804672" cy="402336"/>
          </a:xfrm>
          <a:prstGeom prst="rect">
            <a:avLst/>
          </a:prstGeom>
          <a:noFill/>
        </p:spPr>
        <p:txBody>
          <a:bodyPr wrap="square">
            <a:spAutoFit/>
          </a:bodyPr>
          <a:lstStyle/>
          <a:p>
            <a:pPr algn="ctr"/>
            <a:r>
              <a:rPr sz="1100" b="1" i="0">
                <a:solidFill>
                  <a:srgbClr val="2C1A0E"/>
                </a:solidFill>
              </a:rPr>
              <a:t>00:00</a:t>
            </a:r>
          </a:p>
        </p:txBody>
      </p:sp>
      <p:sp>
        <p:nvSpPr>
          <p:cNvPr id="8" name="Rectangle 7"/>
          <p:cNvSpPr/>
          <p:nvPr/>
        </p:nvSpPr>
        <p:spPr>
          <a:xfrm>
            <a:off x="1078992" y="141732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1472184"/>
            <a:ext cx="530352" cy="457200"/>
          </a:xfrm>
          <a:prstGeom prst="rect">
            <a:avLst/>
          </a:prstGeom>
          <a:noFill/>
        </p:spPr>
        <p:txBody>
          <a:bodyPr wrap="square">
            <a:spAutoFit/>
          </a:bodyPr>
          <a:lstStyle/>
          <a:p>
            <a:pPr algn="ctr"/>
            <a:r>
              <a:rPr sz="2200" b="0" i="0">
                <a:solidFill>
                  <a:srgbClr val="F5A623"/>
                </a:solidFill>
              </a:rPr>
              <a:t>👤</a:t>
            </a:r>
          </a:p>
        </p:txBody>
      </p:sp>
      <p:sp>
        <p:nvSpPr>
          <p:cNvPr id="10" name="Rectangle 9"/>
          <p:cNvSpPr/>
          <p:nvPr/>
        </p:nvSpPr>
        <p:spPr>
          <a:xfrm>
            <a:off x="1627632" y="141732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5648" y="1490472"/>
            <a:ext cx="10058400" cy="457200"/>
          </a:xfrm>
          <a:prstGeom prst="rect">
            <a:avLst/>
          </a:prstGeom>
          <a:noFill/>
        </p:spPr>
        <p:txBody>
          <a:bodyPr wrap="square">
            <a:spAutoFit/>
          </a:bodyPr>
          <a:lstStyle/>
          <a:p>
            <a:pPr algn="l"/>
            <a:r>
              <a:rPr sz="1100" b="0" i="0">
                <a:solidFill>
                  <a:srgbClr val="3D3D3D"/>
                </a:solidFill>
              </a:rPr>
              <a:t>Customer Login  —  Log in via email. Show JWT token in DevTools Network tab. Note the role claim.</a:t>
            </a:r>
          </a:p>
        </p:txBody>
      </p:sp>
      <p:sp>
        <p:nvSpPr>
          <p:cNvPr id="12" name="Rectangle 11"/>
          <p:cNvSpPr/>
          <p:nvPr/>
        </p:nvSpPr>
        <p:spPr>
          <a:xfrm>
            <a:off x="256032" y="205740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 y="2130552"/>
            <a:ext cx="804672" cy="402336"/>
          </a:xfrm>
          <a:prstGeom prst="rect">
            <a:avLst/>
          </a:prstGeom>
          <a:noFill/>
        </p:spPr>
        <p:txBody>
          <a:bodyPr wrap="square">
            <a:spAutoFit/>
          </a:bodyPr>
          <a:lstStyle/>
          <a:p>
            <a:pPr algn="ctr"/>
            <a:r>
              <a:rPr sz="1100" b="1" i="0">
                <a:solidFill>
                  <a:srgbClr val="2C1A0E"/>
                </a:solidFill>
              </a:rPr>
              <a:t>00:40</a:t>
            </a:r>
          </a:p>
        </p:txBody>
      </p:sp>
      <p:sp>
        <p:nvSpPr>
          <p:cNvPr id="14" name="Rectangle 13"/>
          <p:cNvSpPr/>
          <p:nvPr/>
        </p:nvSpPr>
        <p:spPr>
          <a:xfrm>
            <a:off x="1078992" y="205740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2112264"/>
            <a:ext cx="530352" cy="457200"/>
          </a:xfrm>
          <a:prstGeom prst="rect">
            <a:avLst/>
          </a:prstGeom>
          <a:noFill/>
        </p:spPr>
        <p:txBody>
          <a:bodyPr wrap="square">
            <a:spAutoFit/>
          </a:bodyPr>
          <a:lstStyle/>
          <a:p>
            <a:pPr algn="ctr"/>
            <a:r>
              <a:rPr sz="2200" b="0" i="0">
                <a:solidFill>
                  <a:srgbClr val="F5A623"/>
                </a:solidFill>
              </a:rPr>
              <a:t>🏪</a:t>
            </a:r>
          </a:p>
        </p:txBody>
      </p:sp>
      <p:sp>
        <p:nvSpPr>
          <p:cNvPr id="16" name="Rectangle 15"/>
          <p:cNvSpPr/>
          <p:nvPr/>
        </p:nvSpPr>
        <p:spPr>
          <a:xfrm>
            <a:off x="1627632" y="205740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55648" y="2130552"/>
            <a:ext cx="10058400" cy="457200"/>
          </a:xfrm>
          <a:prstGeom prst="rect">
            <a:avLst/>
          </a:prstGeom>
          <a:noFill/>
        </p:spPr>
        <p:txBody>
          <a:bodyPr wrap="square">
            <a:spAutoFit/>
          </a:bodyPr>
          <a:lstStyle/>
          <a:p>
            <a:pPr algn="l"/>
            <a:r>
              <a:rPr sz="1100" b="0" i="0">
                <a:solidFill>
                  <a:srgbClr val="3D3D3D"/>
                </a:solidFill>
              </a:rPr>
              <a:t>Select Branch &amp; Browse Menu  —  Navigate to Lekki branch. Browse categories. Highlight image loading from AWS S3.</a:t>
            </a:r>
          </a:p>
        </p:txBody>
      </p:sp>
      <p:sp>
        <p:nvSpPr>
          <p:cNvPr id="18" name="Rectangle 17"/>
          <p:cNvSpPr/>
          <p:nvPr/>
        </p:nvSpPr>
        <p:spPr>
          <a:xfrm>
            <a:off x="256032" y="269748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2770632"/>
            <a:ext cx="804672" cy="402336"/>
          </a:xfrm>
          <a:prstGeom prst="rect">
            <a:avLst/>
          </a:prstGeom>
          <a:noFill/>
        </p:spPr>
        <p:txBody>
          <a:bodyPr wrap="square">
            <a:spAutoFit/>
          </a:bodyPr>
          <a:lstStyle/>
          <a:p>
            <a:pPr algn="ctr"/>
            <a:r>
              <a:rPr sz="1100" b="1" i="0">
                <a:solidFill>
                  <a:srgbClr val="2C1A0E"/>
                </a:solidFill>
              </a:rPr>
              <a:t>01:15</a:t>
            </a:r>
          </a:p>
        </p:txBody>
      </p:sp>
      <p:sp>
        <p:nvSpPr>
          <p:cNvPr id="20" name="Rectangle 19"/>
          <p:cNvSpPr/>
          <p:nvPr/>
        </p:nvSpPr>
        <p:spPr>
          <a:xfrm>
            <a:off x="1078992" y="269748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2752344"/>
            <a:ext cx="530352" cy="457200"/>
          </a:xfrm>
          <a:prstGeom prst="rect">
            <a:avLst/>
          </a:prstGeom>
          <a:noFill/>
        </p:spPr>
        <p:txBody>
          <a:bodyPr wrap="square">
            <a:spAutoFit/>
          </a:bodyPr>
          <a:lstStyle/>
          <a:p>
            <a:pPr algn="ctr"/>
            <a:r>
              <a:rPr sz="2200" b="0" i="0">
                <a:solidFill>
                  <a:srgbClr val="F5A623"/>
                </a:solidFill>
              </a:rPr>
              <a:t>🤖</a:t>
            </a:r>
          </a:p>
        </p:txBody>
      </p:sp>
      <p:sp>
        <p:nvSpPr>
          <p:cNvPr id="22" name="Rectangle 21"/>
          <p:cNvSpPr/>
          <p:nvPr/>
        </p:nvSpPr>
        <p:spPr>
          <a:xfrm>
            <a:off x="1627632" y="269748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55648" y="2770632"/>
            <a:ext cx="10058400" cy="457200"/>
          </a:xfrm>
          <a:prstGeom prst="rect">
            <a:avLst/>
          </a:prstGeom>
          <a:noFill/>
        </p:spPr>
        <p:txBody>
          <a:bodyPr wrap="square">
            <a:spAutoFit/>
          </a:bodyPr>
          <a:lstStyle/>
          <a:p>
            <a:pPr algn="l"/>
            <a:r>
              <a:rPr sz="1100" b="0" i="0">
                <a:solidFill>
                  <a:srgbClr val="3D3D3D"/>
                </a:solidFill>
              </a:rPr>
              <a:t>AI Food Assistant  —  Open AI popup. Complete 7-step wizard. Highlight fulfillment type question. Show server logs — Gemini API call in progress. Show suggestions returned with reasons.</a:t>
            </a:r>
          </a:p>
        </p:txBody>
      </p:sp>
      <p:sp>
        <p:nvSpPr>
          <p:cNvPr id="24" name="Rectangle 23"/>
          <p:cNvSpPr/>
          <p:nvPr/>
        </p:nvSpPr>
        <p:spPr>
          <a:xfrm>
            <a:off x="256032" y="333756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 y="3410712"/>
            <a:ext cx="804672" cy="402336"/>
          </a:xfrm>
          <a:prstGeom prst="rect">
            <a:avLst/>
          </a:prstGeom>
          <a:noFill/>
        </p:spPr>
        <p:txBody>
          <a:bodyPr wrap="square">
            <a:spAutoFit/>
          </a:bodyPr>
          <a:lstStyle/>
          <a:p>
            <a:pPr algn="ctr"/>
            <a:r>
              <a:rPr sz="1100" b="1" i="0">
                <a:solidFill>
                  <a:srgbClr val="2C1A0E"/>
                </a:solidFill>
              </a:rPr>
              <a:t>02:15</a:t>
            </a:r>
          </a:p>
        </p:txBody>
      </p:sp>
      <p:sp>
        <p:nvSpPr>
          <p:cNvPr id="26" name="Rectangle 25"/>
          <p:cNvSpPr/>
          <p:nvPr/>
        </p:nvSpPr>
        <p:spPr>
          <a:xfrm>
            <a:off x="1078992" y="333756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2" y="3392424"/>
            <a:ext cx="530352" cy="457200"/>
          </a:xfrm>
          <a:prstGeom prst="rect">
            <a:avLst/>
          </a:prstGeom>
          <a:noFill/>
        </p:spPr>
        <p:txBody>
          <a:bodyPr wrap="square">
            <a:spAutoFit/>
          </a:bodyPr>
          <a:lstStyle/>
          <a:p>
            <a:pPr algn="ctr"/>
            <a:r>
              <a:rPr sz="2200" b="0" i="0">
                <a:solidFill>
                  <a:srgbClr val="F5A623"/>
                </a:solidFill>
              </a:rPr>
              <a:t>🛒</a:t>
            </a:r>
          </a:p>
        </p:txBody>
      </p:sp>
      <p:sp>
        <p:nvSpPr>
          <p:cNvPr id="28" name="Rectangle 27"/>
          <p:cNvSpPr/>
          <p:nvPr/>
        </p:nvSpPr>
        <p:spPr>
          <a:xfrm>
            <a:off x="1627632" y="333756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55648" y="3410712"/>
            <a:ext cx="10058400" cy="457200"/>
          </a:xfrm>
          <a:prstGeom prst="rect">
            <a:avLst/>
          </a:prstGeom>
          <a:noFill/>
        </p:spPr>
        <p:txBody>
          <a:bodyPr wrap="square">
            <a:spAutoFit/>
          </a:bodyPr>
          <a:lstStyle/>
          <a:p>
            <a:pPr algn="l"/>
            <a:r>
              <a:rPr sz="1100" b="0" i="0">
                <a:solidFill>
                  <a:srgbClr val="3D3D3D"/>
                </a:solidFill>
              </a:rPr>
              <a:t>Place Order  —  Add suggested items to cart. Proceed to checkout. Submit dine-in order. Show 'order.created' Kafka event in terminal logs.</a:t>
            </a:r>
          </a:p>
        </p:txBody>
      </p:sp>
      <p:sp>
        <p:nvSpPr>
          <p:cNvPr id="30" name="Rectangle 29"/>
          <p:cNvSpPr/>
          <p:nvPr/>
        </p:nvSpPr>
        <p:spPr>
          <a:xfrm>
            <a:off x="256032" y="397764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 y="4050792"/>
            <a:ext cx="804672" cy="402336"/>
          </a:xfrm>
          <a:prstGeom prst="rect">
            <a:avLst/>
          </a:prstGeom>
          <a:noFill/>
        </p:spPr>
        <p:txBody>
          <a:bodyPr wrap="square">
            <a:spAutoFit/>
          </a:bodyPr>
          <a:lstStyle/>
          <a:p>
            <a:pPr algn="ctr"/>
            <a:r>
              <a:rPr sz="1100" b="1" i="0">
                <a:solidFill>
                  <a:srgbClr val="2C1A0E"/>
                </a:solidFill>
              </a:rPr>
              <a:t>02:55</a:t>
            </a:r>
          </a:p>
        </p:txBody>
      </p:sp>
      <p:sp>
        <p:nvSpPr>
          <p:cNvPr id="32" name="Rectangle 31"/>
          <p:cNvSpPr/>
          <p:nvPr/>
        </p:nvSpPr>
        <p:spPr>
          <a:xfrm>
            <a:off x="1078992" y="397764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032504"/>
            <a:ext cx="530352" cy="457200"/>
          </a:xfrm>
          <a:prstGeom prst="rect">
            <a:avLst/>
          </a:prstGeom>
          <a:noFill/>
        </p:spPr>
        <p:txBody>
          <a:bodyPr wrap="square">
            <a:spAutoFit/>
          </a:bodyPr>
          <a:lstStyle/>
          <a:p>
            <a:pPr algn="ctr"/>
            <a:r>
              <a:rPr sz="2200" b="0" i="0">
                <a:solidFill>
                  <a:srgbClr val="F5A623"/>
                </a:solidFill>
              </a:rPr>
              <a:t>🍳</a:t>
            </a:r>
          </a:p>
        </p:txBody>
      </p:sp>
      <p:sp>
        <p:nvSpPr>
          <p:cNvPr id="34" name="Rectangle 33"/>
          <p:cNvSpPr/>
          <p:nvPr/>
        </p:nvSpPr>
        <p:spPr>
          <a:xfrm>
            <a:off x="1627632" y="397764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55648" y="4050792"/>
            <a:ext cx="10058400" cy="457200"/>
          </a:xfrm>
          <a:prstGeom prst="rect">
            <a:avLst/>
          </a:prstGeom>
          <a:noFill/>
        </p:spPr>
        <p:txBody>
          <a:bodyPr wrap="square">
            <a:spAutoFit/>
          </a:bodyPr>
          <a:lstStyle/>
          <a:p>
            <a:pPr algn="l"/>
            <a:r>
              <a:rPr sz="1100" b="0" i="0">
                <a:solidFill>
                  <a:srgbClr val="3D3D3D"/>
                </a:solidFill>
              </a:rPr>
              <a:t>Kitchen Receives Order  —  Switch to Kitchen Staff window (incognito). Order appears in real-time — no refresh. Update to PREPARING. SLA timer visible. Mark order READY.</a:t>
            </a:r>
          </a:p>
        </p:txBody>
      </p:sp>
      <p:sp>
        <p:nvSpPr>
          <p:cNvPr id="36" name="Rectangle 35"/>
          <p:cNvSpPr/>
          <p:nvPr/>
        </p:nvSpPr>
        <p:spPr>
          <a:xfrm>
            <a:off x="256032" y="461772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6032" y="4690872"/>
            <a:ext cx="804672" cy="402336"/>
          </a:xfrm>
          <a:prstGeom prst="rect">
            <a:avLst/>
          </a:prstGeom>
          <a:noFill/>
        </p:spPr>
        <p:txBody>
          <a:bodyPr wrap="square">
            <a:spAutoFit/>
          </a:bodyPr>
          <a:lstStyle/>
          <a:p>
            <a:pPr algn="ctr"/>
            <a:r>
              <a:rPr sz="1100" b="1" i="0">
                <a:solidFill>
                  <a:srgbClr val="2C1A0E"/>
                </a:solidFill>
              </a:rPr>
              <a:t>03:35</a:t>
            </a:r>
          </a:p>
        </p:txBody>
      </p:sp>
      <p:sp>
        <p:nvSpPr>
          <p:cNvPr id="38" name="Rectangle 37"/>
          <p:cNvSpPr/>
          <p:nvPr/>
        </p:nvSpPr>
        <p:spPr>
          <a:xfrm>
            <a:off x="1078992" y="461772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8992" y="4672584"/>
            <a:ext cx="530352" cy="457200"/>
          </a:xfrm>
          <a:prstGeom prst="rect">
            <a:avLst/>
          </a:prstGeom>
          <a:noFill/>
        </p:spPr>
        <p:txBody>
          <a:bodyPr wrap="square">
            <a:spAutoFit/>
          </a:bodyPr>
          <a:lstStyle/>
          <a:p>
            <a:pPr algn="ctr"/>
            <a:r>
              <a:rPr sz="2200" b="0" i="0">
                <a:solidFill>
                  <a:srgbClr val="F5A623"/>
                </a:solidFill>
              </a:rPr>
              <a:t>🔔</a:t>
            </a:r>
          </a:p>
        </p:txBody>
      </p:sp>
      <p:sp>
        <p:nvSpPr>
          <p:cNvPr id="40" name="Rectangle 39"/>
          <p:cNvSpPr/>
          <p:nvPr/>
        </p:nvSpPr>
        <p:spPr>
          <a:xfrm>
            <a:off x="1627632" y="461772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55648" y="4690872"/>
            <a:ext cx="10058400" cy="457200"/>
          </a:xfrm>
          <a:prstGeom prst="rect">
            <a:avLst/>
          </a:prstGeom>
          <a:noFill/>
        </p:spPr>
        <p:txBody>
          <a:bodyPr wrap="square">
            <a:spAutoFit/>
          </a:bodyPr>
          <a:lstStyle/>
          <a:p>
            <a:pPr algn="l"/>
            <a:r>
              <a:rPr sz="1100" b="0" i="0">
                <a:solidFill>
                  <a:srgbClr val="3D3D3D"/>
                </a:solidFill>
              </a:rPr>
              <a:t>Customer Notification  —  Return to customer window. Show WebSocket notification: 'Your order is ready!'. Show email notification in logs.</a:t>
            </a:r>
          </a:p>
        </p:txBody>
      </p:sp>
      <p:sp>
        <p:nvSpPr>
          <p:cNvPr id="42" name="Rectangle 41"/>
          <p:cNvSpPr/>
          <p:nvPr/>
        </p:nvSpPr>
        <p:spPr>
          <a:xfrm>
            <a:off x="256032" y="525780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 y="5330952"/>
            <a:ext cx="804672" cy="402336"/>
          </a:xfrm>
          <a:prstGeom prst="rect">
            <a:avLst/>
          </a:prstGeom>
          <a:noFill/>
        </p:spPr>
        <p:txBody>
          <a:bodyPr wrap="square">
            <a:spAutoFit/>
          </a:bodyPr>
          <a:lstStyle/>
          <a:p>
            <a:pPr algn="ctr"/>
            <a:r>
              <a:rPr sz="1100" b="1" i="0">
                <a:solidFill>
                  <a:srgbClr val="2C1A0E"/>
                </a:solidFill>
              </a:rPr>
              <a:t>04:10</a:t>
            </a:r>
          </a:p>
        </p:txBody>
      </p:sp>
      <p:sp>
        <p:nvSpPr>
          <p:cNvPr id="44" name="Rectangle 43"/>
          <p:cNvSpPr/>
          <p:nvPr/>
        </p:nvSpPr>
        <p:spPr>
          <a:xfrm>
            <a:off x="1078992" y="525780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8992" y="5312664"/>
            <a:ext cx="530352" cy="457200"/>
          </a:xfrm>
          <a:prstGeom prst="rect">
            <a:avLst/>
          </a:prstGeom>
          <a:noFill/>
        </p:spPr>
        <p:txBody>
          <a:bodyPr wrap="square">
            <a:spAutoFit/>
          </a:bodyPr>
          <a:lstStyle/>
          <a:p>
            <a:pPr algn="ctr"/>
            <a:r>
              <a:rPr sz="2200" b="0" i="0">
                <a:solidFill>
                  <a:srgbClr val="F5A623"/>
                </a:solidFill>
              </a:rPr>
              <a:t>📊</a:t>
            </a:r>
          </a:p>
        </p:txBody>
      </p:sp>
      <p:sp>
        <p:nvSpPr>
          <p:cNvPr id="46" name="Rectangle 45"/>
          <p:cNvSpPr/>
          <p:nvPr/>
        </p:nvSpPr>
        <p:spPr>
          <a:xfrm>
            <a:off x="1627632" y="525780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55648" y="5330952"/>
            <a:ext cx="10058400" cy="457200"/>
          </a:xfrm>
          <a:prstGeom prst="rect">
            <a:avLst/>
          </a:prstGeom>
          <a:noFill/>
        </p:spPr>
        <p:txBody>
          <a:bodyPr wrap="square">
            <a:spAutoFit/>
          </a:bodyPr>
          <a:lstStyle/>
          <a:p>
            <a:pPr algn="l"/>
            <a:r>
              <a:rPr sz="1100" b="0" i="0">
                <a:solidFill>
                  <a:srgbClr val="3D3D3D"/>
                </a:solidFill>
              </a:rPr>
              <a:t>Branch Manager Analytics  —  Switch to Branch Manager. Show live order queue, daily revenue, top items. Highlight Redis cache indicator on repeat load.</a:t>
            </a:r>
          </a:p>
        </p:txBody>
      </p:sp>
      <p:sp>
        <p:nvSpPr>
          <p:cNvPr id="48" name="Rectangle 47"/>
          <p:cNvSpPr/>
          <p:nvPr/>
        </p:nvSpPr>
        <p:spPr>
          <a:xfrm>
            <a:off x="256032" y="5897880"/>
            <a:ext cx="804672"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6032" y="5971032"/>
            <a:ext cx="804672" cy="402336"/>
          </a:xfrm>
          <a:prstGeom prst="rect">
            <a:avLst/>
          </a:prstGeom>
          <a:noFill/>
        </p:spPr>
        <p:txBody>
          <a:bodyPr wrap="square">
            <a:spAutoFit/>
          </a:bodyPr>
          <a:lstStyle/>
          <a:p>
            <a:pPr algn="ctr"/>
            <a:r>
              <a:rPr sz="1100" b="1" i="0">
                <a:solidFill>
                  <a:srgbClr val="2C1A0E"/>
                </a:solidFill>
              </a:rPr>
              <a:t>04:40</a:t>
            </a:r>
          </a:p>
        </p:txBody>
      </p:sp>
      <p:sp>
        <p:nvSpPr>
          <p:cNvPr id="50" name="Rectangle 49"/>
          <p:cNvSpPr/>
          <p:nvPr/>
        </p:nvSpPr>
        <p:spPr>
          <a:xfrm>
            <a:off x="1078992" y="5897880"/>
            <a:ext cx="530352" cy="56692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78992" y="5952744"/>
            <a:ext cx="530352" cy="457200"/>
          </a:xfrm>
          <a:prstGeom prst="rect">
            <a:avLst/>
          </a:prstGeom>
          <a:noFill/>
        </p:spPr>
        <p:txBody>
          <a:bodyPr wrap="square">
            <a:spAutoFit/>
          </a:bodyPr>
          <a:lstStyle/>
          <a:p>
            <a:pPr algn="ctr"/>
            <a:r>
              <a:rPr sz="2200" b="0" i="0">
                <a:solidFill>
                  <a:srgbClr val="F5A623"/>
                </a:solidFill>
              </a:rPr>
              <a:t>🏢</a:t>
            </a:r>
          </a:p>
        </p:txBody>
      </p:sp>
      <p:sp>
        <p:nvSpPr>
          <p:cNvPr id="52" name="Rectangle 51"/>
          <p:cNvSpPr/>
          <p:nvPr/>
        </p:nvSpPr>
        <p:spPr>
          <a:xfrm>
            <a:off x="1627632" y="5897880"/>
            <a:ext cx="10241280" cy="566928"/>
          </a:xfrm>
          <a:prstGeom prst="rect">
            <a:avLst/>
          </a:prstGeom>
          <a:solidFill>
            <a:srgbClr val="FFFBF5"/>
          </a:solidFill>
          <a:ln w="889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755648" y="5971032"/>
            <a:ext cx="10058400" cy="457200"/>
          </a:xfrm>
          <a:prstGeom prst="rect">
            <a:avLst/>
          </a:prstGeom>
          <a:noFill/>
        </p:spPr>
        <p:txBody>
          <a:bodyPr wrap="square">
            <a:spAutoFit/>
          </a:bodyPr>
          <a:lstStyle/>
          <a:p>
            <a:pPr algn="l"/>
            <a:r>
              <a:rPr sz="1100" b="0" i="0">
                <a:solidFill>
                  <a:srgbClr val="3D3D3D"/>
                </a:solidFill>
              </a:rPr>
              <a:t>Head Office Admin  —  Switch to Head Office window. Cross-branch comparison chart. Generate a PDF report. Download it. Demonstrate RBAC — branch manager can't see this.</a:t>
            </a:r>
          </a:p>
        </p:txBody>
      </p:sp>
      <p:sp>
        <p:nvSpPr>
          <p:cNvPr id="54" name="Rectangle 53"/>
          <p:cNvSpPr/>
          <p:nvPr/>
        </p:nvSpPr>
        <p:spPr>
          <a:xfrm>
            <a:off x="256032" y="6446520"/>
            <a:ext cx="11676888" cy="27432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6473952"/>
            <a:ext cx="11521440" cy="219456"/>
          </a:xfrm>
          <a:prstGeom prst="rect">
            <a:avLst/>
          </a:prstGeom>
          <a:noFill/>
        </p:spPr>
        <p:txBody>
          <a:bodyPr wrap="square">
            <a:spAutoFit/>
          </a:bodyPr>
          <a:lstStyle/>
          <a:p>
            <a:pPr algn="l"/>
            <a:r>
              <a:rPr sz="1000" b="1" i="0">
                <a:solidFill>
                  <a:srgbClr val="F5A623"/>
                </a:solidFill>
              </a:rPr>
              <a:t>🔄 BACKUP PLAN: If internet fails — show pre-recorded screen capture. If Gemini times out — explain the feature live and show the JSON payloads in the code.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Impact &amp; Innovation</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Real problems · Real solutions · Real scale</a:t>
            </a:r>
          </a:p>
        </p:txBody>
      </p:sp>
      <p:sp>
        <p:nvSpPr>
          <p:cNvPr id="6" name="TextBox 5"/>
          <p:cNvSpPr txBox="1"/>
          <p:nvPr/>
        </p:nvSpPr>
        <p:spPr>
          <a:xfrm>
            <a:off x="365760" y="1325880"/>
            <a:ext cx="11430000" cy="384048"/>
          </a:xfrm>
          <a:prstGeom prst="rect">
            <a:avLst/>
          </a:prstGeom>
          <a:noFill/>
        </p:spPr>
        <p:txBody>
          <a:bodyPr wrap="square">
            <a:spAutoFit/>
          </a:bodyPr>
          <a:lstStyle/>
          <a:p>
            <a:pPr algn="ctr"/>
            <a:r>
              <a:rPr sz="1500" b="0" i="1">
                <a:solidFill>
                  <a:srgbClr val="2C1A0E"/>
                </a:solidFill>
              </a:rPr>
              <a:t>"FoodChain doesn't digitise the chaos — it eliminates it."</a:t>
            </a:r>
          </a:p>
        </p:txBody>
      </p:sp>
      <p:sp>
        <p:nvSpPr>
          <p:cNvPr id="7" name="Rectangle 6"/>
          <p:cNvSpPr/>
          <p:nvPr/>
        </p:nvSpPr>
        <p:spPr>
          <a:xfrm>
            <a:off x="274320" y="1810512"/>
            <a:ext cx="3840480" cy="2103120"/>
          </a:xfrm>
          <a:prstGeom prst="rect">
            <a:avLst/>
          </a:prstGeom>
          <a:solidFill>
            <a:srgbClr val="FFFBF5"/>
          </a:solidFill>
          <a:ln w="2286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810512"/>
            <a:ext cx="3840480" cy="4572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883664"/>
            <a:ext cx="3657600" cy="347472"/>
          </a:xfrm>
          <a:prstGeom prst="rect">
            <a:avLst/>
          </a:prstGeom>
          <a:noFill/>
        </p:spPr>
        <p:txBody>
          <a:bodyPr wrap="square">
            <a:spAutoFit/>
          </a:bodyPr>
          <a:lstStyle/>
          <a:p>
            <a:pPr algn="l"/>
            <a:r>
              <a:rPr sz="1250" b="1" i="0">
                <a:solidFill>
                  <a:srgbClr val="FFFBF5"/>
                </a:solidFill>
              </a:rPr>
              <a:t>🚀  AI-Driven Orders</a:t>
            </a:r>
          </a:p>
        </p:txBody>
      </p:sp>
      <p:sp>
        <p:nvSpPr>
          <p:cNvPr id="10" name="TextBox 9"/>
          <p:cNvSpPr txBox="1"/>
          <p:nvPr/>
        </p:nvSpPr>
        <p:spPr>
          <a:xfrm>
            <a:off x="402336" y="2359152"/>
            <a:ext cx="3584448" cy="1463040"/>
          </a:xfrm>
          <a:prstGeom prst="rect">
            <a:avLst/>
          </a:prstGeom>
          <a:noFill/>
        </p:spPr>
        <p:txBody>
          <a:bodyPr wrap="square">
            <a:spAutoFit/>
          </a:bodyPr>
          <a:lstStyle/>
          <a:p>
            <a:pPr algn="l"/>
            <a:r>
              <a:rPr sz="1150" b="0" i="0">
                <a:solidFill>
                  <a:srgbClr val="3D3D3D"/>
                </a:solidFill>
              </a:rPr>
              <a:t>First platform to use Gemini 2.5 Flash for inventory-aware food recommendations. Average order value increases when customers receive personalised suggestions.</a:t>
            </a:r>
          </a:p>
        </p:txBody>
      </p:sp>
      <p:sp>
        <p:nvSpPr>
          <p:cNvPr id="11" name="Rectangle 10"/>
          <p:cNvSpPr/>
          <p:nvPr/>
        </p:nvSpPr>
        <p:spPr>
          <a:xfrm>
            <a:off x="4389120" y="1810512"/>
            <a:ext cx="3840480" cy="2103120"/>
          </a:xfrm>
          <a:prstGeom prst="rect">
            <a:avLst/>
          </a:prstGeom>
          <a:solidFill>
            <a:srgbClr val="FFFBF5"/>
          </a:solidFill>
          <a:ln w="22860">
            <a:solidFill>
              <a:srgbClr val="3E6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810512"/>
            <a:ext cx="3840480" cy="457200"/>
          </a:xfrm>
          <a:prstGeom prst="rect">
            <a:avLst/>
          </a:prstGeom>
          <a:solidFill>
            <a:srgbClr val="3E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883664"/>
            <a:ext cx="3657600" cy="347472"/>
          </a:xfrm>
          <a:prstGeom prst="rect">
            <a:avLst/>
          </a:prstGeom>
          <a:noFill/>
        </p:spPr>
        <p:txBody>
          <a:bodyPr wrap="square">
            <a:spAutoFit/>
          </a:bodyPr>
          <a:lstStyle/>
          <a:p>
            <a:pPr algn="l"/>
            <a:r>
              <a:rPr sz="1250" b="1" i="0">
                <a:solidFill>
                  <a:srgbClr val="FFFBF5"/>
                </a:solidFill>
              </a:rPr>
              <a:t>🔒  Zero Lost Events</a:t>
            </a:r>
          </a:p>
        </p:txBody>
      </p:sp>
      <p:sp>
        <p:nvSpPr>
          <p:cNvPr id="14" name="TextBox 13"/>
          <p:cNvSpPr txBox="1"/>
          <p:nvPr/>
        </p:nvSpPr>
        <p:spPr>
          <a:xfrm>
            <a:off x="4517136" y="2359152"/>
            <a:ext cx="3584448" cy="1463040"/>
          </a:xfrm>
          <a:prstGeom prst="rect">
            <a:avLst/>
          </a:prstGeom>
          <a:noFill/>
        </p:spPr>
        <p:txBody>
          <a:bodyPr wrap="square">
            <a:spAutoFit/>
          </a:bodyPr>
          <a:lstStyle/>
          <a:p>
            <a:pPr algn="l"/>
            <a:r>
              <a:rPr sz="1150" b="0" i="0">
                <a:solidFill>
                  <a:srgbClr val="3D3D3D"/>
                </a:solidFill>
              </a:rPr>
              <a:t>Outbox Pattern + at-least-once Kafka delivery means no order event is ever lost, even during partial infrastructure failures.</a:t>
            </a:r>
          </a:p>
        </p:txBody>
      </p:sp>
      <p:sp>
        <p:nvSpPr>
          <p:cNvPr id="15" name="Rectangle 14"/>
          <p:cNvSpPr/>
          <p:nvPr/>
        </p:nvSpPr>
        <p:spPr>
          <a:xfrm>
            <a:off x="8503920" y="1810512"/>
            <a:ext cx="3840480" cy="2103120"/>
          </a:xfrm>
          <a:prstGeom prst="rect">
            <a:avLst/>
          </a:prstGeom>
          <a:solidFill>
            <a:srgbClr val="FFFBF5"/>
          </a:solidFill>
          <a:ln w="2286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1810512"/>
            <a:ext cx="3840480" cy="457200"/>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883664"/>
            <a:ext cx="3657600" cy="347472"/>
          </a:xfrm>
          <a:prstGeom prst="rect">
            <a:avLst/>
          </a:prstGeom>
          <a:noFill/>
        </p:spPr>
        <p:txBody>
          <a:bodyPr wrap="square">
            <a:spAutoFit/>
          </a:bodyPr>
          <a:lstStyle/>
          <a:p>
            <a:pPr algn="l"/>
            <a:r>
              <a:rPr sz="1250" b="1" i="0">
                <a:solidFill>
                  <a:srgbClr val="FFFBF5"/>
                </a:solidFill>
              </a:rPr>
              <a:t>⏱️  Reduced Wait Times</a:t>
            </a:r>
          </a:p>
        </p:txBody>
      </p:sp>
      <p:sp>
        <p:nvSpPr>
          <p:cNvPr id="18" name="TextBox 17"/>
          <p:cNvSpPr txBox="1"/>
          <p:nvPr/>
        </p:nvSpPr>
        <p:spPr>
          <a:xfrm>
            <a:off x="8631936" y="2359152"/>
            <a:ext cx="3584448" cy="1463040"/>
          </a:xfrm>
          <a:prstGeom prst="rect">
            <a:avLst/>
          </a:prstGeom>
          <a:noFill/>
        </p:spPr>
        <p:txBody>
          <a:bodyPr wrap="square">
            <a:spAutoFit/>
          </a:bodyPr>
          <a:lstStyle/>
          <a:p>
            <a:pPr algn="l"/>
            <a:r>
              <a:rPr sz="1150" b="0" i="0">
                <a:solidFill>
                  <a:srgbClr val="3D3D3D"/>
                </a:solidFill>
              </a:rPr>
              <a:t>SLA monitoring with Redis priority queuing ensures kitchen staff always work on the right order. Colour-coded urgency replaces guesswork.</a:t>
            </a:r>
          </a:p>
        </p:txBody>
      </p:sp>
      <p:sp>
        <p:nvSpPr>
          <p:cNvPr id="19" name="Rectangle 18"/>
          <p:cNvSpPr/>
          <p:nvPr/>
        </p:nvSpPr>
        <p:spPr>
          <a:xfrm>
            <a:off x="274320" y="4114800"/>
            <a:ext cx="3840480" cy="2103120"/>
          </a:xfrm>
          <a:prstGeom prst="rect">
            <a:avLst/>
          </a:prstGeom>
          <a:solidFill>
            <a:srgbClr val="FFFBF5"/>
          </a:solidFill>
          <a:ln w="2286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4114800"/>
            <a:ext cx="3840480" cy="4572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187952"/>
            <a:ext cx="3657600" cy="347472"/>
          </a:xfrm>
          <a:prstGeom prst="rect">
            <a:avLst/>
          </a:prstGeom>
          <a:noFill/>
        </p:spPr>
        <p:txBody>
          <a:bodyPr wrap="square">
            <a:spAutoFit/>
          </a:bodyPr>
          <a:lstStyle/>
          <a:p>
            <a:pPr algn="l"/>
            <a:r>
              <a:rPr sz="1250" b="1" i="0">
                <a:solidFill>
                  <a:srgbClr val="FFFBF5"/>
                </a:solidFill>
              </a:rPr>
              <a:t>📊  Executive Intelligence</a:t>
            </a:r>
          </a:p>
        </p:txBody>
      </p:sp>
      <p:sp>
        <p:nvSpPr>
          <p:cNvPr id="22" name="TextBox 21"/>
          <p:cNvSpPr txBox="1"/>
          <p:nvPr/>
        </p:nvSpPr>
        <p:spPr>
          <a:xfrm>
            <a:off x="402336" y="4663440"/>
            <a:ext cx="3584448" cy="1463040"/>
          </a:xfrm>
          <a:prstGeom prst="rect">
            <a:avLst/>
          </a:prstGeom>
          <a:noFill/>
        </p:spPr>
        <p:txBody>
          <a:bodyPr wrap="square">
            <a:spAutoFit/>
          </a:bodyPr>
          <a:lstStyle/>
          <a:p>
            <a:pPr algn="l"/>
            <a:r>
              <a:rPr sz="1150" b="0" i="0">
                <a:solidFill>
                  <a:srgbClr val="3D3D3D"/>
                </a:solidFill>
              </a:rPr>
              <a:t>Live cross-branch analytics and one-click report generation replace monthly manual spreadsheets. Managers make data-driven decisions daily.</a:t>
            </a:r>
          </a:p>
        </p:txBody>
      </p:sp>
      <p:sp>
        <p:nvSpPr>
          <p:cNvPr id="23" name="Rectangle 22"/>
          <p:cNvSpPr/>
          <p:nvPr/>
        </p:nvSpPr>
        <p:spPr>
          <a:xfrm>
            <a:off x="4389120" y="4114800"/>
            <a:ext cx="3840480" cy="2103120"/>
          </a:xfrm>
          <a:prstGeom prst="rect">
            <a:avLst/>
          </a:prstGeom>
          <a:solidFill>
            <a:srgbClr val="FFFBF5"/>
          </a:solidFill>
          <a:ln w="228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4114800"/>
            <a:ext cx="3840480" cy="4572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4187952"/>
            <a:ext cx="3657600" cy="347472"/>
          </a:xfrm>
          <a:prstGeom prst="rect">
            <a:avLst/>
          </a:prstGeom>
          <a:noFill/>
        </p:spPr>
        <p:txBody>
          <a:bodyPr wrap="square">
            <a:spAutoFit/>
          </a:bodyPr>
          <a:lstStyle/>
          <a:p>
            <a:pPr algn="l"/>
            <a:r>
              <a:rPr sz="1250" b="1" i="0">
                <a:solidFill>
                  <a:srgbClr val="FFFBF5"/>
                </a:solidFill>
              </a:rPr>
              <a:t>🔐  Enterprise Security</a:t>
            </a:r>
          </a:p>
        </p:txBody>
      </p:sp>
      <p:sp>
        <p:nvSpPr>
          <p:cNvPr id="26" name="TextBox 25"/>
          <p:cNvSpPr txBox="1"/>
          <p:nvPr/>
        </p:nvSpPr>
        <p:spPr>
          <a:xfrm>
            <a:off x="4517136" y="4663440"/>
            <a:ext cx="3584448" cy="1463040"/>
          </a:xfrm>
          <a:prstGeom prst="rect">
            <a:avLst/>
          </a:prstGeom>
          <a:noFill/>
        </p:spPr>
        <p:txBody>
          <a:bodyPr wrap="square">
            <a:spAutoFit/>
          </a:bodyPr>
          <a:lstStyle/>
          <a:p>
            <a:pPr algn="l"/>
            <a:r>
              <a:rPr sz="1150" b="0" i="0">
                <a:solidFill>
                  <a:srgbClr val="3D3D3D"/>
                </a:solidFill>
              </a:rPr>
              <a:t>JWT + OAuth2 + Redis blacklisting + @PreAuthorize RBAC. A security posture designed for regulated industries, not just a demo.</a:t>
            </a:r>
          </a:p>
        </p:txBody>
      </p:sp>
      <p:sp>
        <p:nvSpPr>
          <p:cNvPr id="27" name="Rectangle 26"/>
          <p:cNvSpPr/>
          <p:nvPr/>
        </p:nvSpPr>
        <p:spPr>
          <a:xfrm>
            <a:off x="8503920" y="4114800"/>
            <a:ext cx="3840480" cy="2103120"/>
          </a:xfrm>
          <a:prstGeom prst="rect">
            <a:avLst/>
          </a:prstGeom>
          <a:solidFill>
            <a:srgbClr val="FFFBF5"/>
          </a:solidFill>
          <a:ln w="22860">
            <a:solidFill>
              <a:srgbClr val="C87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503920" y="4114800"/>
            <a:ext cx="3840480" cy="457200"/>
          </a:xfrm>
          <a:prstGeom prst="rect">
            <a:avLst/>
          </a:prstGeom>
          <a:solidFill>
            <a:srgbClr val="C87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0" y="4187952"/>
            <a:ext cx="3657600" cy="347472"/>
          </a:xfrm>
          <a:prstGeom prst="rect">
            <a:avLst/>
          </a:prstGeom>
          <a:noFill/>
        </p:spPr>
        <p:txBody>
          <a:bodyPr wrap="square">
            <a:spAutoFit/>
          </a:bodyPr>
          <a:lstStyle/>
          <a:p>
            <a:pPr algn="l"/>
            <a:r>
              <a:rPr sz="1250" b="1" i="0">
                <a:solidFill>
                  <a:srgbClr val="FFFBF5"/>
                </a:solidFill>
              </a:rPr>
              <a:t>🌍  Scales to 1,000+</a:t>
            </a:r>
          </a:p>
        </p:txBody>
      </p:sp>
      <p:sp>
        <p:nvSpPr>
          <p:cNvPr id="30" name="TextBox 29"/>
          <p:cNvSpPr txBox="1"/>
          <p:nvPr/>
        </p:nvSpPr>
        <p:spPr>
          <a:xfrm>
            <a:off x="8631936" y="4663440"/>
            <a:ext cx="3584448" cy="1463040"/>
          </a:xfrm>
          <a:prstGeom prst="rect">
            <a:avLst/>
          </a:prstGeom>
          <a:noFill/>
        </p:spPr>
        <p:txBody>
          <a:bodyPr wrap="square">
            <a:spAutoFit/>
          </a:bodyPr>
          <a:lstStyle/>
          <a:p>
            <a:pPr algn="l"/>
            <a:r>
              <a:rPr sz="1150" b="0" i="0">
                <a:solidFill>
                  <a:srgbClr val="3D3D3D"/>
                </a:solidFill>
              </a:rPr>
              <a:t>Branch-scoped data, Kafka partitioning, Redis clustering, and horizontal service scaling mean adding branches requires configuration, not code changes.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Challenges &amp; Lessons Learned</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Engineering under constraint builds better engineers</a:t>
            </a:r>
          </a:p>
        </p:txBody>
      </p:sp>
      <p:sp>
        <p:nvSpPr>
          <p:cNvPr id="6" name="Rectangle 5"/>
          <p:cNvSpPr/>
          <p:nvPr/>
        </p:nvSpPr>
        <p:spPr>
          <a:xfrm>
            <a:off x="274320" y="1417320"/>
            <a:ext cx="5806440" cy="1371600"/>
          </a:xfrm>
          <a:prstGeom prst="rect">
            <a:avLst/>
          </a:prstGeom>
          <a:solidFill>
            <a:srgbClr val="FFFBF5"/>
          </a:solidFill>
          <a:ln w="1651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72184"/>
            <a:ext cx="5623560" cy="292608"/>
          </a:xfrm>
          <a:prstGeom prst="rect">
            <a:avLst/>
          </a:prstGeom>
          <a:noFill/>
        </p:spPr>
        <p:txBody>
          <a:bodyPr wrap="square">
            <a:spAutoFit/>
          </a:bodyPr>
          <a:lstStyle/>
          <a:p>
            <a:pPr algn="l"/>
            <a:r>
              <a:rPr sz="1150" b="1" i="0">
                <a:solidFill>
                  <a:srgbClr val="C62828"/>
                </a:solidFill>
              </a:rPr>
              <a:t>🔴 Kafka Consumer Idempotency</a:t>
            </a:r>
          </a:p>
        </p:txBody>
      </p:sp>
      <p:sp>
        <p:nvSpPr>
          <p:cNvPr id="8" name="TextBox 7"/>
          <p:cNvSpPr txBox="1"/>
          <p:nvPr/>
        </p:nvSpPr>
        <p:spPr>
          <a:xfrm>
            <a:off x="365760" y="1801368"/>
            <a:ext cx="5623560" cy="347472"/>
          </a:xfrm>
          <a:prstGeom prst="rect">
            <a:avLst/>
          </a:prstGeom>
          <a:noFill/>
        </p:spPr>
        <p:txBody>
          <a:bodyPr wrap="square">
            <a:spAutoFit/>
          </a:bodyPr>
          <a:lstStyle/>
          <a:p>
            <a:pPr algn="l"/>
            <a:r>
              <a:rPr sz="1050" b="0" i="0">
                <a:solidFill>
                  <a:srgbClr val="3D3D3D"/>
                </a:solidFill>
              </a:rPr>
              <a:t>Challenge: Kafka can redeliver events on restart, causing duplicate processing.</a:t>
            </a:r>
          </a:p>
        </p:txBody>
      </p:sp>
      <p:sp>
        <p:nvSpPr>
          <p:cNvPr id="9" name="TextBox 8"/>
          <p:cNvSpPr txBox="1"/>
          <p:nvPr/>
        </p:nvSpPr>
        <p:spPr>
          <a:xfrm>
            <a:off x="365760" y="2194560"/>
            <a:ext cx="5623560" cy="493776"/>
          </a:xfrm>
          <a:prstGeom prst="rect">
            <a:avLst/>
          </a:prstGeom>
          <a:noFill/>
        </p:spPr>
        <p:txBody>
          <a:bodyPr wrap="square">
            <a:spAutoFit/>
          </a:bodyPr>
          <a:lstStyle/>
          <a:p>
            <a:pPr algn="l"/>
            <a:r>
              <a:rPr sz="1050" b="0" i="1">
                <a:solidFill>
                  <a:srgbClr val="3E6B44"/>
                </a:solidFill>
              </a:rPr>
              <a:t>Solution: Idempotency keys in consumers; DB-level unique constraints on event IDs.</a:t>
            </a:r>
          </a:p>
        </p:txBody>
      </p:sp>
      <p:sp>
        <p:nvSpPr>
          <p:cNvPr id="10" name="Rectangle 9"/>
          <p:cNvSpPr/>
          <p:nvPr/>
        </p:nvSpPr>
        <p:spPr>
          <a:xfrm>
            <a:off x="6400800" y="1417320"/>
            <a:ext cx="5806440" cy="1371600"/>
          </a:xfrm>
          <a:prstGeom prst="rect">
            <a:avLst/>
          </a:prstGeom>
          <a:solidFill>
            <a:srgbClr val="FFFBF5"/>
          </a:solidFill>
          <a:ln w="1651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72184"/>
            <a:ext cx="5623560" cy="292608"/>
          </a:xfrm>
          <a:prstGeom prst="rect">
            <a:avLst/>
          </a:prstGeom>
          <a:noFill/>
        </p:spPr>
        <p:txBody>
          <a:bodyPr wrap="square">
            <a:spAutoFit/>
          </a:bodyPr>
          <a:lstStyle/>
          <a:p>
            <a:pPr algn="l"/>
            <a:r>
              <a:rPr sz="1150" b="1" i="0">
                <a:solidFill>
                  <a:srgbClr val="C62828"/>
                </a:solidFill>
              </a:rPr>
              <a:t>🔴 Distributed Data Consistency</a:t>
            </a:r>
          </a:p>
        </p:txBody>
      </p:sp>
      <p:sp>
        <p:nvSpPr>
          <p:cNvPr id="12" name="TextBox 11"/>
          <p:cNvSpPr txBox="1"/>
          <p:nvPr/>
        </p:nvSpPr>
        <p:spPr>
          <a:xfrm>
            <a:off x="6492240" y="1801368"/>
            <a:ext cx="5623560" cy="347472"/>
          </a:xfrm>
          <a:prstGeom prst="rect">
            <a:avLst/>
          </a:prstGeom>
          <a:noFill/>
        </p:spPr>
        <p:txBody>
          <a:bodyPr wrap="square">
            <a:spAutoFit/>
          </a:bodyPr>
          <a:lstStyle/>
          <a:p>
            <a:pPr algn="l"/>
            <a:r>
              <a:rPr sz="1050" b="0" i="0">
                <a:solidFill>
                  <a:srgbClr val="3D3D3D"/>
                </a:solidFill>
              </a:rPr>
              <a:t>Challenge: Order placed but kitchen queue update fails — inconsistent state.</a:t>
            </a:r>
          </a:p>
        </p:txBody>
      </p:sp>
      <p:sp>
        <p:nvSpPr>
          <p:cNvPr id="13" name="TextBox 12"/>
          <p:cNvSpPr txBox="1"/>
          <p:nvPr/>
        </p:nvSpPr>
        <p:spPr>
          <a:xfrm>
            <a:off x="6492240" y="2194560"/>
            <a:ext cx="5623560" cy="493776"/>
          </a:xfrm>
          <a:prstGeom prst="rect">
            <a:avLst/>
          </a:prstGeom>
          <a:noFill/>
        </p:spPr>
        <p:txBody>
          <a:bodyPr wrap="square">
            <a:spAutoFit/>
          </a:bodyPr>
          <a:lstStyle/>
          <a:p>
            <a:pPr algn="l"/>
            <a:r>
              <a:rPr sz="1050" b="0" i="1">
                <a:solidFill>
                  <a:srgbClr val="3E6B44"/>
                </a:solidFill>
              </a:rPr>
              <a:t>Solution: Outbox Pattern ensures DB write and event publish are atomic.</a:t>
            </a:r>
          </a:p>
        </p:txBody>
      </p:sp>
      <p:sp>
        <p:nvSpPr>
          <p:cNvPr id="14" name="Rectangle 13"/>
          <p:cNvSpPr/>
          <p:nvPr/>
        </p:nvSpPr>
        <p:spPr>
          <a:xfrm>
            <a:off x="274320" y="2935224"/>
            <a:ext cx="5806440" cy="1371600"/>
          </a:xfrm>
          <a:prstGeom prst="rect">
            <a:avLst/>
          </a:prstGeom>
          <a:solidFill>
            <a:srgbClr val="FFFBF5"/>
          </a:solidFill>
          <a:ln w="1651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990088"/>
            <a:ext cx="5623560" cy="292608"/>
          </a:xfrm>
          <a:prstGeom prst="rect">
            <a:avLst/>
          </a:prstGeom>
          <a:noFill/>
        </p:spPr>
        <p:txBody>
          <a:bodyPr wrap="square">
            <a:spAutoFit/>
          </a:bodyPr>
          <a:lstStyle/>
          <a:p>
            <a:pPr algn="l"/>
            <a:r>
              <a:rPr sz="1150" b="1" i="0">
                <a:solidFill>
                  <a:srgbClr val="C62828"/>
                </a:solidFill>
              </a:rPr>
              <a:t>🔴 Lombok + Java 25 Incompatibility</a:t>
            </a:r>
          </a:p>
        </p:txBody>
      </p:sp>
      <p:sp>
        <p:nvSpPr>
          <p:cNvPr id="16" name="TextBox 15"/>
          <p:cNvSpPr txBox="1"/>
          <p:nvPr/>
        </p:nvSpPr>
        <p:spPr>
          <a:xfrm>
            <a:off x="365760" y="3319272"/>
            <a:ext cx="5623560" cy="347472"/>
          </a:xfrm>
          <a:prstGeom prst="rect">
            <a:avLst/>
          </a:prstGeom>
          <a:noFill/>
        </p:spPr>
        <p:txBody>
          <a:bodyPr wrap="square">
            <a:spAutoFit/>
          </a:bodyPr>
          <a:lstStyle/>
          <a:p>
            <a:pPr algn="l"/>
            <a:r>
              <a:rPr sz="1050" b="0" i="0">
                <a:solidFill>
                  <a:srgbClr val="3D3D3D"/>
                </a:solidFill>
              </a:rPr>
              <a:t>Challenge: Lombok 1.18.30 annotation processor fails silently on Java 25.</a:t>
            </a:r>
          </a:p>
        </p:txBody>
      </p:sp>
      <p:sp>
        <p:nvSpPr>
          <p:cNvPr id="17" name="TextBox 16"/>
          <p:cNvSpPr txBox="1"/>
          <p:nvPr/>
        </p:nvSpPr>
        <p:spPr>
          <a:xfrm>
            <a:off x="365760" y="3712464"/>
            <a:ext cx="5623560" cy="493776"/>
          </a:xfrm>
          <a:prstGeom prst="rect">
            <a:avLst/>
          </a:prstGeom>
          <a:noFill/>
        </p:spPr>
        <p:txBody>
          <a:bodyPr wrap="square">
            <a:spAutoFit/>
          </a:bodyPr>
          <a:lstStyle/>
          <a:p>
            <a:pPr algn="l"/>
            <a:r>
              <a:rPr sz="1050" b="0" i="1">
                <a:solidFill>
                  <a:srgbClr val="3E6B44"/>
                </a:solidFill>
              </a:rPr>
              <a:t>Solution: Upgraded to 1.18.38 + explicit annotationProcessorPaths in Maven.</a:t>
            </a:r>
          </a:p>
        </p:txBody>
      </p:sp>
      <p:sp>
        <p:nvSpPr>
          <p:cNvPr id="18" name="Rectangle 17"/>
          <p:cNvSpPr/>
          <p:nvPr/>
        </p:nvSpPr>
        <p:spPr>
          <a:xfrm>
            <a:off x="6400800" y="2935224"/>
            <a:ext cx="5806440" cy="1371600"/>
          </a:xfrm>
          <a:prstGeom prst="rect">
            <a:avLst/>
          </a:prstGeom>
          <a:solidFill>
            <a:srgbClr val="FFFBF5"/>
          </a:solidFill>
          <a:ln w="1651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990088"/>
            <a:ext cx="5623560" cy="292608"/>
          </a:xfrm>
          <a:prstGeom prst="rect">
            <a:avLst/>
          </a:prstGeom>
          <a:noFill/>
        </p:spPr>
        <p:txBody>
          <a:bodyPr wrap="square">
            <a:spAutoFit/>
          </a:bodyPr>
          <a:lstStyle/>
          <a:p>
            <a:pPr algn="l"/>
            <a:r>
              <a:rPr sz="1150" b="1" i="0">
                <a:solidFill>
                  <a:srgbClr val="C62828"/>
                </a:solidFill>
              </a:rPr>
              <a:t>🔴 Gemini Content-Type Mismatch</a:t>
            </a:r>
          </a:p>
        </p:txBody>
      </p:sp>
      <p:sp>
        <p:nvSpPr>
          <p:cNvPr id="20" name="TextBox 19"/>
          <p:cNvSpPr txBox="1"/>
          <p:nvPr/>
        </p:nvSpPr>
        <p:spPr>
          <a:xfrm>
            <a:off x="6492240" y="3319272"/>
            <a:ext cx="5623560" cy="347472"/>
          </a:xfrm>
          <a:prstGeom prst="rect">
            <a:avLst/>
          </a:prstGeom>
          <a:noFill/>
        </p:spPr>
        <p:txBody>
          <a:bodyPr wrap="square">
            <a:spAutoFit/>
          </a:bodyPr>
          <a:lstStyle/>
          <a:p>
            <a:pPr algn="l"/>
            <a:r>
              <a:rPr sz="1050" b="0" i="0">
                <a:solidFill>
                  <a:srgbClr val="3D3D3D"/>
                </a:solidFill>
              </a:rPr>
              <a:t>Challenge: Gemini API returns application/octet-stream, not application/json.</a:t>
            </a:r>
          </a:p>
        </p:txBody>
      </p:sp>
      <p:sp>
        <p:nvSpPr>
          <p:cNvPr id="21" name="TextBox 20"/>
          <p:cNvSpPr txBox="1"/>
          <p:nvPr/>
        </p:nvSpPr>
        <p:spPr>
          <a:xfrm>
            <a:off x="6492240" y="3712464"/>
            <a:ext cx="5623560" cy="493776"/>
          </a:xfrm>
          <a:prstGeom prst="rect">
            <a:avLst/>
          </a:prstGeom>
          <a:noFill/>
        </p:spPr>
        <p:txBody>
          <a:bodyPr wrap="square">
            <a:spAutoFit/>
          </a:bodyPr>
          <a:lstStyle/>
          <a:p>
            <a:pPr algn="l"/>
            <a:r>
              <a:rPr sz="1050" b="0" i="1">
                <a:solidFill>
                  <a:srgbClr val="3E6B44"/>
                </a:solidFill>
              </a:rPr>
              <a:t>Solution: Read response as byte[], parse manually with ObjectMapper.</a:t>
            </a:r>
          </a:p>
        </p:txBody>
      </p:sp>
      <p:sp>
        <p:nvSpPr>
          <p:cNvPr id="22" name="Rectangle 21"/>
          <p:cNvSpPr/>
          <p:nvPr/>
        </p:nvSpPr>
        <p:spPr>
          <a:xfrm>
            <a:off x="274320" y="4453128"/>
            <a:ext cx="5806440" cy="137160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507992"/>
            <a:ext cx="5623560" cy="292608"/>
          </a:xfrm>
          <a:prstGeom prst="rect">
            <a:avLst/>
          </a:prstGeom>
          <a:noFill/>
        </p:spPr>
        <p:txBody>
          <a:bodyPr wrap="square">
            <a:spAutoFit/>
          </a:bodyPr>
          <a:lstStyle/>
          <a:p>
            <a:pPr algn="l"/>
            <a:r>
              <a:rPr sz="1150" b="1" i="0">
                <a:solidFill>
                  <a:srgbClr val="C87F0A"/>
                </a:solidFill>
              </a:rPr>
              <a:t>🟡 Frontend State Complexity</a:t>
            </a:r>
          </a:p>
        </p:txBody>
      </p:sp>
      <p:sp>
        <p:nvSpPr>
          <p:cNvPr id="24" name="TextBox 23"/>
          <p:cNvSpPr txBox="1"/>
          <p:nvPr/>
        </p:nvSpPr>
        <p:spPr>
          <a:xfrm>
            <a:off x="365760" y="4837176"/>
            <a:ext cx="5623560" cy="347472"/>
          </a:xfrm>
          <a:prstGeom prst="rect">
            <a:avLst/>
          </a:prstGeom>
          <a:noFill/>
        </p:spPr>
        <p:txBody>
          <a:bodyPr wrap="square">
            <a:spAutoFit/>
          </a:bodyPr>
          <a:lstStyle/>
          <a:p>
            <a:pPr algn="l"/>
            <a:r>
              <a:rPr sz="1050" b="0" i="0">
                <a:solidFill>
                  <a:srgbClr val="3D3D3D"/>
                </a:solidFill>
              </a:rPr>
              <a:t>Challenge: 7-step AI wizard + cart + real-time status in one coherent state.</a:t>
            </a:r>
          </a:p>
        </p:txBody>
      </p:sp>
      <p:sp>
        <p:nvSpPr>
          <p:cNvPr id="25" name="TextBox 24"/>
          <p:cNvSpPr txBox="1"/>
          <p:nvPr/>
        </p:nvSpPr>
        <p:spPr>
          <a:xfrm>
            <a:off x="365760" y="5230368"/>
            <a:ext cx="5623560" cy="493776"/>
          </a:xfrm>
          <a:prstGeom prst="rect">
            <a:avLst/>
          </a:prstGeom>
          <a:noFill/>
        </p:spPr>
        <p:txBody>
          <a:bodyPr wrap="square">
            <a:spAutoFit/>
          </a:bodyPr>
          <a:lstStyle/>
          <a:p>
            <a:pPr algn="l"/>
            <a:r>
              <a:rPr sz="1050" b="0" i="1">
                <a:solidFill>
                  <a:srgbClr val="3E6B44"/>
                </a:solidFill>
              </a:rPr>
              <a:t>Solution: Zustand store + TanStack Query for server state; clean slice separation.</a:t>
            </a:r>
          </a:p>
        </p:txBody>
      </p:sp>
      <p:sp>
        <p:nvSpPr>
          <p:cNvPr id="26" name="Rectangle 25"/>
          <p:cNvSpPr/>
          <p:nvPr/>
        </p:nvSpPr>
        <p:spPr>
          <a:xfrm>
            <a:off x="6400800" y="4453128"/>
            <a:ext cx="5806440" cy="1371600"/>
          </a:xfrm>
          <a:prstGeom prst="rect">
            <a:avLst/>
          </a:prstGeom>
          <a:solidFill>
            <a:srgbClr val="FFFBF5"/>
          </a:solidFill>
          <a:ln w="1651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507992"/>
            <a:ext cx="5623560" cy="292608"/>
          </a:xfrm>
          <a:prstGeom prst="rect">
            <a:avLst/>
          </a:prstGeom>
          <a:noFill/>
        </p:spPr>
        <p:txBody>
          <a:bodyPr wrap="square">
            <a:spAutoFit/>
          </a:bodyPr>
          <a:lstStyle/>
          <a:p>
            <a:pPr algn="l"/>
            <a:r>
              <a:rPr sz="1150" b="1" i="0">
                <a:solidFill>
                  <a:srgbClr val="C87F0A"/>
                </a:solidFill>
              </a:rPr>
              <a:t>🟡 Test Isolation in Microservices</a:t>
            </a:r>
          </a:p>
        </p:txBody>
      </p:sp>
      <p:sp>
        <p:nvSpPr>
          <p:cNvPr id="28" name="TextBox 27"/>
          <p:cNvSpPr txBox="1"/>
          <p:nvPr/>
        </p:nvSpPr>
        <p:spPr>
          <a:xfrm>
            <a:off x="6492240" y="4837176"/>
            <a:ext cx="5623560" cy="347472"/>
          </a:xfrm>
          <a:prstGeom prst="rect">
            <a:avLst/>
          </a:prstGeom>
          <a:noFill/>
        </p:spPr>
        <p:txBody>
          <a:bodyPr wrap="square">
            <a:spAutoFit/>
          </a:bodyPr>
          <a:lstStyle/>
          <a:p>
            <a:pPr algn="l"/>
            <a:r>
              <a:rPr sz="1050" b="0" i="0">
                <a:solidFill>
                  <a:srgbClr val="3D3D3D"/>
                </a:solidFill>
              </a:rPr>
              <a:t>Challenge: Integration tests need Kafka, MySQL, Redis — not just H2.</a:t>
            </a:r>
          </a:p>
        </p:txBody>
      </p:sp>
      <p:sp>
        <p:nvSpPr>
          <p:cNvPr id="29" name="TextBox 28"/>
          <p:cNvSpPr txBox="1"/>
          <p:nvPr/>
        </p:nvSpPr>
        <p:spPr>
          <a:xfrm>
            <a:off x="6492240" y="5230368"/>
            <a:ext cx="5623560" cy="493776"/>
          </a:xfrm>
          <a:prstGeom prst="rect">
            <a:avLst/>
          </a:prstGeom>
          <a:noFill/>
        </p:spPr>
        <p:txBody>
          <a:bodyPr wrap="square">
            <a:spAutoFit/>
          </a:bodyPr>
          <a:lstStyle/>
          <a:p>
            <a:pPr algn="l"/>
            <a:r>
              <a:rPr sz="1050" b="0" i="1">
                <a:solidFill>
                  <a:srgbClr val="3E6B44"/>
                </a:solidFill>
              </a:rPr>
              <a:t>Solution: Testcontainers for Kafka flows; H2 for repository layer; mocks for unit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Future Improvements</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Roadmap — what comes next</a:t>
            </a:r>
          </a:p>
        </p:txBody>
      </p:sp>
      <p:sp>
        <p:nvSpPr>
          <p:cNvPr id="6" name="Rectangle 5"/>
          <p:cNvSpPr/>
          <p:nvPr/>
        </p:nvSpPr>
        <p:spPr>
          <a:xfrm>
            <a:off x="274320" y="1417320"/>
            <a:ext cx="2834640" cy="5074920"/>
          </a:xfrm>
          <a:prstGeom prst="rect">
            <a:avLst/>
          </a:prstGeom>
          <a:solidFill>
            <a:srgbClr val="FFFBF5"/>
          </a:solidFill>
          <a:ln w="2540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17320"/>
            <a:ext cx="2834640" cy="475488"/>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63040"/>
            <a:ext cx="2651760" cy="347472"/>
          </a:xfrm>
          <a:prstGeom prst="rect">
            <a:avLst/>
          </a:prstGeom>
          <a:noFill/>
        </p:spPr>
        <p:txBody>
          <a:bodyPr wrap="square">
            <a:spAutoFit/>
          </a:bodyPr>
          <a:lstStyle/>
          <a:p>
            <a:pPr algn="l"/>
            <a:r>
              <a:rPr sz="1200" b="1" i="0">
                <a:solidFill>
                  <a:srgbClr val="FFFBF5"/>
                </a:solidFill>
              </a:rPr>
              <a:t>🌐  Phase 1 — Reliability</a:t>
            </a:r>
          </a:p>
        </p:txBody>
      </p:sp>
      <p:sp>
        <p:nvSpPr>
          <p:cNvPr id="9" name="Rectangle 8"/>
          <p:cNvSpPr/>
          <p:nvPr/>
        </p:nvSpPr>
        <p:spPr>
          <a:xfrm>
            <a:off x="420624" y="2103120"/>
            <a:ext cx="91440" cy="91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011680"/>
            <a:ext cx="2468880" cy="274320"/>
          </a:xfrm>
          <a:prstGeom prst="rect">
            <a:avLst/>
          </a:prstGeom>
          <a:noFill/>
        </p:spPr>
        <p:txBody>
          <a:bodyPr wrap="square">
            <a:spAutoFit/>
          </a:bodyPr>
          <a:lstStyle/>
          <a:p>
            <a:pPr algn="l"/>
            <a:r>
              <a:rPr sz="1150" b="0" i="0">
                <a:solidFill>
                  <a:srgbClr val="3D3D3D"/>
                </a:solidFill>
              </a:rPr>
              <a:t>OpenTelemetry distributed tracing</a:t>
            </a:r>
          </a:p>
        </p:txBody>
      </p:sp>
      <p:sp>
        <p:nvSpPr>
          <p:cNvPr id="11" name="Rectangle 10"/>
          <p:cNvSpPr/>
          <p:nvPr/>
        </p:nvSpPr>
        <p:spPr>
          <a:xfrm>
            <a:off x="420624" y="2761488"/>
            <a:ext cx="91440" cy="91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670048"/>
            <a:ext cx="2468880" cy="274320"/>
          </a:xfrm>
          <a:prstGeom prst="rect">
            <a:avLst/>
          </a:prstGeom>
          <a:noFill/>
        </p:spPr>
        <p:txBody>
          <a:bodyPr wrap="square">
            <a:spAutoFit/>
          </a:bodyPr>
          <a:lstStyle/>
          <a:p>
            <a:pPr algn="l"/>
            <a:r>
              <a:rPr sz="1150" b="0" i="0">
                <a:solidFill>
                  <a:srgbClr val="3D3D3D"/>
                </a:solidFill>
              </a:rPr>
              <a:t>Prometheus + Grafana monitoring dashboards</a:t>
            </a:r>
          </a:p>
        </p:txBody>
      </p:sp>
      <p:sp>
        <p:nvSpPr>
          <p:cNvPr id="13" name="Rectangle 12"/>
          <p:cNvSpPr/>
          <p:nvPr/>
        </p:nvSpPr>
        <p:spPr>
          <a:xfrm>
            <a:off x="420624" y="3419856"/>
            <a:ext cx="91440" cy="91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328416"/>
            <a:ext cx="2468880" cy="274320"/>
          </a:xfrm>
          <a:prstGeom prst="rect">
            <a:avLst/>
          </a:prstGeom>
          <a:noFill/>
        </p:spPr>
        <p:txBody>
          <a:bodyPr wrap="square">
            <a:spAutoFit/>
          </a:bodyPr>
          <a:lstStyle/>
          <a:p>
            <a:pPr algn="l"/>
            <a:r>
              <a:rPr sz="1150" b="0" i="0">
                <a:solidFill>
                  <a:srgbClr val="3D3D3D"/>
                </a:solidFill>
              </a:rPr>
              <a:t>Circuit breakers with Resilience4j</a:t>
            </a:r>
          </a:p>
        </p:txBody>
      </p:sp>
      <p:sp>
        <p:nvSpPr>
          <p:cNvPr id="15" name="Rectangle 14"/>
          <p:cNvSpPr/>
          <p:nvPr/>
        </p:nvSpPr>
        <p:spPr>
          <a:xfrm>
            <a:off x="420624" y="4078224"/>
            <a:ext cx="91440" cy="9144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986784"/>
            <a:ext cx="2468880" cy="274320"/>
          </a:xfrm>
          <a:prstGeom prst="rect">
            <a:avLst/>
          </a:prstGeom>
          <a:noFill/>
        </p:spPr>
        <p:txBody>
          <a:bodyPr wrap="square">
            <a:spAutoFit/>
          </a:bodyPr>
          <a:lstStyle/>
          <a:p>
            <a:pPr algn="l"/>
            <a:r>
              <a:rPr sz="1150" b="0" i="0">
                <a:solidFill>
                  <a:srgbClr val="3D3D3D"/>
                </a:solidFill>
              </a:rPr>
              <a:t>Dead-letter queue management UI</a:t>
            </a:r>
          </a:p>
        </p:txBody>
      </p:sp>
      <p:sp>
        <p:nvSpPr>
          <p:cNvPr id="17" name="Rectangle 16"/>
          <p:cNvSpPr/>
          <p:nvPr/>
        </p:nvSpPr>
        <p:spPr>
          <a:xfrm>
            <a:off x="3255264" y="1417320"/>
            <a:ext cx="2834640" cy="5074920"/>
          </a:xfrm>
          <a:prstGeom prst="rect">
            <a:avLst/>
          </a:prstGeom>
          <a:solidFill>
            <a:srgbClr val="FFFBF5"/>
          </a:solidFill>
          <a:ln w="25400">
            <a:solidFill>
              <a:srgbClr val="1A5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55264" y="1417320"/>
            <a:ext cx="2834640" cy="475488"/>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46704" y="1463040"/>
            <a:ext cx="2651760" cy="347472"/>
          </a:xfrm>
          <a:prstGeom prst="rect">
            <a:avLst/>
          </a:prstGeom>
          <a:noFill/>
        </p:spPr>
        <p:txBody>
          <a:bodyPr wrap="square">
            <a:spAutoFit/>
          </a:bodyPr>
          <a:lstStyle/>
          <a:p>
            <a:pPr algn="l"/>
            <a:r>
              <a:rPr sz="1200" b="1" i="0">
                <a:solidFill>
                  <a:srgbClr val="FFFBF5"/>
                </a:solidFill>
              </a:rPr>
              <a:t>🚀  Phase 2 — Scale</a:t>
            </a:r>
          </a:p>
        </p:txBody>
      </p:sp>
      <p:sp>
        <p:nvSpPr>
          <p:cNvPr id="20" name="Rectangle 19"/>
          <p:cNvSpPr/>
          <p:nvPr/>
        </p:nvSpPr>
        <p:spPr>
          <a:xfrm>
            <a:off x="3401568" y="2103120"/>
            <a:ext cx="91440" cy="91440"/>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47872" y="2011680"/>
            <a:ext cx="2468880" cy="274320"/>
          </a:xfrm>
          <a:prstGeom prst="rect">
            <a:avLst/>
          </a:prstGeom>
          <a:noFill/>
        </p:spPr>
        <p:txBody>
          <a:bodyPr wrap="square">
            <a:spAutoFit/>
          </a:bodyPr>
          <a:lstStyle/>
          <a:p>
            <a:pPr algn="l"/>
            <a:r>
              <a:rPr sz="1150" b="0" i="0">
                <a:solidFill>
                  <a:srgbClr val="3D3D3D"/>
                </a:solidFill>
              </a:rPr>
              <a:t>Kubernetes deployment (Helm charts)</a:t>
            </a:r>
          </a:p>
        </p:txBody>
      </p:sp>
      <p:sp>
        <p:nvSpPr>
          <p:cNvPr id="22" name="Rectangle 21"/>
          <p:cNvSpPr/>
          <p:nvPr/>
        </p:nvSpPr>
        <p:spPr>
          <a:xfrm>
            <a:off x="3401568" y="2761488"/>
            <a:ext cx="91440" cy="91440"/>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47872" y="2670048"/>
            <a:ext cx="2468880" cy="274320"/>
          </a:xfrm>
          <a:prstGeom prst="rect">
            <a:avLst/>
          </a:prstGeom>
          <a:noFill/>
        </p:spPr>
        <p:txBody>
          <a:bodyPr wrap="square">
            <a:spAutoFit/>
          </a:bodyPr>
          <a:lstStyle/>
          <a:p>
            <a:pPr algn="l"/>
            <a:r>
              <a:rPr sz="1150" b="0" i="0">
                <a:solidFill>
                  <a:srgbClr val="3D3D3D"/>
                </a:solidFill>
              </a:rPr>
              <a:t>Kafka partition scaling by branch volume</a:t>
            </a:r>
          </a:p>
        </p:txBody>
      </p:sp>
      <p:sp>
        <p:nvSpPr>
          <p:cNvPr id="24" name="Rectangle 23"/>
          <p:cNvSpPr/>
          <p:nvPr/>
        </p:nvSpPr>
        <p:spPr>
          <a:xfrm>
            <a:off x="3401568" y="3419856"/>
            <a:ext cx="91440" cy="91440"/>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3328416"/>
            <a:ext cx="2468880" cy="274320"/>
          </a:xfrm>
          <a:prstGeom prst="rect">
            <a:avLst/>
          </a:prstGeom>
          <a:noFill/>
        </p:spPr>
        <p:txBody>
          <a:bodyPr wrap="square">
            <a:spAutoFit/>
          </a:bodyPr>
          <a:lstStyle/>
          <a:p>
            <a:pPr algn="l"/>
            <a:r>
              <a:rPr sz="1150" b="0" i="0">
                <a:solidFill>
                  <a:srgbClr val="3D3D3D"/>
                </a:solidFill>
              </a:rPr>
              <a:t>Read replicas for analytics queries</a:t>
            </a:r>
          </a:p>
        </p:txBody>
      </p:sp>
      <p:sp>
        <p:nvSpPr>
          <p:cNvPr id="26" name="Rectangle 25"/>
          <p:cNvSpPr/>
          <p:nvPr/>
        </p:nvSpPr>
        <p:spPr>
          <a:xfrm>
            <a:off x="3401568" y="4078224"/>
            <a:ext cx="91440" cy="91440"/>
          </a:xfrm>
          <a:prstGeom prst="rect">
            <a:avLst/>
          </a:prstGeom>
          <a:solidFill>
            <a:srgbClr val="1A5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47872" y="3986784"/>
            <a:ext cx="2468880" cy="274320"/>
          </a:xfrm>
          <a:prstGeom prst="rect">
            <a:avLst/>
          </a:prstGeom>
          <a:noFill/>
        </p:spPr>
        <p:txBody>
          <a:bodyPr wrap="square">
            <a:spAutoFit/>
          </a:bodyPr>
          <a:lstStyle/>
          <a:p>
            <a:pPr algn="l"/>
            <a:r>
              <a:rPr sz="1150" b="0" i="0">
                <a:solidFill>
                  <a:srgbClr val="3D3D3D"/>
                </a:solidFill>
              </a:rPr>
              <a:t>CDN for menu images (CloudFront)</a:t>
            </a:r>
          </a:p>
        </p:txBody>
      </p:sp>
      <p:sp>
        <p:nvSpPr>
          <p:cNvPr id="28" name="Rectangle 27"/>
          <p:cNvSpPr/>
          <p:nvPr/>
        </p:nvSpPr>
        <p:spPr>
          <a:xfrm>
            <a:off x="6236208" y="1417320"/>
            <a:ext cx="2834640" cy="5074920"/>
          </a:xfrm>
          <a:prstGeom prst="rect">
            <a:avLst/>
          </a:prstGeom>
          <a:solidFill>
            <a:srgbClr val="FFFBF5"/>
          </a:solidFill>
          <a:ln w="254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6208" y="1417320"/>
            <a:ext cx="2834640" cy="475488"/>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7648" y="1463040"/>
            <a:ext cx="2651760" cy="347472"/>
          </a:xfrm>
          <a:prstGeom prst="rect">
            <a:avLst/>
          </a:prstGeom>
          <a:noFill/>
        </p:spPr>
        <p:txBody>
          <a:bodyPr wrap="square">
            <a:spAutoFit/>
          </a:bodyPr>
          <a:lstStyle/>
          <a:p>
            <a:pPr algn="l"/>
            <a:r>
              <a:rPr sz="1200" b="1" i="0">
                <a:solidFill>
                  <a:srgbClr val="FFFBF5"/>
                </a:solidFill>
              </a:rPr>
              <a:t>🤖  Phase 3 — Intelligence</a:t>
            </a:r>
          </a:p>
        </p:txBody>
      </p:sp>
      <p:sp>
        <p:nvSpPr>
          <p:cNvPr id="31" name="Rectangle 30"/>
          <p:cNvSpPr/>
          <p:nvPr/>
        </p:nvSpPr>
        <p:spPr>
          <a:xfrm>
            <a:off x="6382512" y="2103120"/>
            <a:ext cx="91440" cy="914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8816" y="2011680"/>
            <a:ext cx="2468880" cy="274320"/>
          </a:xfrm>
          <a:prstGeom prst="rect">
            <a:avLst/>
          </a:prstGeom>
          <a:noFill/>
        </p:spPr>
        <p:txBody>
          <a:bodyPr wrap="square">
            <a:spAutoFit/>
          </a:bodyPr>
          <a:lstStyle/>
          <a:p>
            <a:pPr algn="l"/>
            <a:r>
              <a:rPr sz="1150" b="0" i="0">
                <a:solidFill>
                  <a:srgbClr val="3D3D3D"/>
                </a:solidFill>
              </a:rPr>
              <a:t>AI demand forecasting for inventory</a:t>
            </a:r>
          </a:p>
        </p:txBody>
      </p:sp>
      <p:sp>
        <p:nvSpPr>
          <p:cNvPr id="33" name="Rectangle 32"/>
          <p:cNvSpPr/>
          <p:nvPr/>
        </p:nvSpPr>
        <p:spPr>
          <a:xfrm>
            <a:off x="6382512" y="2761488"/>
            <a:ext cx="91440" cy="914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28816" y="2670048"/>
            <a:ext cx="2468880" cy="274320"/>
          </a:xfrm>
          <a:prstGeom prst="rect">
            <a:avLst/>
          </a:prstGeom>
          <a:noFill/>
        </p:spPr>
        <p:txBody>
          <a:bodyPr wrap="square">
            <a:spAutoFit/>
          </a:bodyPr>
          <a:lstStyle/>
          <a:p>
            <a:pPr algn="l"/>
            <a:r>
              <a:rPr sz="1150" b="0" i="0">
                <a:solidFill>
                  <a:srgbClr val="3D3D3D"/>
                </a:solidFill>
              </a:rPr>
              <a:t>Dynamic pricing suggestions</a:t>
            </a:r>
          </a:p>
        </p:txBody>
      </p:sp>
      <p:sp>
        <p:nvSpPr>
          <p:cNvPr id="35" name="Rectangle 34"/>
          <p:cNvSpPr/>
          <p:nvPr/>
        </p:nvSpPr>
        <p:spPr>
          <a:xfrm>
            <a:off x="6382512" y="3419856"/>
            <a:ext cx="91440" cy="914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8816" y="3328416"/>
            <a:ext cx="2468880" cy="274320"/>
          </a:xfrm>
          <a:prstGeom prst="rect">
            <a:avLst/>
          </a:prstGeom>
          <a:noFill/>
        </p:spPr>
        <p:txBody>
          <a:bodyPr wrap="square">
            <a:spAutoFit/>
          </a:bodyPr>
          <a:lstStyle/>
          <a:p>
            <a:pPr algn="l"/>
            <a:r>
              <a:rPr sz="1150" b="0" i="0">
                <a:solidFill>
                  <a:srgbClr val="3D3D3D"/>
                </a:solidFill>
              </a:rPr>
              <a:t>Customer churn prediction</a:t>
            </a:r>
          </a:p>
        </p:txBody>
      </p:sp>
      <p:sp>
        <p:nvSpPr>
          <p:cNvPr id="37" name="Rectangle 36"/>
          <p:cNvSpPr/>
          <p:nvPr/>
        </p:nvSpPr>
        <p:spPr>
          <a:xfrm>
            <a:off x="6382512" y="4078224"/>
            <a:ext cx="91440" cy="914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28816" y="3986784"/>
            <a:ext cx="2468880" cy="274320"/>
          </a:xfrm>
          <a:prstGeom prst="rect">
            <a:avLst/>
          </a:prstGeom>
          <a:noFill/>
        </p:spPr>
        <p:txBody>
          <a:bodyPr wrap="square">
            <a:spAutoFit/>
          </a:bodyPr>
          <a:lstStyle/>
          <a:p>
            <a:pPr algn="l"/>
            <a:r>
              <a:rPr sz="1150" b="0" i="0">
                <a:solidFill>
                  <a:srgbClr val="3D3D3D"/>
                </a:solidFill>
              </a:rPr>
              <a:t>Multi-language AI assistant</a:t>
            </a:r>
          </a:p>
        </p:txBody>
      </p:sp>
      <p:sp>
        <p:nvSpPr>
          <p:cNvPr id="39" name="Rectangle 38"/>
          <p:cNvSpPr/>
          <p:nvPr/>
        </p:nvSpPr>
        <p:spPr>
          <a:xfrm>
            <a:off x="9217152" y="1417320"/>
            <a:ext cx="2834640" cy="5074920"/>
          </a:xfrm>
          <a:prstGeom prst="rect">
            <a:avLst/>
          </a:prstGeom>
          <a:solidFill>
            <a:srgbClr val="FFFBF5"/>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17152" y="1417320"/>
            <a:ext cx="2834640" cy="475488"/>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08592" y="1463040"/>
            <a:ext cx="2651760" cy="347472"/>
          </a:xfrm>
          <a:prstGeom prst="rect">
            <a:avLst/>
          </a:prstGeom>
          <a:noFill/>
        </p:spPr>
        <p:txBody>
          <a:bodyPr wrap="square">
            <a:spAutoFit/>
          </a:bodyPr>
          <a:lstStyle/>
          <a:p>
            <a:pPr algn="l"/>
            <a:r>
              <a:rPr sz="1200" b="1" i="0">
                <a:solidFill>
                  <a:srgbClr val="FFFBF5"/>
                </a:solidFill>
              </a:rPr>
              <a:t>💼  Phase 4 — Enterprise</a:t>
            </a:r>
          </a:p>
        </p:txBody>
      </p:sp>
      <p:sp>
        <p:nvSpPr>
          <p:cNvPr id="42" name="Rectangle 41"/>
          <p:cNvSpPr/>
          <p:nvPr/>
        </p:nvSpPr>
        <p:spPr>
          <a:xfrm>
            <a:off x="9363456" y="2103120"/>
            <a:ext cx="91440" cy="91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09760" y="2011680"/>
            <a:ext cx="2468880" cy="274320"/>
          </a:xfrm>
          <a:prstGeom prst="rect">
            <a:avLst/>
          </a:prstGeom>
          <a:noFill/>
        </p:spPr>
        <p:txBody>
          <a:bodyPr wrap="square">
            <a:spAutoFit/>
          </a:bodyPr>
          <a:lstStyle/>
          <a:p>
            <a:pPr algn="l"/>
            <a:r>
              <a:rPr sz="1150" b="0" i="0">
                <a:solidFill>
                  <a:srgbClr val="3D3D3D"/>
                </a:solidFill>
              </a:rPr>
              <a:t>White-label multi-tenant support</a:t>
            </a:r>
          </a:p>
        </p:txBody>
      </p:sp>
      <p:sp>
        <p:nvSpPr>
          <p:cNvPr id="44" name="Rectangle 43"/>
          <p:cNvSpPr/>
          <p:nvPr/>
        </p:nvSpPr>
        <p:spPr>
          <a:xfrm>
            <a:off x="9363456" y="2761488"/>
            <a:ext cx="91440" cy="91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09760" y="2670048"/>
            <a:ext cx="2468880" cy="274320"/>
          </a:xfrm>
          <a:prstGeom prst="rect">
            <a:avLst/>
          </a:prstGeom>
          <a:noFill/>
        </p:spPr>
        <p:txBody>
          <a:bodyPr wrap="square">
            <a:spAutoFit/>
          </a:bodyPr>
          <a:lstStyle/>
          <a:p>
            <a:pPr algn="l"/>
            <a:r>
              <a:rPr sz="1150" b="0" i="0">
                <a:solidFill>
                  <a:srgbClr val="3D3D3D"/>
                </a:solidFill>
              </a:rPr>
              <a:t>POS hardware integration</a:t>
            </a:r>
          </a:p>
        </p:txBody>
      </p:sp>
      <p:sp>
        <p:nvSpPr>
          <p:cNvPr id="46" name="Rectangle 45"/>
          <p:cNvSpPr/>
          <p:nvPr/>
        </p:nvSpPr>
        <p:spPr>
          <a:xfrm>
            <a:off x="9363456" y="3419856"/>
            <a:ext cx="91440" cy="91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09760" y="3328416"/>
            <a:ext cx="2468880" cy="274320"/>
          </a:xfrm>
          <a:prstGeom prst="rect">
            <a:avLst/>
          </a:prstGeom>
          <a:noFill/>
        </p:spPr>
        <p:txBody>
          <a:bodyPr wrap="square">
            <a:spAutoFit/>
          </a:bodyPr>
          <a:lstStyle/>
          <a:p>
            <a:pPr algn="l"/>
            <a:r>
              <a:rPr sz="1150" b="0" i="0">
                <a:solidFill>
                  <a:srgbClr val="3D3D3D"/>
                </a:solidFill>
              </a:rPr>
              <a:t>Loyalty programme &amp; rewards API</a:t>
            </a:r>
          </a:p>
        </p:txBody>
      </p:sp>
      <p:sp>
        <p:nvSpPr>
          <p:cNvPr id="48" name="Rectangle 47"/>
          <p:cNvSpPr/>
          <p:nvPr/>
        </p:nvSpPr>
        <p:spPr>
          <a:xfrm>
            <a:off x="9363456" y="4078224"/>
            <a:ext cx="91440" cy="9144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09760" y="3986784"/>
            <a:ext cx="2468880" cy="274320"/>
          </a:xfrm>
          <a:prstGeom prst="rect">
            <a:avLst/>
          </a:prstGeom>
          <a:noFill/>
        </p:spPr>
        <p:txBody>
          <a:bodyPr wrap="square">
            <a:spAutoFit/>
          </a:bodyPr>
          <a:lstStyle/>
          <a:p>
            <a:pPr algn="l"/>
            <a:r>
              <a:rPr sz="1150" b="0" i="0">
                <a:solidFill>
                  <a:srgbClr val="3D3D3D"/>
                </a:solidFill>
              </a:rPr>
              <a:t>GDPR / NDPR compliance module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1A0E"/>
        </a:solidFill>
        <a:effectLst/>
      </p:bgPr>
    </p:bg>
    <p:spTree>
      <p:nvGrpSpPr>
        <p:cNvPr id="1" name=""/>
        <p:cNvGrpSpPr/>
        <p:nvPr/>
      </p:nvGrpSpPr>
      <p:grpSpPr/>
      <p:sp>
        <p:nvSpPr>
          <p:cNvPr id="2" name="Rectangle 1"/>
          <p:cNvSpPr/>
          <p:nvPr/>
        </p:nvSpPr>
        <p:spPr>
          <a:xfrm>
            <a:off x="0" y="0"/>
            <a:ext cx="12188952" cy="12801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88952" cy="12801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22960"/>
            <a:ext cx="11247120" cy="1097280"/>
          </a:xfrm>
          <a:prstGeom prst="rect">
            <a:avLst/>
          </a:prstGeom>
          <a:noFill/>
        </p:spPr>
        <p:txBody>
          <a:bodyPr wrap="square">
            <a:spAutoFit/>
          </a:bodyPr>
          <a:lstStyle/>
          <a:p>
            <a:pPr algn="ctr"/>
            <a:r>
              <a:rPr sz="6000" b="1" i="0">
                <a:solidFill>
                  <a:srgbClr val="FFFBF5"/>
                </a:solidFill>
              </a:rPr>
              <a:t>FoodChain</a:t>
            </a:r>
          </a:p>
        </p:txBody>
      </p:sp>
      <p:sp>
        <p:nvSpPr>
          <p:cNvPr id="5" name="TextBox 4"/>
          <p:cNvSpPr txBox="1"/>
          <p:nvPr/>
        </p:nvSpPr>
        <p:spPr>
          <a:xfrm>
            <a:off x="457200" y="1828800"/>
            <a:ext cx="11247120" cy="457200"/>
          </a:xfrm>
          <a:prstGeom prst="rect">
            <a:avLst/>
          </a:prstGeom>
          <a:noFill/>
        </p:spPr>
        <p:txBody>
          <a:bodyPr wrap="square">
            <a:spAutoFit/>
          </a:bodyPr>
          <a:lstStyle/>
          <a:p>
            <a:pPr algn="ctr"/>
            <a:r>
              <a:rPr sz="1600" b="0" i="1">
                <a:solidFill>
                  <a:srgbClr val="F5A623"/>
                </a:solidFill>
              </a:rPr>
              <a:t>Smart Multi-Branch Restaurant Order Management System</a:t>
            </a:r>
          </a:p>
        </p:txBody>
      </p:sp>
      <p:sp>
        <p:nvSpPr>
          <p:cNvPr id="6" name="Rectangle 5"/>
          <p:cNvSpPr/>
          <p:nvPr/>
        </p:nvSpPr>
        <p:spPr>
          <a:xfrm>
            <a:off x="2743200" y="2423160"/>
            <a:ext cx="667512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65176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688336"/>
            <a:ext cx="2606040" cy="310896"/>
          </a:xfrm>
          <a:prstGeom prst="rect">
            <a:avLst/>
          </a:prstGeom>
          <a:noFill/>
        </p:spPr>
        <p:txBody>
          <a:bodyPr wrap="square">
            <a:spAutoFit/>
          </a:bodyPr>
          <a:lstStyle/>
          <a:p>
            <a:pPr algn="ctr"/>
            <a:r>
              <a:rPr sz="1150" b="1" i="0">
                <a:solidFill>
                  <a:srgbClr val="2C1A0E"/>
                </a:solidFill>
              </a:rPr>
              <a:t>8+ Microservices</a:t>
            </a:r>
          </a:p>
        </p:txBody>
      </p:sp>
      <p:sp>
        <p:nvSpPr>
          <p:cNvPr id="9" name="Rectangle 8"/>
          <p:cNvSpPr/>
          <p:nvPr/>
        </p:nvSpPr>
        <p:spPr>
          <a:xfrm>
            <a:off x="3383280" y="265176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688336"/>
            <a:ext cx="2606040" cy="310896"/>
          </a:xfrm>
          <a:prstGeom prst="rect">
            <a:avLst/>
          </a:prstGeom>
          <a:noFill/>
        </p:spPr>
        <p:txBody>
          <a:bodyPr wrap="square">
            <a:spAutoFit/>
          </a:bodyPr>
          <a:lstStyle/>
          <a:p>
            <a:pPr algn="ctr"/>
            <a:r>
              <a:rPr sz="1150" b="1" i="0">
                <a:solidFill>
                  <a:srgbClr val="2C1A0E"/>
                </a:solidFill>
              </a:rPr>
              <a:t>Kafka · Redis · MySQL</a:t>
            </a:r>
          </a:p>
        </p:txBody>
      </p:sp>
      <p:sp>
        <p:nvSpPr>
          <p:cNvPr id="11" name="Rectangle 10"/>
          <p:cNvSpPr/>
          <p:nvPr/>
        </p:nvSpPr>
        <p:spPr>
          <a:xfrm>
            <a:off x="6126480" y="265176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2688336"/>
            <a:ext cx="2606040" cy="310896"/>
          </a:xfrm>
          <a:prstGeom prst="rect">
            <a:avLst/>
          </a:prstGeom>
          <a:noFill/>
        </p:spPr>
        <p:txBody>
          <a:bodyPr wrap="square">
            <a:spAutoFit/>
          </a:bodyPr>
          <a:lstStyle/>
          <a:p>
            <a:pPr algn="ctr"/>
            <a:r>
              <a:rPr sz="1150" b="1" i="0">
                <a:solidFill>
                  <a:srgbClr val="2C1A0E"/>
                </a:solidFill>
              </a:rPr>
              <a:t>Gemini AI</a:t>
            </a:r>
          </a:p>
        </p:txBody>
      </p:sp>
      <p:sp>
        <p:nvSpPr>
          <p:cNvPr id="13" name="Rectangle 12"/>
          <p:cNvSpPr/>
          <p:nvPr/>
        </p:nvSpPr>
        <p:spPr>
          <a:xfrm>
            <a:off x="8869680" y="265176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0" y="2688336"/>
            <a:ext cx="2606040" cy="310896"/>
          </a:xfrm>
          <a:prstGeom prst="rect">
            <a:avLst/>
          </a:prstGeom>
          <a:noFill/>
        </p:spPr>
        <p:txBody>
          <a:bodyPr wrap="square">
            <a:spAutoFit/>
          </a:bodyPr>
          <a:lstStyle/>
          <a:p>
            <a:pPr algn="ctr"/>
            <a:r>
              <a:rPr sz="1150" b="1" i="0">
                <a:solidFill>
                  <a:srgbClr val="2C1A0E"/>
                </a:solidFill>
              </a:rPr>
              <a:t>JWT + OAuth2</a:t>
            </a:r>
          </a:p>
        </p:txBody>
      </p:sp>
      <p:sp>
        <p:nvSpPr>
          <p:cNvPr id="15" name="Rectangle 14"/>
          <p:cNvSpPr/>
          <p:nvPr/>
        </p:nvSpPr>
        <p:spPr>
          <a:xfrm>
            <a:off x="640080" y="315468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91256"/>
            <a:ext cx="2606040" cy="310896"/>
          </a:xfrm>
          <a:prstGeom prst="rect">
            <a:avLst/>
          </a:prstGeom>
          <a:noFill/>
        </p:spPr>
        <p:txBody>
          <a:bodyPr wrap="square">
            <a:spAutoFit/>
          </a:bodyPr>
          <a:lstStyle/>
          <a:p>
            <a:pPr algn="ctr"/>
            <a:r>
              <a:rPr sz="1150" b="1" i="0">
                <a:solidFill>
                  <a:srgbClr val="2C1A0E"/>
                </a:solidFill>
              </a:rPr>
              <a:t>Docker + CI/CD</a:t>
            </a:r>
          </a:p>
        </p:txBody>
      </p:sp>
      <p:sp>
        <p:nvSpPr>
          <p:cNvPr id="17" name="Rectangle 16"/>
          <p:cNvSpPr/>
          <p:nvPr/>
        </p:nvSpPr>
        <p:spPr>
          <a:xfrm>
            <a:off x="3383280" y="315468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3191256"/>
            <a:ext cx="2606040" cy="310896"/>
          </a:xfrm>
          <a:prstGeom prst="rect">
            <a:avLst/>
          </a:prstGeom>
          <a:noFill/>
        </p:spPr>
        <p:txBody>
          <a:bodyPr wrap="square">
            <a:spAutoFit/>
          </a:bodyPr>
          <a:lstStyle/>
          <a:p>
            <a:pPr algn="ctr"/>
            <a:r>
              <a:rPr sz="1150" b="1" i="0">
                <a:solidFill>
                  <a:srgbClr val="2C1A0E"/>
                </a:solidFill>
              </a:rPr>
              <a:t>Real-time WebSocket</a:t>
            </a:r>
          </a:p>
        </p:txBody>
      </p:sp>
      <p:sp>
        <p:nvSpPr>
          <p:cNvPr id="19" name="Rectangle 18"/>
          <p:cNvSpPr/>
          <p:nvPr/>
        </p:nvSpPr>
        <p:spPr>
          <a:xfrm>
            <a:off x="6126480" y="315468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0" y="3191256"/>
            <a:ext cx="2606040" cy="310896"/>
          </a:xfrm>
          <a:prstGeom prst="rect">
            <a:avLst/>
          </a:prstGeom>
          <a:noFill/>
        </p:spPr>
        <p:txBody>
          <a:bodyPr wrap="square">
            <a:spAutoFit/>
          </a:bodyPr>
          <a:lstStyle/>
          <a:p>
            <a:pPr algn="ctr"/>
            <a:r>
              <a:rPr sz="1150" b="1" i="0">
                <a:solidFill>
                  <a:srgbClr val="2C1A0E"/>
                </a:solidFill>
              </a:rPr>
              <a:t>Multi-branch RBAC</a:t>
            </a:r>
          </a:p>
        </p:txBody>
      </p:sp>
      <p:sp>
        <p:nvSpPr>
          <p:cNvPr id="21" name="Rectangle 20"/>
          <p:cNvSpPr/>
          <p:nvPr/>
        </p:nvSpPr>
        <p:spPr>
          <a:xfrm>
            <a:off x="8869680" y="3154680"/>
            <a:ext cx="2606040" cy="3840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0" y="3191256"/>
            <a:ext cx="2606040" cy="310896"/>
          </a:xfrm>
          <a:prstGeom prst="rect">
            <a:avLst/>
          </a:prstGeom>
          <a:noFill/>
        </p:spPr>
        <p:txBody>
          <a:bodyPr wrap="square">
            <a:spAutoFit/>
          </a:bodyPr>
          <a:lstStyle/>
          <a:p>
            <a:pPr algn="ctr"/>
            <a:r>
              <a:rPr sz="1150" b="1" i="0">
                <a:solidFill>
                  <a:srgbClr val="2C1A0E"/>
                </a:solidFill>
              </a:rPr>
              <a:t>Outbox Pattern</a:t>
            </a:r>
          </a:p>
        </p:txBody>
      </p:sp>
      <p:sp>
        <p:nvSpPr>
          <p:cNvPr id="23" name="TextBox 22"/>
          <p:cNvSpPr txBox="1"/>
          <p:nvPr/>
        </p:nvSpPr>
        <p:spPr>
          <a:xfrm>
            <a:off x="457200" y="3886200"/>
            <a:ext cx="11247120" cy="731520"/>
          </a:xfrm>
          <a:prstGeom prst="rect">
            <a:avLst/>
          </a:prstGeom>
          <a:noFill/>
        </p:spPr>
        <p:txBody>
          <a:bodyPr wrap="square">
            <a:spAutoFit/>
          </a:bodyPr>
          <a:lstStyle/>
          <a:p>
            <a:pPr algn="ctr"/>
            <a:r>
              <a:rPr sz="4200" b="1" i="0">
                <a:solidFill>
                  <a:srgbClr val="FFFBF5"/>
                </a:solidFill>
              </a:rPr>
              <a:t>Thank You</a:t>
            </a:r>
          </a:p>
        </p:txBody>
      </p:sp>
      <p:sp>
        <p:nvSpPr>
          <p:cNvPr id="24" name="TextBox 23"/>
          <p:cNvSpPr txBox="1"/>
          <p:nvPr/>
        </p:nvSpPr>
        <p:spPr>
          <a:xfrm>
            <a:off x="457200" y="4617720"/>
            <a:ext cx="11247120" cy="411480"/>
          </a:xfrm>
          <a:prstGeom prst="rect">
            <a:avLst/>
          </a:prstGeom>
          <a:noFill/>
        </p:spPr>
        <p:txBody>
          <a:bodyPr wrap="square">
            <a:spAutoFit/>
          </a:bodyPr>
          <a:lstStyle/>
          <a:p>
            <a:pPr algn="ctr"/>
            <a:r>
              <a:rPr sz="1800" b="0" i="0">
                <a:solidFill>
                  <a:srgbClr val="F5A623"/>
                </a:solidFill>
              </a:rPr>
              <a:t>Questions welcome — we're ready.</a:t>
            </a:r>
          </a:p>
        </p:txBody>
      </p:sp>
      <p:sp>
        <p:nvSpPr>
          <p:cNvPr id="25" name="Rectangle 24"/>
          <p:cNvSpPr/>
          <p:nvPr/>
        </p:nvSpPr>
        <p:spPr>
          <a:xfrm>
            <a:off x="1097280" y="5166360"/>
            <a:ext cx="2286000" cy="1188720"/>
          </a:xfrm>
          <a:prstGeom prst="rect">
            <a:avLst/>
          </a:prstGeom>
          <a:solidFill>
            <a:srgbClr val="3E2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5212080"/>
            <a:ext cx="2103120" cy="365760"/>
          </a:xfrm>
          <a:prstGeom prst="rect">
            <a:avLst/>
          </a:prstGeom>
          <a:noFill/>
        </p:spPr>
        <p:txBody>
          <a:bodyPr wrap="square">
            <a:spAutoFit/>
          </a:bodyPr>
          <a:lstStyle/>
          <a:p>
            <a:pPr algn="ctr"/>
            <a:r>
              <a:rPr sz="1200" b="1" i="0">
                <a:solidFill>
                  <a:srgbClr val="F5A623"/>
                </a:solidFill>
              </a:rPr>
              <a:t>Presenter 1</a:t>
            </a:r>
          </a:p>
        </p:txBody>
      </p:sp>
      <p:sp>
        <p:nvSpPr>
          <p:cNvPr id="27" name="TextBox 26"/>
          <p:cNvSpPr txBox="1"/>
          <p:nvPr/>
        </p:nvSpPr>
        <p:spPr>
          <a:xfrm>
            <a:off x="1188720" y="5577840"/>
            <a:ext cx="2103120" cy="329184"/>
          </a:xfrm>
          <a:prstGeom prst="rect">
            <a:avLst/>
          </a:prstGeom>
          <a:noFill/>
        </p:spPr>
        <p:txBody>
          <a:bodyPr wrap="square">
            <a:spAutoFit/>
          </a:bodyPr>
          <a:lstStyle/>
          <a:p>
            <a:pPr algn="ctr"/>
            <a:r>
              <a:rPr sz="1050" b="0" i="1">
                <a:solidFill>
                  <a:srgbClr val="FFFBF5"/>
                </a:solidFill>
              </a:rPr>
              <a:t>Introduction &amp; Problem</a:t>
            </a:r>
          </a:p>
        </p:txBody>
      </p:sp>
      <p:sp>
        <p:nvSpPr>
          <p:cNvPr id="28" name="Rectangle 27"/>
          <p:cNvSpPr/>
          <p:nvPr/>
        </p:nvSpPr>
        <p:spPr>
          <a:xfrm>
            <a:off x="3593592" y="5166360"/>
            <a:ext cx="2286000" cy="1188720"/>
          </a:xfrm>
          <a:prstGeom prst="rect">
            <a:avLst/>
          </a:prstGeom>
          <a:solidFill>
            <a:srgbClr val="3E2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85032" y="5212080"/>
            <a:ext cx="2103120" cy="365760"/>
          </a:xfrm>
          <a:prstGeom prst="rect">
            <a:avLst/>
          </a:prstGeom>
          <a:noFill/>
        </p:spPr>
        <p:txBody>
          <a:bodyPr wrap="square">
            <a:spAutoFit/>
          </a:bodyPr>
          <a:lstStyle/>
          <a:p>
            <a:pPr algn="ctr"/>
            <a:r>
              <a:rPr sz="1200" b="1" i="0">
                <a:solidFill>
                  <a:srgbClr val="F5A623"/>
                </a:solidFill>
              </a:rPr>
              <a:t>Presenter 2</a:t>
            </a:r>
          </a:p>
        </p:txBody>
      </p:sp>
      <p:sp>
        <p:nvSpPr>
          <p:cNvPr id="30" name="TextBox 29"/>
          <p:cNvSpPr txBox="1"/>
          <p:nvPr/>
        </p:nvSpPr>
        <p:spPr>
          <a:xfrm>
            <a:off x="3685032" y="5577840"/>
            <a:ext cx="2103120" cy="329184"/>
          </a:xfrm>
          <a:prstGeom prst="rect">
            <a:avLst/>
          </a:prstGeom>
          <a:noFill/>
        </p:spPr>
        <p:txBody>
          <a:bodyPr wrap="square">
            <a:spAutoFit/>
          </a:bodyPr>
          <a:lstStyle/>
          <a:p>
            <a:pPr algn="ctr"/>
            <a:r>
              <a:rPr sz="1050" b="0" i="1">
                <a:solidFill>
                  <a:srgbClr val="FFFBF5"/>
                </a:solidFill>
              </a:rPr>
              <a:t>Architecture &amp; Engineering</a:t>
            </a:r>
          </a:p>
        </p:txBody>
      </p:sp>
      <p:sp>
        <p:nvSpPr>
          <p:cNvPr id="31" name="Rectangle 30"/>
          <p:cNvSpPr/>
          <p:nvPr/>
        </p:nvSpPr>
        <p:spPr>
          <a:xfrm>
            <a:off x="6089904" y="5166360"/>
            <a:ext cx="2286000" cy="1188720"/>
          </a:xfrm>
          <a:prstGeom prst="rect">
            <a:avLst/>
          </a:prstGeom>
          <a:solidFill>
            <a:srgbClr val="3E2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81344" y="5212080"/>
            <a:ext cx="2103120" cy="365760"/>
          </a:xfrm>
          <a:prstGeom prst="rect">
            <a:avLst/>
          </a:prstGeom>
          <a:noFill/>
        </p:spPr>
        <p:txBody>
          <a:bodyPr wrap="square">
            <a:spAutoFit/>
          </a:bodyPr>
          <a:lstStyle/>
          <a:p>
            <a:pPr algn="ctr"/>
            <a:r>
              <a:rPr sz="1200" b="1" i="0">
                <a:solidFill>
                  <a:srgbClr val="F5A623"/>
                </a:solidFill>
              </a:rPr>
              <a:t>Presenter 3</a:t>
            </a:r>
          </a:p>
        </p:txBody>
      </p:sp>
      <p:sp>
        <p:nvSpPr>
          <p:cNvPr id="33" name="TextBox 32"/>
          <p:cNvSpPr txBox="1"/>
          <p:nvPr/>
        </p:nvSpPr>
        <p:spPr>
          <a:xfrm>
            <a:off x="6181344" y="5577840"/>
            <a:ext cx="2103120" cy="329184"/>
          </a:xfrm>
          <a:prstGeom prst="rect">
            <a:avLst/>
          </a:prstGeom>
          <a:noFill/>
        </p:spPr>
        <p:txBody>
          <a:bodyPr wrap="square">
            <a:spAutoFit/>
          </a:bodyPr>
          <a:lstStyle/>
          <a:p>
            <a:pPr algn="ctr"/>
            <a:r>
              <a:rPr sz="1050" b="0" i="1">
                <a:solidFill>
                  <a:srgbClr val="FFFBF5"/>
                </a:solidFill>
              </a:rPr>
              <a:t>Live Demo</a:t>
            </a:r>
          </a:p>
        </p:txBody>
      </p:sp>
      <p:sp>
        <p:nvSpPr>
          <p:cNvPr id="34" name="Rectangle 33"/>
          <p:cNvSpPr/>
          <p:nvPr/>
        </p:nvSpPr>
        <p:spPr>
          <a:xfrm>
            <a:off x="8586216" y="5166360"/>
            <a:ext cx="2286000" cy="1188720"/>
          </a:xfrm>
          <a:prstGeom prst="rect">
            <a:avLst/>
          </a:prstGeom>
          <a:solidFill>
            <a:srgbClr val="3E2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77656" y="5212080"/>
            <a:ext cx="2103120" cy="365760"/>
          </a:xfrm>
          <a:prstGeom prst="rect">
            <a:avLst/>
          </a:prstGeom>
          <a:noFill/>
        </p:spPr>
        <p:txBody>
          <a:bodyPr wrap="square">
            <a:spAutoFit/>
          </a:bodyPr>
          <a:lstStyle/>
          <a:p>
            <a:pPr algn="ctr"/>
            <a:r>
              <a:rPr sz="1200" b="1" i="0">
                <a:solidFill>
                  <a:srgbClr val="F5A623"/>
                </a:solidFill>
              </a:rPr>
              <a:t>Presenter 4</a:t>
            </a:r>
          </a:p>
        </p:txBody>
      </p:sp>
      <p:sp>
        <p:nvSpPr>
          <p:cNvPr id="36" name="TextBox 35"/>
          <p:cNvSpPr txBox="1"/>
          <p:nvPr/>
        </p:nvSpPr>
        <p:spPr>
          <a:xfrm>
            <a:off x="8677656" y="5577840"/>
            <a:ext cx="2103120" cy="329184"/>
          </a:xfrm>
          <a:prstGeom prst="rect">
            <a:avLst/>
          </a:prstGeom>
          <a:noFill/>
        </p:spPr>
        <p:txBody>
          <a:bodyPr wrap="square">
            <a:spAutoFit/>
          </a:bodyPr>
          <a:lstStyle/>
          <a:p>
            <a:pPr algn="ctr"/>
            <a:r>
              <a:rPr sz="1050" b="0" i="1">
                <a:solidFill>
                  <a:srgbClr val="FFFBF5"/>
                </a:solidFill>
              </a:rPr>
              <a:t>Impact &amp; Q&amp;A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Q&amp;A Preparation  [Speaker Reference — Hide Before Presenting]</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Prepared answers to expected technical and panel questions</a:t>
            </a:r>
          </a:p>
        </p:txBody>
      </p:sp>
      <p:sp>
        <p:nvSpPr>
          <p:cNvPr id="6" name="Rectangle 5"/>
          <p:cNvSpPr/>
          <p:nvPr/>
        </p:nvSpPr>
        <p:spPr>
          <a:xfrm>
            <a:off x="256032" y="1417320"/>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72184"/>
            <a:ext cx="5623560" cy="329184"/>
          </a:xfrm>
          <a:prstGeom prst="rect">
            <a:avLst/>
          </a:prstGeom>
          <a:noFill/>
        </p:spPr>
        <p:txBody>
          <a:bodyPr wrap="square">
            <a:spAutoFit/>
          </a:bodyPr>
          <a:lstStyle/>
          <a:p>
            <a:pPr algn="l"/>
            <a:r>
              <a:rPr sz="1050" b="1" i="0">
                <a:solidFill>
                  <a:srgbClr val="2C1A0E"/>
                </a:solidFill>
              </a:rPr>
              <a:t>Q: Why microservices instead of a monolith?</a:t>
            </a:r>
          </a:p>
        </p:txBody>
      </p:sp>
      <p:sp>
        <p:nvSpPr>
          <p:cNvPr id="8" name="TextBox 7"/>
          <p:cNvSpPr txBox="1"/>
          <p:nvPr/>
        </p:nvSpPr>
        <p:spPr>
          <a:xfrm>
            <a:off x="365760" y="1819656"/>
            <a:ext cx="5623560" cy="777240"/>
          </a:xfrm>
          <a:prstGeom prst="rect">
            <a:avLst/>
          </a:prstGeom>
          <a:noFill/>
        </p:spPr>
        <p:txBody>
          <a:bodyPr wrap="square">
            <a:spAutoFit/>
          </a:bodyPr>
          <a:lstStyle/>
          <a:p>
            <a:pPr algn="l"/>
            <a:r>
              <a:rPr sz="1000" b="0" i="0">
                <a:solidFill>
                  <a:srgbClr val="3D3D3D"/>
                </a:solidFill>
              </a:rPr>
              <a:t>A: Independent deployability, fault isolation, and team scalability. A kitchen service outage cannot affect order placement. Each service scales independently — analytics under load doesn't affect the menu API.</a:t>
            </a:r>
          </a:p>
        </p:txBody>
      </p:sp>
      <p:sp>
        <p:nvSpPr>
          <p:cNvPr id="9" name="Rectangle 8"/>
          <p:cNvSpPr/>
          <p:nvPr/>
        </p:nvSpPr>
        <p:spPr>
          <a:xfrm>
            <a:off x="256032" y="2761488"/>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816352"/>
            <a:ext cx="5623560" cy="329184"/>
          </a:xfrm>
          <a:prstGeom prst="rect">
            <a:avLst/>
          </a:prstGeom>
          <a:noFill/>
        </p:spPr>
        <p:txBody>
          <a:bodyPr wrap="square">
            <a:spAutoFit/>
          </a:bodyPr>
          <a:lstStyle/>
          <a:p>
            <a:pPr algn="l"/>
            <a:r>
              <a:rPr sz="1050" b="1" i="0">
                <a:solidFill>
                  <a:srgbClr val="2C1A0E"/>
                </a:solidFill>
              </a:rPr>
              <a:t>Q: Why Kafka instead of REST between services?</a:t>
            </a:r>
          </a:p>
        </p:txBody>
      </p:sp>
      <p:sp>
        <p:nvSpPr>
          <p:cNvPr id="11" name="TextBox 10"/>
          <p:cNvSpPr txBox="1"/>
          <p:nvPr/>
        </p:nvSpPr>
        <p:spPr>
          <a:xfrm>
            <a:off x="365760" y="3163824"/>
            <a:ext cx="5623560" cy="777240"/>
          </a:xfrm>
          <a:prstGeom prst="rect">
            <a:avLst/>
          </a:prstGeom>
          <a:noFill/>
        </p:spPr>
        <p:txBody>
          <a:bodyPr wrap="square">
            <a:spAutoFit/>
          </a:bodyPr>
          <a:lstStyle/>
          <a:p>
            <a:pPr algn="l"/>
            <a:r>
              <a:rPr sz="1000" b="0" i="0">
                <a:solidFill>
                  <a:srgbClr val="3D3D3D"/>
                </a:solidFill>
              </a:rPr>
              <a:t>A: Async decoupling + durability. If the Analytics service is down, events queue up in Kafka and are processed on recovery — no data lost. REST would couple services directly; one slow service would cascade failures.</a:t>
            </a:r>
          </a:p>
        </p:txBody>
      </p:sp>
      <p:sp>
        <p:nvSpPr>
          <p:cNvPr id="12" name="Rectangle 11"/>
          <p:cNvSpPr/>
          <p:nvPr/>
        </p:nvSpPr>
        <p:spPr>
          <a:xfrm>
            <a:off x="256032" y="4105656"/>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4160520"/>
            <a:ext cx="5623560" cy="329184"/>
          </a:xfrm>
          <a:prstGeom prst="rect">
            <a:avLst/>
          </a:prstGeom>
          <a:noFill/>
        </p:spPr>
        <p:txBody>
          <a:bodyPr wrap="square">
            <a:spAutoFit/>
          </a:bodyPr>
          <a:lstStyle/>
          <a:p>
            <a:pPr algn="l"/>
            <a:r>
              <a:rPr sz="1050" b="1" i="0">
                <a:solidFill>
                  <a:srgbClr val="2C1A0E"/>
                </a:solidFill>
              </a:rPr>
              <a:t>Q: How do you handle concurrent orders?</a:t>
            </a:r>
          </a:p>
        </p:txBody>
      </p:sp>
      <p:sp>
        <p:nvSpPr>
          <p:cNvPr id="14" name="TextBox 13"/>
          <p:cNvSpPr txBox="1"/>
          <p:nvPr/>
        </p:nvSpPr>
        <p:spPr>
          <a:xfrm>
            <a:off x="365760" y="4507992"/>
            <a:ext cx="5623560" cy="777240"/>
          </a:xfrm>
          <a:prstGeom prst="rect">
            <a:avLst/>
          </a:prstGeom>
          <a:noFill/>
        </p:spPr>
        <p:txBody>
          <a:bodyPr wrap="square">
            <a:spAutoFit/>
          </a:bodyPr>
          <a:lstStyle/>
          <a:p>
            <a:pPr algn="l"/>
            <a:r>
              <a:rPr sz="1000" b="0" i="0">
                <a:solidFill>
                  <a:srgbClr val="3D3D3D"/>
                </a:solidFill>
              </a:rPr>
              <a:t>A: Optimistic locking via @Version on the Order entity prevents lost updates. Idempotency keys on Kafka consumers prevent duplicate processing on redelivery.</a:t>
            </a:r>
          </a:p>
        </p:txBody>
      </p:sp>
      <p:sp>
        <p:nvSpPr>
          <p:cNvPr id="15" name="Rectangle 14"/>
          <p:cNvSpPr/>
          <p:nvPr/>
        </p:nvSpPr>
        <p:spPr>
          <a:xfrm>
            <a:off x="256032" y="5449824"/>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5504688"/>
            <a:ext cx="5623560" cy="329184"/>
          </a:xfrm>
          <a:prstGeom prst="rect">
            <a:avLst/>
          </a:prstGeom>
          <a:noFill/>
        </p:spPr>
        <p:txBody>
          <a:bodyPr wrap="square">
            <a:spAutoFit/>
          </a:bodyPr>
          <a:lstStyle/>
          <a:p>
            <a:pPr algn="l"/>
            <a:r>
              <a:rPr sz="1050" b="1" i="0">
                <a:solidFill>
                  <a:srgbClr val="2C1A0E"/>
                </a:solidFill>
              </a:rPr>
              <a:t>Q: How is security enforced end-to-end?</a:t>
            </a:r>
          </a:p>
        </p:txBody>
      </p:sp>
      <p:sp>
        <p:nvSpPr>
          <p:cNvPr id="17" name="TextBox 16"/>
          <p:cNvSpPr txBox="1"/>
          <p:nvPr/>
        </p:nvSpPr>
        <p:spPr>
          <a:xfrm>
            <a:off x="365760" y="5852160"/>
            <a:ext cx="5623560" cy="777240"/>
          </a:xfrm>
          <a:prstGeom prst="rect">
            <a:avLst/>
          </a:prstGeom>
          <a:noFill/>
        </p:spPr>
        <p:txBody>
          <a:bodyPr wrap="square">
            <a:spAutoFit/>
          </a:bodyPr>
          <a:lstStyle/>
          <a:p>
            <a:pPr algn="l"/>
            <a:r>
              <a:rPr sz="1000" b="0" i="0">
                <a:solidFill>
                  <a:srgbClr val="3D3D3D"/>
                </a:solidFill>
              </a:rPr>
              <a:t>A: API Gateway validates JWT + Redis blacklist check. Injects X-User-Id, X-User-Role headers. Each service uses @PreAuthorize for method-level RBAC. HTTPS in production.</a:t>
            </a:r>
          </a:p>
        </p:txBody>
      </p:sp>
      <p:sp>
        <p:nvSpPr>
          <p:cNvPr id="18" name="Rectangle 17"/>
          <p:cNvSpPr/>
          <p:nvPr/>
        </p:nvSpPr>
        <p:spPr>
          <a:xfrm>
            <a:off x="256032" y="6793992"/>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848856"/>
            <a:ext cx="5623560" cy="329184"/>
          </a:xfrm>
          <a:prstGeom prst="rect">
            <a:avLst/>
          </a:prstGeom>
          <a:noFill/>
        </p:spPr>
        <p:txBody>
          <a:bodyPr wrap="square">
            <a:spAutoFit/>
          </a:bodyPr>
          <a:lstStyle/>
          <a:p>
            <a:pPr algn="l"/>
            <a:r>
              <a:rPr sz="1050" b="1" i="0">
                <a:solidFill>
                  <a:srgbClr val="2C1A0E"/>
                </a:solidFill>
              </a:rPr>
              <a:t>Q: How are notifications made reliable?</a:t>
            </a:r>
          </a:p>
        </p:txBody>
      </p:sp>
      <p:sp>
        <p:nvSpPr>
          <p:cNvPr id="20" name="TextBox 19"/>
          <p:cNvSpPr txBox="1"/>
          <p:nvPr/>
        </p:nvSpPr>
        <p:spPr>
          <a:xfrm>
            <a:off x="365760" y="7196328"/>
            <a:ext cx="5623560" cy="777240"/>
          </a:xfrm>
          <a:prstGeom prst="rect">
            <a:avLst/>
          </a:prstGeom>
          <a:noFill/>
        </p:spPr>
        <p:txBody>
          <a:bodyPr wrap="square">
            <a:spAutoFit/>
          </a:bodyPr>
          <a:lstStyle/>
          <a:p>
            <a:pPr algn="l"/>
            <a:r>
              <a:rPr sz="1000" b="0" i="0">
                <a:solidFill>
                  <a:srgbClr val="3D3D3D"/>
                </a:solidFill>
              </a:rPr>
              <a:t>A: Notification events arrive via Kafka. Failed sends stored as FAILED in MySQL. Retry scheduler re-attempts up to 3 times. Full audit trail for compliance.</a:t>
            </a:r>
          </a:p>
        </p:txBody>
      </p:sp>
      <p:sp>
        <p:nvSpPr>
          <p:cNvPr id="21" name="Rectangle 20"/>
          <p:cNvSpPr/>
          <p:nvPr/>
        </p:nvSpPr>
        <p:spPr>
          <a:xfrm>
            <a:off x="6309360" y="1417320"/>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472184"/>
            <a:ext cx="5623560" cy="329184"/>
          </a:xfrm>
          <a:prstGeom prst="rect">
            <a:avLst/>
          </a:prstGeom>
          <a:noFill/>
        </p:spPr>
        <p:txBody>
          <a:bodyPr wrap="square">
            <a:spAutoFit/>
          </a:bodyPr>
          <a:lstStyle/>
          <a:p>
            <a:pPr algn="l"/>
            <a:r>
              <a:rPr sz="1050" b="1" i="0">
                <a:solidFill>
                  <a:srgbClr val="2C1A0E"/>
                </a:solidFill>
              </a:rPr>
              <a:t>Q: How does the AI know only real menu items?</a:t>
            </a:r>
          </a:p>
        </p:txBody>
      </p:sp>
      <p:sp>
        <p:nvSpPr>
          <p:cNvPr id="23" name="TextBox 22"/>
          <p:cNvSpPr txBox="1"/>
          <p:nvPr/>
        </p:nvSpPr>
        <p:spPr>
          <a:xfrm>
            <a:off x="6419088" y="1819656"/>
            <a:ext cx="5623560" cy="777240"/>
          </a:xfrm>
          <a:prstGeom prst="rect">
            <a:avLst/>
          </a:prstGeom>
          <a:noFill/>
        </p:spPr>
        <p:txBody>
          <a:bodyPr wrap="square">
            <a:spAutoFit/>
          </a:bodyPr>
          <a:lstStyle/>
          <a:p>
            <a:pPr algn="l"/>
            <a:r>
              <a:rPr sz="1000" b="0" i="0">
                <a:solidFill>
                  <a:srgbClr val="3D3D3D"/>
                </a:solidFill>
              </a:rPr>
              <a:t>A: We send active item IDs to Gemini. Response validation checks every returned ID against our menuById map. Unmatched IDs are silently dropped — hallucination-proof by design.</a:t>
            </a:r>
          </a:p>
        </p:txBody>
      </p:sp>
      <p:sp>
        <p:nvSpPr>
          <p:cNvPr id="24" name="Rectangle 23"/>
          <p:cNvSpPr/>
          <p:nvPr/>
        </p:nvSpPr>
        <p:spPr>
          <a:xfrm>
            <a:off x="6309360" y="2761488"/>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2816352"/>
            <a:ext cx="5623560" cy="329184"/>
          </a:xfrm>
          <a:prstGeom prst="rect">
            <a:avLst/>
          </a:prstGeom>
          <a:noFill/>
        </p:spPr>
        <p:txBody>
          <a:bodyPr wrap="square">
            <a:spAutoFit/>
          </a:bodyPr>
          <a:lstStyle/>
          <a:p>
            <a:pPr algn="l"/>
            <a:r>
              <a:rPr sz="1050" b="1" i="0">
                <a:solidFill>
                  <a:srgbClr val="2C1A0E"/>
                </a:solidFill>
              </a:rPr>
              <a:t>Q: How would this scale to 1,000 branches?</a:t>
            </a:r>
          </a:p>
        </p:txBody>
      </p:sp>
      <p:sp>
        <p:nvSpPr>
          <p:cNvPr id="26" name="TextBox 25"/>
          <p:cNvSpPr txBox="1"/>
          <p:nvPr/>
        </p:nvSpPr>
        <p:spPr>
          <a:xfrm>
            <a:off x="6419088" y="3163824"/>
            <a:ext cx="5623560" cy="777240"/>
          </a:xfrm>
          <a:prstGeom prst="rect">
            <a:avLst/>
          </a:prstGeom>
          <a:noFill/>
        </p:spPr>
        <p:txBody>
          <a:bodyPr wrap="square">
            <a:spAutoFit/>
          </a:bodyPr>
          <a:lstStyle/>
          <a:p>
            <a:pPr algn="l"/>
            <a:r>
              <a:rPr sz="1000" b="0" i="0">
                <a:solidFill>
                  <a:srgbClr val="3D3D3D"/>
                </a:solidFill>
              </a:rPr>
              <a:t>A: Kafka topics partitioned by branchId. Redis clustered. Each microservice scales horizontally behind the gateway. Adding a branch = one DB record + config value. No code changes.</a:t>
            </a:r>
          </a:p>
        </p:txBody>
      </p:sp>
      <p:sp>
        <p:nvSpPr>
          <p:cNvPr id="27" name="Rectangle 26"/>
          <p:cNvSpPr/>
          <p:nvPr/>
        </p:nvSpPr>
        <p:spPr>
          <a:xfrm>
            <a:off x="6309360" y="4105656"/>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160520"/>
            <a:ext cx="5623560" cy="329184"/>
          </a:xfrm>
          <a:prstGeom prst="rect">
            <a:avLst/>
          </a:prstGeom>
          <a:noFill/>
        </p:spPr>
        <p:txBody>
          <a:bodyPr wrap="square">
            <a:spAutoFit/>
          </a:bodyPr>
          <a:lstStyle/>
          <a:p>
            <a:pPr algn="l"/>
            <a:r>
              <a:rPr sz="1050" b="1" i="0">
                <a:solidFill>
                  <a:srgbClr val="2C1A0E"/>
                </a:solidFill>
              </a:rPr>
              <a:t>Q: Why MySQL and not NoSQL?</a:t>
            </a:r>
          </a:p>
        </p:txBody>
      </p:sp>
      <p:sp>
        <p:nvSpPr>
          <p:cNvPr id="29" name="TextBox 28"/>
          <p:cNvSpPr txBox="1"/>
          <p:nvPr/>
        </p:nvSpPr>
        <p:spPr>
          <a:xfrm>
            <a:off x="6419088" y="4507992"/>
            <a:ext cx="5623560" cy="777240"/>
          </a:xfrm>
          <a:prstGeom prst="rect">
            <a:avLst/>
          </a:prstGeom>
          <a:noFill/>
        </p:spPr>
        <p:txBody>
          <a:bodyPr wrap="square">
            <a:spAutoFit/>
          </a:bodyPr>
          <a:lstStyle/>
          <a:p>
            <a:pPr algn="l"/>
            <a:r>
              <a:rPr sz="1000" b="0" i="0">
                <a:solidFill>
                  <a:srgbClr val="3D3D3D"/>
                </a:solidFill>
              </a:rPr>
              <a:t>A: Relational data with ACID transactional guarantees. Order consistency requires them. Redis handles the high-read cache layer where document semantics are appropriate.</a:t>
            </a:r>
          </a:p>
        </p:txBody>
      </p:sp>
      <p:sp>
        <p:nvSpPr>
          <p:cNvPr id="30" name="Rectangle 29"/>
          <p:cNvSpPr/>
          <p:nvPr/>
        </p:nvSpPr>
        <p:spPr>
          <a:xfrm>
            <a:off x="6309360" y="5449824"/>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5504688"/>
            <a:ext cx="5623560" cy="329184"/>
          </a:xfrm>
          <a:prstGeom prst="rect">
            <a:avLst/>
          </a:prstGeom>
          <a:noFill/>
        </p:spPr>
        <p:txBody>
          <a:bodyPr wrap="square">
            <a:spAutoFit/>
          </a:bodyPr>
          <a:lstStyle/>
          <a:p>
            <a:pPr algn="l"/>
            <a:r>
              <a:rPr sz="1050" b="1" i="0">
                <a:solidFill>
                  <a:srgbClr val="2C1A0E"/>
                </a:solidFill>
              </a:rPr>
              <a:t>Q: How do you ensure data consistency across services?</a:t>
            </a:r>
          </a:p>
        </p:txBody>
      </p:sp>
      <p:sp>
        <p:nvSpPr>
          <p:cNvPr id="32" name="TextBox 31"/>
          <p:cNvSpPr txBox="1"/>
          <p:nvPr/>
        </p:nvSpPr>
        <p:spPr>
          <a:xfrm>
            <a:off x="6419088" y="5852160"/>
            <a:ext cx="5623560" cy="777240"/>
          </a:xfrm>
          <a:prstGeom prst="rect">
            <a:avLst/>
          </a:prstGeom>
          <a:noFill/>
        </p:spPr>
        <p:txBody>
          <a:bodyPr wrap="square">
            <a:spAutoFit/>
          </a:bodyPr>
          <a:lstStyle/>
          <a:p>
            <a:pPr algn="l"/>
            <a:r>
              <a:rPr sz="1000" b="0" i="0">
                <a:solidFill>
                  <a:srgbClr val="3D3D3D"/>
                </a:solidFill>
              </a:rPr>
              <a:t>A: Outbox Pattern for order events — DB write and event publish are atomic. Each service is the single source of truth for its own domain. No cross-service transactions; eventual consistency via Kafka is sufficient for all our flows.</a:t>
            </a:r>
          </a:p>
        </p:txBody>
      </p:sp>
      <p:sp>
        <p:nvSpPr>
          <p:cNvPr id="33" name="Rectangle 32"/>
          <p:cNvSpPr/>
          <p:nvPr/>
        </p:nvSpPr>
        <p:spPr>
          <a:xfrm>
            <a:off x="6309360" y="6793992"/>
            <a:ext cx="5806440" cy="1234440"/>
          </a:xfrm>
          <a:prstGeom prst="rect">
            <a:avLst/>
          </a:prstGeom>
          <a:solidFill>
            <a:srgbClr val="FFFBF5"/>
          </a:solidFill>
          <a:ln w="10160">
            <a:solidFill>
              <a:srgbClr val="2C1A0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6848856"/>
            <a:ext cx="5623560" cy="329184"/>
          </a:xfrm>
          <a:prstGeom prst="rect">
            <a:avLst/>
          </a:prstGeom>
          <a:noFill/>
        </p:spPr>
        <p:txBody>
          <a:bodyPr wrap="square">
            <a:spAutoFit/>
          </a:bodyPr>
          <a:lstStyle/>
          <a:p>
            <a:pPr algn="l"/>
            <a:r>
              <a:rPr sz="1050" b="1" i="0">
                <a:solidFill>
                  <a:srgbClr val="2C1A0E"/>
                </a:solidFill>
              </a:rPr>
              <a:t>Q: What happens if Kafka is down?</a:t>
            </a:r>
          </a:p>
        </p:txBody>
      </p:sp>
      <p:sp>
        <p:nvSpPr>
          <p:cNvPr id="35" name="TextBox 34"/>
          <p:cNvSpPr txBox="1"/>
          <p:nvPr/>
        </p:nvSpPr>
        <p:spPr>
          <a:xfrm>
            <a:off x="6419088" y="7196328"/>
            <a:ext cx="5623560" cy="777240"/>
          </a:xfrm>
          <a:prstGeom prst="rect">
            <a:avLst/>
          </a:prstGeom>
          <a:noFill/>
        </p:spPr>
        <p:txBody>
          <a:bodyPr wrap="square">
            <a:spAutoFit/>
          </a:bodyPr>
          <a:lstStyle/>
          <a:p>
            <a:pPr algn="l"/>
            <a:r>
              <a:rPr sz="1000" b="0" i="0">
                <a:solidFill>
                  <a:srgbClr val="3D3D3D"/>
                </a:solidFill>
              </a:rPr>
              <a:t>A: Outbox events accumulate in MySQL. The OutboxRelay retries publication. Order placement still works — it writes to DB. Kitchen and analytics updates are delayed but not lost.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12188952" cy="1170432"/>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0058400" cy="658368"/>
          </a:xfrm>
          <a:prstGeom prst="rect">
            <a:avLst/>
          </a:prstGeom>
          <a:noFill/>
        </p:spPr>
        <p:txBody>
          <a:bodyPr wrap="square">
            <a:spAutoFit/>
          </a:bodyPr>
          <a:lstStyle/>
          <a:p>
            <a:pPr algn="l"/>
            <a:r>
              <a:rPr sz="2600" b="1" i="0">
                <a:solidFill>
                  <a:srgbClr val="FFFBF5"/>
                </a:solidFill>
              </a:rPr>
              <a:t>Rubric Alignment Checklist  [Speaker Reference]</a:t>
            </a:r>
          </a:p>
        </p:txBody>
      </p:sp>
      <p:sp>
        <p:nvSpPr>
          <p:cNvPr id="5" name="TextBox 4"/>
          <p:cNvSpPr txBox="1"/>
          <p:nvPr/>
        </p:nvSpPr>
        <p:spPr>
          <a:xfrm>
            <a:off x="457200" y="713232"/>
            <a:ext cx="10515600" cy="384048"/>
          </a:xfrm>
          <a:prstGeom prst="rect">
            <a:avLst/>
          </a:prstGeom>
          <a:noFill/>
        </p:spPr>
        <p:txBody>
          <a:bodyPr wrap="square">
            <a:spAutoFit/>
          </a:bodyPr>
          <a:lstStyle/>
          <a:p>
            <a:pPr algn="l"/>
            <a:r>
              <a:rPr sz="1300" b="0" i="1">
                <a:solidFill>
                  <a:srgbClr val="F5A623"/>
                </a:solidFill>
              </a:rPr>
              <a:t>Moniepoint DreamDev Capstone — every criterion mapped</a:t>
            </a:r>
          </a:p>
        </p:txBody>
      </p:sp>
      <p:sp>
        <p:nvSpPr>
          <p:cNvPr id="6" name="Rectangle 5"/>
          <p:cNvSpPr/>
          <p:nvPr/>
        </p:nvSpPr>
        <p:spPr>
          <a:xfrm>
            <a:off x="256032" y="1417320"/>
            <a:ext cx="11676888" cy="32918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1453896"/>
            <a:ext cx="11430000" cy="256032"/>
          </a:xfrm>
          <a:prstGeom prst="rect">
            <a:avLst/>
          </a:prstGeom>
          <a:noFill/>
        </p:spPr>
        <p:txBody>
          <a:bodyPr wrap="square">
            <a:spAutoFit/>
          </a:bodyPr>
          <a:lstStyle/>
          <a:p>
            <a:pPr algn="l"/>
            <a:r>
              <a:rPr sz="1200" b="1" i="0">
                <a:solidFill>
                  <a:srgbClr val="F5A623"/>
                </a:solidFill>
              </a:rPr>
              <a:t>Part 1 — Project Rubric (50%)</a:t>
            </a:r>
          </a:p>
        </p:txBody>
      </p:sp>
      <p:sp>
        <p:nvSpPr>
          <p:cNvPr id="8" name="Rectangle 7"/>
          <p:cNvSpPr/>
          <p:nvPr/>
        </p:nvSpPr>
        <p:spPr>
          <a:xfrm>
            <a:off x="256032" y="1801368"/>
            <a:ext cx="11676888" cy="402336"/>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1892808"/>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 y="1837944"/>
            <a:ext cx="219456" cy="329184"/>
          </a:xfrm>
          <a:prstGeom prst="rect">
            <a:avLst/>
          </a:prstGeom>
          <a:noFill/>
        </p:spPr>
        <p:txBody>
          <a:bodyPr wrap="square">
            <a:spAutoFit/>
          </a:bodyPr>
          <a:lstStyle/>
          <a:p>
            <a:pPr algn="ctr"/>
            <a:r>
              <a:rPr sz="1100" b="1" i="0">
                <a:solidFill>
                  <a:srgbClr val="FFFBF5"/>
                </a:solidFill>
              </a:rPr>
              <a:t>✓</a:t>
            </a:r>
          </a:p>
        </p:txBody>
      </p:sp>
      <p:sp>
        <p:nvSpPr>
          <p:cNvPr id="11" name="TextBox 10"/>
          <p:cNvSpPr txBox="1"/>
          <p:nvPr/>
        </p:nvSpPr>
        <p:spPr>
          <a:xfrm>
            <a:off x="548640" y="1856232"/>
            <a:ext cx="3383280" cy="310896"/>
          </a:xfrm>
          <a:prstGeom prst="rect">
            <a:avLst/>
          </a:prstGeom>
          <a:noFill/>
        </p:spPr>
        <p:txBody>
          <a:bodyPr wrap="square">
            <a:spAutoFit/>
          </a:bodyPr>
          <a:lstStyle/>
          <a:p>
            <a:pPr algn="l"/>
            <a:r>
              <a:rPr sz="1100" b="1" i="0">
                <a:solidFill>
                  <a:srgbClr val="2C1A0E"/>
                </a:solidFill>
              </a:rPr>
              <a:t>Functional Completeness (15%)</a:t>
            </a:r>
          </a:p>
        </p:txBody>
      </p:sp>
      <p:sp>
        <p:nvSpPr>
          <p:cNvPr id="12" name="TextBox 11"/>
          <p:cNvSpPr txBox="1"/>
          <p:nvPr/>
        </p:nvSpPr>
        <p:spPr>
          <a:xfrm>
            <a:off x="3977639" y="1856232"/>
            <a:ext cx="5303520" cy="310896"/>
          </a:xfrm>
          <a:prstGeom prst="rect">
            <a:avLst/>
          </a:prstGeom>
          <a:noFill/>
        </p:spPr>
        <p:txBody>
          <a:bodyPr wrap="square">
            <a:spAutoFit/>
          </a:bodyPr>
          <a:lstStyle/>
          <a:p>
            <a:pPr algn="l"/>
            <a:r>
              <a:rPr sz="1050" b="0" i="0">
                <a:solidFill>
                  <a:srgbClr val="3D3D3D"/>
                </a:solidFill>
              </a:rPr>
              <a:t>All 4 roles functional, AI suggestions, order flow, notifications, reports</a:t>
            </a:r>
          </a:p>
        </p:txBody>
      </p:sp>
      <p:sp>
        <p:nvSpPr>
          <p:cNvPr id="13" name="TextBox 12"/>
          <p:cNvSpPr txBox="1"/>
          <p:nvPr/>
        </p:nvSpPr>
        <p:spPr>
          <a:xfrm>
            <a:off x="9326880" y="1856232"/>
            <a:ext cx="2468880" cy="310896"/>
          </a:xfrm>
          <a:prstGeom prst="rect">
            <a:avLst/>
          </a:prstGeom>
          <a:noFill/>
        </p:spPr>
        <p:txBody>
          <a:bodyPr wrap="square">
            <a:spAutoFit/>
          </a:bodyPr>
          <a:lstStyle/>
          <a:p>
            <a:pPr algn="l"/>
            <a:r>
              <a:rPr sz="1000" b="0" i="1">
                <a:solidFill>
                  <a:srgbClr val="1A5C99"/>
                </a:solidFill>
              </a:rPr>
              <a:t>Slides 3,4,6,7,8,9 + Demo slide 12</a:t>
            </a:r>
          </a:p>
        </p:txBody>
      </p:sp>
      <p:sp>
        <p:nvSpPr>
          <p:cNvPr id="14" name="Rectangle 13"/>
          <p:cNvSpPr/>
          <p:nvPr/>
        </p:nvSpPr>
        <p:spPr>
          <a:xfrm>
            <a:off x="256032" y="2231136"/>
            <a:ext cx="11676888" cy="402336"/>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322576"/>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032" y="2267712"/>
            <a:ext cx="219456" cy="329184"/>
          </a:xfrm>
          <a:prstGeom prst="rect">
            <a:avLst/>
          </a:prstGeom>
          <a:noFill/>
        </p:spPr>
        <p:txBody>
          <a:bodyPr wrap="square">
            <a:spAutoFit/>
          </a:bodyPr>
          <a:lstStyle/>
          <a:p>
            <a:pPr algn="ctr"/>
            <a:r>
              <a:rPr sz="1100" b="1" i="0">
                <a:solidFill>
                  <a:srgbClr val="FFFBF5"/>
                </a:solidFill>
              </a:rPr>
              <a:t>✓</a:t>
            </a:r>
          </a:p>
        </p:txBody>
      </p:sp>
      <p:sp>
        <p:nvSpPr>
          <p:cNvPr id="17" name="TextBox 16"/>
          <p:cNvSpPr txBox="1"/>
          <p:nvPr/>
        </p:nvSpPr>
        <p:spPr>
          <a:xfrm>
            <a:off x="548640" y="2286000"/>
            <a:ext cx="3383280" cy="310896"/>
          </a:xfrm>
          <a:prstGeom prst="rect">
            <a:avLst/>
          </a:prstGeom>
          <a:noFill/>
        </p:spPr>
        <p:txBody>
          <a:bodyPr wrap="square">
            <a:spAutoFit/>
          </a:bodyPr>
          <a:lstStyle/>
          <a:p>
            <a:pPr algn="l"/>
            <a:r>
              <a:rPr sz="1100" b="1" i="0">
                <a:solidFill>
                  <a:srgbClr val="2C1A0E"/>
                </a:solidFill>
              </a:rPr>
              <a:t>System Design &amp; Documentation (15%)</a:t>
            </a:r>
          </a:p>
        </p:txBody>
      </p:sp>
      <p:sp>
        <p:nvSpPr>
          <p:cNvPr id="18" name="TextBox 17"/>
          <p:cNvSpPr txBox="1"/>
          <p:nvPr/>
        </p:nvSpPr>
        <p:spPr>
          <a:xfrm>
            <a:off x="3977639" y="2286000"/>
            <a:ext cx="5303520" cy="310896"/>
          </a:xfrm>
          <a:prstGeom prst="rect">
            <a:avLst/>
          </a:prstGeom>
          <a:noFill/>
        </p:spPr>
        <p:txBody>
          <a:bodyPr wrap="square">
            <a:spAutoFit/>
          </a:bodyPr>
          <a:lstStyle/>
          <a:p>
            <a:pPr algn="l"/>
            <a:r>
              <a:rPr sz="1050" b="0" i="0">
                <a:solidFill>
                  <a:srgbClr val="3D3D3D"/>
                </a:solidFill>
              </a:rPr>
              <a:t>Architecture diagram, UML .drawio files in docs/diagrams/, Swagger UI</a:t>
            </a:r>
          </a:p>
        </p:txBody>
      </p:sp>
      <p:sp>
        <p:nvSpPr>
          <p:cNvPr id="19" name="TextBox 18"/>
          <p:cNvSpPr txBox="1"/>
          <p:nvPr/>
        </p:nvSpPr>
        <p:spPr>
          <a:xfrm>
            <a:off x="9326880" y="2286000"/>
            <a:ext cx="2468880" cy="310896"/>
          </a:xfrm>
          <a:prstGeom prst="rect">
            <a:avLst/>
          </a:prstGeom>
          <a:noFill/>
        </p:spPr>
        <p:txBody>
          <a:bodyPr wrap="square">
            <a:spAutoFit/>
          </a:bodyPr>
          <a:lstStyle/>
          <a:p>
            <a:pPr algn="l"/>
            <a:r>
              <a:rPr sz="1000" b="0" i="1">
                <a:solidFill>
                  <a:srgbClr val="1A5C99"/>
                </a:solidFill>
              </a:rPr>
              <a:t>Slide 5,6 + docs/diagrams/ directory</a:t>
            </a:r>
          </a:p>
        </p:txBody>
      </p:sp>
      <p:sp>
        <p:nvSpPr>
          <p:cNvPr id="20" name="Rectangle 19"/>
          <p:cNvSpPr/>
          <p:nvPr/>
        </p:nvSpPr>
        <p:spPr>
          <a:xfrm>
            <a:off x="256032" y="2660904"/>
            <a:ext cx="11676888" cy="402336"/>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 y="2752344"/>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 y="2697480"/>
            <a:ext cx="219456" cy="329184"/>
          </a:xfrm>
          <a:prstGeom prst="rect">
            <a:avLst/>
          </a:prstGeom>
          <a:noFill/>
        </p:spPr>
        <p:txBody>
          <a:bodyPr wrap="square">
            <a:spAutoFit/>
          </a:bodyPr>
          <a:lstStyle/>
          <a:p>
            <a:pPr algn="ctr"/>
            <a:r>
              <a:rPr sz="1100" b="1" i="0">
                <a:solidFill>
                  <a:srgbClr val="FFFBF5"/>
                </a:solidFill>
              </a:rPr>
              <a:t>✓</a:t>
            </a:r>
          </a:p>
        </p:txBody>
      </p:sp>
      <p:sp>
        <p:nvSpPr>
          <p:cNvPr id="23" name="TextBox 22"/>
          <p:cNvSpPr txBox="1"/>
          <p:nvPr/>
        </p:nvSpPr>
        <p:spPr>
          <a:xfrm>
            <a:off x="548640" y="2715768"/>
            <a:ext cx="3383280" cy="310896"/>
          </a:xfrm>
          <a:prstGeom prst="rect">
            <a:avLst/>
          </a:prstGeom>
          <a:noFill/>
        </p:spPr>
        <p:txBody>
          <a:bodyPr wrap="square">
            <a:spAutoFit/>
          </a:bodyPr>
          <a:lstStyle/>
          <a:p>
            <a:pPr algn="l"/>
            <a:r>
              <a:rPr sz="1100" b="1" i="0">
                <a:solidFill>
                  <a:srgbClr val="2C1A0E"/>
                </a:solidFill>
              </a:rPr>
              <a:t>CI/CD + Deployment (10%)</a:t>
            </a:r>
          </a:p>
        </p:txBody>
      </p:sp>
      <p:sp>
        <p:nvSpPr>
          <p:cNvPr id="24" name="TextBox 23"/>
          <p:cNvSpPr txBox="1"/>
          <p:nvPr/>
        </p:nvSpPr>
        <p:spPr>
          <a:xfrm>
            <a:off x="3977639" y="2715768"/>
            <a:ext cx="5303520" cy="310896"/>
          </a:xfrm>
          <a:prstGeom prst="rect">
            <a:avLst/>
          </a:prstGeom>
          <a:noFill/>
        </p:spPr>
        <p:txBody>
          <a:bodyPr wrap="square">
            <a:spAutoFit/>
          </a:bodyPr>
          <a:lstStyle/>
          <a:p>
            <a:pPr algn="l"/>
            <a:r>
              <a:rPr sz="1050" b="0" i="0">
                <a:solidFill>
                  <a:srgbClr val="3D3D3D"/>
                </a:solidFill>
              </a:rPr>
              <a:t>GitHub Actions pipeline, Docker Compose, cloud-ready env config</a:t>
            </a:r>
          </a:p>
        </p:txBody>
      </p:sp>
      <p:sp>
        <p:nvSpPr>
          <p:cNvPr id="25" name="TextBox 24"/>
          <p:cNvSpPr txBox="1"/>
          <p:nvPr/>
        </p:nvSpPr>
        <p:spPr>
          <a:xfrm>
            <a:off x="9326880" y="2715768"/>
            <a:ext cx="2468880" cy="310896"/>
          </a:xfrm>
          <a:prstGeom prst="rect">
            <a:avLst/>
          </a:prstGeom>
          <a:noFill/>
        </p:spPr>
        <p:txBody>
          <a:bodyPr wrap="square">
            <a:spAutoFit/>
          </a:bodyPr>
          <a:lstStyle/>
          <a:p>
            <a:pPr algn="l"/>
            <a:r>
              <a:rPr sz="1000" b="0" i="1">
                <a:solidFill>
                  <a:srgbClr val="1A5C99"/>
                </a:solidFill>
              </a:rPr>
              <a:t>Slide 10</a:t>
            </a:r>
          </a:p>
        </p:txBody>
      </p:sp>
      <p:sp>
        <p:nvSpPr>
          <p:cNvPr id="26" name="Rectangle 25"/>
          <p:cNvSpPr/>
          <p:nvPr/>
        </p:nvSpPr>
        <p:spPr>
          <a:xfrm>
            <a:off x="256032" y="3090672"/>
            <a:ext cx="11676888" cy="402336"/>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3182112"/>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3127248"/>
            <a:ext cx="219456" cy="329184"/>
          </a:xfrm>
          <a:prstGeom prst="rect">
            <a:avLst/>
          </a:prstGeom>
          <a:noFill/>
        </p:spPr>
        <p:txBody>
          <a:bodyPr wrap="square">
            <a:spAutoFit/>
          </a:bodyPr>
          <a:lstStyle/>
          <a:p>
            <a:pPr algn="ctr"/>
            <a:r>
              <a:rPr sz="1100" b="1" i="0">
                <a:solidFill>
                  <a:srgbClr val="FFFBF5"/>
                </a:solidFill>
              </a:rPr>
              <a:t>✓</a:t>
            </a:r>
          </a:p>
        </p:txBody>
      </p:sp>
      <p:sp>
        <p:nvSpPr>
          <p:cNvPr id="29" name="TextBox 28"/>
          <p:cNvSpPr txBox="1"/>
          <p:nvPr/>
        </p:nvSpPr>
        <p:spPr>
          <a:xfrm>
            <a:off x="548640" y="3145536"/>
            <a:ext cx="3383280" cy="310896"/>
          </a:xfrm>
          <a:prstGeom prst="rect">
            <a:avLst/>
          </a:prstGeom>
          <a:noFill/>
        </p:spPr>
        <p:txBody>
          <a:bodyPr wrap="square">
            <a:spAutoFit/>
          </a:bodyPr>
          <a:lstStyle/>
          <a:p>
            <a:pPr algn="l"/>
            <a:r>
              <a:rPr sz="1100" b="1" i="0">
                <a:solidFill>
                  <a:srgbClr val="2C1A0E"/>
                </a:solidFill>
              </a:rPr>
              <a:t>Code Quality &amp; Readability (10%)</a:t>
            </a:r>
          </a:p>
        </p:txBody>
      </p:sp>
      <p:sp>
        <p:nvSpPr>
          <p:cNvPr id="30" name="TextBox 29"/>
          <p:cNvSpPr txBox="1"/>
          <p:nvPr/>
        </p:nvSpPr>
        <p:spPr>
          <a:xfrm>
            <a:off x="3977639" y="3145536"/>
            <a:ext cx="5303520" cy="310896"/>
          </a:xfrm>
          <a:prstGeom prst="rect">
            <a:avLst/>
          </a:prstGeom>
          <a:noFill/>
        </p:spPr>
        <p:txBody>
          <a:bodyPr wrap="square">
            <a:spAutoFit/>
          </a:bodyPr>
          <a:lstStyle/>
          <a:p>
            <a:pPr algn="l"/>
            <a:r>
              <a:rPr sz="1050" b="0" i="0">
                <a:solidFill>
                  <a:srgbClr val="3D3D3D"/>
                </a:solidFill>
              </a:rPr>
              <a:t>SOLID, clean architecture, Java records, interface-first AI, 5-layer test suite</a:t>
            </a:r>
          </a:p>
        </p:txBody>
      </p:sp>
      <p:sp>
        <p:nvSpPr>
          <p:cNvPr id="31" name="TextBox 30"/>
          <p:cNvSpPr txBox="1"/>
          <p:nvPr/>
        </p:nvSpPr>
        <p:spPr>
          <a:xfrm>
            <a:off x="9326880" y="3145536"/>
            <a:ext cx="2468880" cy="310896"/>
          </a:xfrm>
          <a:prstGeom prst="rect">
            <a:avLst/>
          </a:prstGeom>
          <a:noFill/>
        </p:spPr>
        <p:txBody>
          <a:bodyPr wrap="square">
            <a:spAutoFit/>
          </a:bodyPr>
          <a:lstStyle/>
          <a:p>
            <a:pPr algn="l"/>
            <a:r>
              <a:rPr sz="1000" b="0" i="1">
                <a:solidFill>
                  <a:srgbClr val="1A5C99"/>
                </a:solidFill>
              </a:rPr>
              <a:t>Slide 11</a:t>
            </a:r>
          </a:p>
        </p:txBody>
      </p:sp>
      <p:sp>
        <p:nvSpPr>
          <p:cNvPr id="32" name="Rectangle 31"/>
          <p:cNvSpPr/>
          <p:nvPr/>
        </p:nvSpPr>
        <p:spPr>
          <a:xfrm>
            <a:off x="256032" y="3520440"/>
            <a:ext cx="11676888" cy="329184"/>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7472" y="3557016"/>
            <a:ext cx="11430000" cy="256032"/>
          </a:xfrm>
          <a:prstGeom prst="rect">
            <a:avLst/>
          </a:prstGeom>
          <a:noFill/>
        </p:spPr>
        <p:txBody>
          <a:bodyPr wrap="square">
            <a:spAutoFit/>
          </a:bodyPr>
          <a:lstStyle/>
          <a:p>
            <a:pPr algn="l"/>
            <a:r>
              <a:rPr sz="1200" b="1" i="0">
                <a:solidFill>
                  <a:srgbClr val="F5A623"/>
                </a:solidFill>
              </a:rPr>
              <a:t>Part 2 — Presentation Rubric (50%)</a:t>
            </a:r>
          </a:p>
        </p:txBody>
      </p:sp>
      <p:sp>
        <p:nvSpPr>
          <p:cNvPr id="34" name="Rectangle 33"/>
          <p:cNvSpPr/>
          <p:nvPr/>
        </p:nvSpPr>
        <p:spPr>
          <a:xfrm>
            <a:off x="256032" y="3904488"/>
            <a:ext cx="11676888" cy="402336"/>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6032" y="3995928"/>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 y="3941064"/>
            <a:ext cx="219456" cy="329184"/>
          </a:xfrm>
          <a:prstGeom prst="rect">
            <a:avLst/>
          </a:prstGeom>
          <a:noFill/>
        </p:spPr>
        <p:txBody>
          <a:bodyPr wrap="square">
            <a:spAutoFit/>
          </a:bodyPr>
          <a:lstStyle/>
          <a:p>
            <a:pPr algn="ctr"/>
            <a:r>
              <a:rPr sz="1100" b="1" i="0">
                <a:solidFill>
                  <a:srgbClr val="FFFBF5"/>
                </a:solidFill>
              </a:rPr>
              <a:t>✓</a:t>
            </a:r>
          </a:p>
        </p:txBody>
      </p:sp>
      <p:sp>
        <p:nvSpPr>
          <p:cNvPr id="37" name="TextBox 36"/>
          <p:cNvSpPr txBox="1"/>
          <p:nvPr/>
        </p:nvSpPr>
        <p:spPr>
          <a:xfrm>
            <a:off x="548640" y="3959352"/>
            <a:ext cx="3383280" cy="310896"/>
          </a:xfrm>
          <a:prstGeom prst="rect">
            <a:avLst/>
          </a:prstGeom>
          <a:noFill/>
        </p:spPr>
        <p:txBody>
          <a:bodyPr wrap="square">
            <a:spAutoFit/>
          </a:bodyPr>
          <a:lstStyle/>
          <a:p>
            <a:pPr algn="l"/>
            <a:r>
              <a:rPr sz="1100" b="1" i="0">
                <a:solidFill>
                  <a:srgbClr val="2C1A0E"/>
                </a:solidFill>
              </a:rPr>
              <a:t>Functionality (15%)</a:t>
            </a:r>
          </a:p>
        </p:txBody>
      </p:sp>
      <p:sp>
        <p:nvSpPr>
          <p:cNvPr id="38" name="TextBox 37"/>
          <p:cNvSpPr txBox="1"/>
          <p:nvPr/>
        </p:nvSpPr>
        <p:spPr>
          <a:xfrm>
            <a:off x="3977639" y="3959352"/>
            <a:ext cx="5303520" cy="310896"/>
          </a:xfrm>
          <a:prstGeom prst="rect">
            <a:avLst/>
          </a:prstGeom>
          <a:noFill/>
        </p:spPr>
        <p:txBody>
          <a:bodyPr wrap="square">
            <a:spAutoFit/>
          </a:bodyPr>
          <a:lstStyle/>
          <a:p>
            <a:pPr algn="l"/>
            <a:r>
              <a:rPr sz="1050" b="0" i="0">
                <a:solidFill>
                  <a:srgbClr val="3D3D3D"/>
                </a:solidFill>
              </a:rPr>
              <a:t>Live demo covers all 8 flows end-to-end with real data</a:t>
            </a:r>
          </a:p>
        </p:txBody>
      </p:sp>
      <p:sp>
        <p:nvSpPr>
          <p:cNvPr id="39" name="TextBox 38"/>
          <p:cNvSpPr txBox="1"/>
          <p:nvPr/>
        </p:nvSpPr>
        <p:spPr>
          <a:xfrm>
            <a:off x="9326880" y="3959352"/>
            <a:ext cx="2468880" cy="310896"/>
          </a:xfrm>
          <a:prstGeom prst="rect">
            <a:avLst/>
          </a:prstGeom>
          <a:noFill/>
        </p:spPr>
        <p:txBody>
          <a:bodyPr wrap="square">
            <a:spAutoFit/>
          </a:bodyPr>
          <a:lstStyle/>
          <a:p>
            <a:pPr algn="l"/>
            <a:r>
              <a:rPr sz="1000" b="0" i="1">
                <a:solidFill>
                  <a:srgbClr val="1A5C99"/>
                </a:solidFill>
              </a:rPr>
              <a:t>Slide 12 (demo script)</a:t>
            </a:r>
          </a:p>
        </p:txBody>
      </p:sp>
      <p:sp>
        <p:nvSpPr>
          <p:cNvPr id="40" name="Rectangle 39"/>
          <p:cNvSpPr/>
          <p:nvPr/>
        </p:nvSpPr>
        <p:spPr>
          <a:xfrm>
            <a:off x="256032" y="4334256"/>
            <a:ext cx="11676888" cy="402336"/>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6032" y="4425696"/>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032" y="4370832"/>
            <a:ext cx="219456" cy="329184"/>
          </a:xfrm>
          <a:prstGeom prst="rect">
            <a:avLst/>
          </a:prstGeom>
          <a:noFill/>
        </p:spPr>
        <p:txBody>
          <a:bodyPr wrap="square">
            <a:spAutoFit/>
          </a:bodyPr>
          <a:lstStyle/>
          <a:p>
            <a:pPr algn="ctr"/>
            <a:r>
              <a:rPr sz="1100" b="1" i="0">
                <a:solidFill>
                  <a:srgbClr val="FFFBF5"/>
                </a:solidFill>
              </a:rPr>
              <a:t>✓</a:t>
            </a:r>
          </a:p>
        </p:txBody>
      </p:sp>
      <p:sp>
        <p:nvSpPr>
          <p:cNvPr id="43" name="TextBox 42"/>
          <p:cNvSpPr txBox="1"/>
          <p:nvPr/>
        </p:nvSpPr>
        <p:spPr>
          <a:xfrm>
            <a:off x="548640" y="4389120"/>
            <a:ext cx="3383280" cy="310896"/>
          </a:xfrm>
          <a:prstGeom prst="rect">
            <a:avLst/>
          </a:prstGeom>
          <a:noFill/>
        </p:spPr>
        <p:txBody>
          <a:bodyPr wrap="square">
            <a:spAutoFit/>
          </a:bodyPr>
          <a:lstStyle/>
          <a:p>
            <a:pPr algn="l"/>
            <a:r>
              <a:rPr sz="1100" b="1" i="0">
                <a:solidFill>
                  <a:srgbClr val="2C1A0E"/>
                </a:solidFill>
              </a:rPr>
              <a:t>Communication (10%)</a:t>
            </a:r>
          </a:p>
        </p:txBody>
      </p:sp>
      <p:sp>
        <p:nvSpPr>
          <p:cNvPr id="44" name="TextBox 43"/>
          <p:cNvSpPr txBox="1"/>
          <p:nvPr/>
        </p:nvSpPr>
        <p:spPr>
          <a:xfrm>
            <a:off x="3977639" y="4389120"/>
            <a:ext cx="5303520" cy="310896"/>
          </a:xfrm>
          <a:prstGeom prst="rect">
            <a:avLst/>
          </a:prstGeom>
          <a:noFill/>
        </p:spPr>
        <p:txBody>
          <a:bodyPr wrap="square">
            <a:spAutoFit/>
          </a:bodyPr>
          <a:lstStyle/>
          <a:p>
            <a:pPr algn="l"/>
            <a:r>
              <a:rPr sz="1050" b="0" i="0">
                <a:solidFill>
                  <a:srgbClr val="3D3D3D"/>
                </a:solidFill>
              </a:rPr>
              <a:t>4 presenters, speaker notes per slide, transitions scripted</a:t>
            </a:r>
          </a:p>
        </p:txBody>
      </p:sp>
      <p:sp>
        <p:nvSpPr>
          <p:cNvPr id="45" name="TextBox 44"/>
          <p:cNvSpPr txBox="1"/>
          <p:nvPr/>
        </p:nvSpPr>
        <p:spPr>
          <a:xfrm>
            <a:off x="9326880" y="4389120"/>
            <a:ext cx="2468880" cy="310896"/>
          </a:xfrm>
          <a:prstGeom prst="rect">
            <a:avLst/>
          </a:prstGeom>
          <a:noFill/>
        </p:spPr>
        <p:txBody>
          <a:bodyPr wrap="square">
            <a:spAutoFit/>
          </a:bodyPr>
          <a:lstStyle/>
          <a:p>
            <a:pPr algn="l"/>
            <a:r>
              <a:rPr sz="1000" b="0" i="1">
                <a:solidFill>
                  <a:srgbClr val="1A5C99"/>
                </a:solidFill>
              </a:rPr>
              <a:t>All speaker notes + Slide 16</a:t>
            </a:r>
          </a:p>
        </p:txBody>
      </p:sp>
      <p:sp>
        <p:nvSpPr>
          <p:cNvPr id="46" name="Rectangle 45"/>
          <p:cNvSpPr/>
          <p:nvPr/>
        </p:nvSpPr>
        <p:spPr>
          <a:xfrm>
            <a:off x="256032" y="4764024"/>
            <a:ext cx="11676888" cy="402336"/>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56032" y="4855464"/>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6032" y="4800600"/>
            <a:ext cx="219456" cy="329184"/>
          </a:xfrm>
          <a:prstGeom prst="rect">
            <a:avLst/>
          </a:prstGeom>
          <a:noFill/>
        </p:spPr>
        <p:txBody>
          <a:bodyPr wrap="square">
            <a:spAutoFit/>
          </a:bodyPr>
          <a:lstStyle/>
          <a:p>
            <a:pPr algn="ctr"/>
            <a:r>
              <a:rPr sz="1100" b="1" i="0">
                <a:solidFill>
                  <a:srgbClr val="FFFBF5"/>
                </a:solidFill>
              </a:rPr>
              <a:t>✓</a:t>
            </a:r>
          </a:p>
        </p:txBody>
      </p:sp>
      <p:sp>
        <p:nvSpPr>
          <p:cNvPr id="49" name="TextBox 48"/>
          <p:cNvSpPr txBox="1"/>
          <p:nvPr/>
        </p:nvSpPr>
        <p:spPr>
          <a:xfrm>
            <a:off x="548640" y="4818888"/>
            <a:ext cx="3383280" cy="310896"/>
          </a:xfrm>
          <a:prstGeom prst="rect">
            <a:avLst/>
          </a:prstGeom>
          <a:noFill/>
        </p:spPr>
        <p:txBody>
          <a:bodyPr wrap="square">
            <a:spAutoFit/>
          </a:bodyPr>
          <a:lstStyle/>
          <a:p>
            <a:pPr algn="l"/>
            <a:r>
              <a:rPr sz="1100" b="1" i="0">
                <a:solidFill>
                  <a:srgbClr val="2C1A0E"/>
                </a:solidFill>
              </a:rPr>
              <a:t>Structure &amp; Flow (10%)</a:t>
            </a:r>
          </a:p>
        </p:txBody>
      </p:sp>
      <p:sp>
        <p:nvSpPr>
          <p:cNvPr id="50" name="TextBox 49"/>
          <p:cNvSpPr txBox="1"/>
          <p:nvPr/>
        </p:nvSpPr>
        <p:spPr>
          <a:xfrm>
            <a:off x="3977639" y="4818888"/>
            <a:ext cx="5303520" cy="310896"/>
          </a:xfrm>
          <a:prstGeom prst="rect">
            <a:avLst/>
          </a:prstGeom>
          <a:noFill/>
        </p:spPr>
        <p:txBody>
          <a:bodyPr wrap="square">
            <a:spAutoFit/>
          </a:bodyPr>
          <a:lstStyle/>
          <a:p>
            <a:pPr algn="l"/>
            <a:r>
              <a:rPr sz="1050" b="0" i="0">
                <a:solidFill>
                  <a:srgbClr val="3D3D3D"/>
                </a:solidFill>
              </a:rPr>
              <a:t>15-slide arc: Problem → Solution → Architecture → Deep Dives → Demo → Impact → Q&amp;A</a:t>
            </a:r>
          </a:p>
        </p:txBody>
      </p:sp>
      <p:sp>
        <p:nvSpPr>
          <p:cNvPr id="51" name="TextBox 50"/>
          <p:cNvSpPr txBox="1"/>
          <p:nvPr/>
        </p:nvSpPr>
        <p:spPr>
          <a:xfrm>
            <a:off x="9326880" y="4818888"/>
            <a:ext cx="2468880" cy="310896"/>
          </a:xfrm>
          <a:prstGeom prst="rect">
            <a:avLst/>
          </a:prstGeom>
          <a:noFill/>
        </p:spPr>
        <p:txBody>
          <a:bodyPr wrap="square">
            <a:spAutoFit/>
          </a:bodyPr>
          <a:lstStyle/>
          <a:p>
            <a:pPr algn="l"/>
            <a:r>
              <a:rPr sz="1000" b="0" i="1">
                <a:solidFill>
                  <a:srgbClr val="1A5C99"/>
                </a:solidFill>
              </a:rPr>
              <a:t>Full deck order</a:t>
            </a:r>
          </a:p>
        </p:txBody>
      </p:sp>
      <p:sp>
        <p:nvSpPr>
          <p:cNvPr id="52" name="Rectangle 51"/>
          <p:cNvSpPr/>
          <p:nvPr/>
        </p:nvSpPr>
        <p:spPr>
          <a:xfrm>
            <a:off x="256032" y="5193792"/>
            <a:ext cx="11676888" cy="402336"/>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56032" y="5285232"/>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6032" y="5230368"/>
            <a:ext cx="219456" cy="329184"/>
          </a:xfrm>
          <a:prstGeom prst="rect">
            <a:avLst/>
          </a:prstGeom>
          <a:noFill/>
        </p:spPr>
        <p:txBody>
          <a:bodyPr wrap="square">
            <a:spAutoFit/>
          </a:bodyPr>
          <a:lstStyle/>
          <a:p>
            <a:pPr algn="ctr"/>
            <a:r>
              <a:rPr sz="1100" b="1" i="0">
                <a:solidFill>
                  <a:srgbClr val="FFFBF5"/>
                </a:solidFill>
              </a:rPr>
              <a:t>✓</a:t>
            </a:r>
          </a:p>
        </p:txBody>
      </p:sp>
      <p:sp>
        <p:nvSpPr>
          <p:cNvPr id="55" name="TextBox 54"/>
          <p:cNvSpPr txBox="1"/>
          <p:nvPr/>
        </p:nvSpPr>
        <p:spPr>
          <a:xfrm>
            <a:off x="548640" y="5248656"/>
            <a:ext cx="3383280" cy="310896"/>
          </a:xfrm>
          <a:prstGeom prst="rect">
            <a:avLst/>
          </a:prstGeom>
          <a:noFill/>
        </p:spPr>
        <p:txBody>
          <a:bodyPr wrap="square">
            <a:spAutoFit/>
          </a:bodyPr>
          <a:lstStyle/>
          <a:p>
            <a:pPr algn="l"/>
            <a:r>
              <a:rPr sz="1100" b="1" i="0">
                <a:solidFill>
                  <a:srgbClr val="2C1A0E"/>
                </a:solidFill>
              </a:rPr>
              <a:t>Visuals &amp; UX (5%)</a:t>
            </a:r>
          </a:p>
        </p:txBody>
      </p:sp>
      <p:sp>
        <p:nvSpPr>
          <p:cNvPr id="56" name="TextBox 55"/>
          <p:cNvSpPr txBox="1"/>
          <p:nvPr/>
        </p:nvSpPr>
        <p:spPr>
          <a:xfrm>
            <a:off x="3977639" y="5248656"/>
            <a:ext cx="5303520" cy="310896"/>
          </a:xfrm>
          <a:prstGeom prst="rect">
            <a:avLst/>
          </a:prstGeom>
          <a:noFill/>
        </p:spPr>
        <p:txBody>
          <a:bodyPr wrap="square">
            <a:spAutoFit/>
          </a:bodyPr>
          <a:lstStyle/>
          <a:p>
            <a:pPr algn="l"/>
            <a:r>
              <a:rPr sz="1050" b="0" i="0">
                <a:solidFill>
                  <a:srgbClr val="3D3D3D"/>
                </a:solidFill>
              </a:rPr>
              <a:t>Consistent brand palette, architecture diagrams, service boxes, flow animations</a:t>
            </a:r>
          </a:p>
        </p:txBody>
      </p:sp>
      <p:sp>
        <p:nvSpPr>
          <p:cNvPr id="57" name="TextBox 56"/>
          <p:cNvSpPr txBox="1"/>
          <p:nvPr/>
        </p:nvSpPr>
        <p:spPr>
          <a:xfrm>
            <a:off x="9326880" y="5248656"/>
            <a:ext cx="2468880" cy="310896"/>
          </a:xfrm>
          <a:prstGeom prst="rect">
            <a:avLst/>
          </a:prstGeom>
          <a:noFill/>
        </p:spPr>
        <p:txBody>
          <a:bodyPr wrap="square">
            <a:spAutoFit/>
          </a:bodyPr>
          <a:lstStyle/>
          <a:p>
            <a:pPr algn="l"/>
            <a:r>
              <a:rPr sz="1000" b="0" i="1">
                <a:solidFill>
                  <a:srgbClr val="1A5C99"/>
                </a:solidFill>
              </a:rPr>
              <a:t>Slides 5,6 + brand colours throughout</a:t>
            </a:r>
          </a:p>
        </p:txBody>
      </p:sp>
      <p:sp>
        <p:nvSpPr>
          <p:cNvPr id="58" name="Rectangle 57"/>
          <p:cNvSpPr/>
          <p:nvPr/>
        </p:nvSpPr>
        <p:spPr>
          <a:xfrm>
            <a:off x="256032" y="5623560"/>
            <a:ext cx="11676888" cy="402336"/>
          </a:xfrm>
          <a:prstGeom prst="rect">
            <a:avLst/>
          </a:prstGeom>
          <a:solidFill>
            <a:srgbClr val="FFFBF5"/>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56032" y="5715000"/>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56032" y="5660136"/>
            <a:ext cx="219456" cy="329184"/>
          </a:xfrm>
          <a:prstGeom prst="rect">
            <a:avLst/>
          </a:prstGeom>
          <a:noFill/>
        </p:spPr>
        <p:txBody>
          <a:bodyPr wrap="square">
            <a:spAutoFit/>
          </a:bodyPr>
          <a:lstStyle/>
          <a:p>
            <a:pPr algn="ctr"/>
            <a:r>
              <a:rPr sz="1100" b="1" i="0">
                <a:solidFill>
                  <a:srgbClr val="FFFBF5"/>
                </a:solidFill>
              </a:rPr>
              <a:t>✓</a:t>
            </a:r>
          </a:p>
        </p:txBody>
      </p:sp>
      <p:sp>
        <p:nvSpPr>
          <p:cNvPr id="61" name="TextBox 60"/>
          <p:cNvSpPr txBox="1"/>
          <p:nvPr/>
        </p:nvSpPr>
        <p:spPr>
          <a:xfrm>
            <a:off x="548640" y="5678424"/>
            <a:ext cx="3383280" cy="310896"/>
          </a:xfrm>
          <a:prstGeom prst="rect">
            <a:avLst/>
          </a:prstGeom>
          <a:noFill/>
        </p:spPr>
        <p:txBody>
          <a:bodyPr wrap="square">
            <a:spAutoFit/>
          </a:bodyPr>
          <a:lstStyle/>
          <a:p>
            <a:pPr algn="l"/>
            <a:r>
              <a:rPr sz="1100" b="1" i="0">
                <a:solidFill>
                  <a:srgbClr val="2C1A0E"/>
                </a:solidFill>
              </a:rPr>
              <a:t>Q&amp;A Handling (5%)</a:t>
            </a:r>
          </a:p>
        </p:txBody>
      </p:sp>
      <p:sp>
        <p:nvSpPr>
          <p:cNvPr id="62" name="TextBox 61"/>
          <p:cNvSpPr txBox="1"/>
          <p:nvPr/>
        </p:nvSpPr>
        <p:spPr>
          <a:xfrm>
            <a:off x="3977639" y="5678424"/>
            <a:ext cx="5303520" cy="310896"/>
          </a:xfrm>
          <a:prstGeom prst="rect">
            <a:avLst/>
          </a:prstGeom>
          <a:noFill/>
        </p:spPr>
        <p:txBody>
          <a:bodyPr wrap="square">
            <a:spAutoFit/>
          </a:bodyPr>
          <a:lstStyle/>
          <a:p>
            <a:pPr algn="l"/>
            <a:r>
              <a:rPr sz="1050" b="0" i="0">
                <a:solidFill>
                  <a:srgbClr val="3D3D3D"/>
                </a:solidFill>
              </a:rPr>
              <a:t>10 prepared Q&amp;A pairs with coaching notes</a:t>
            </a:r>
          </a:p>
        </p:txBody>
      </p:sp>
      <p:sp>
        <p:nvSpPr>
          <p:cNvPr id="63" name="TextBox 62"/>
          <p:cNvSpPr txBox="1"/>
          <p:nvPr/>
        </p:nvSpPr>
        <p:spPr>
          <a:xfrm>
            <a:off x="9326880" y="5678424"/>
            <a:ext cx="2468880" cy="310896"/>
          </a:xfrm>
          <a:prstGeom prst="rect">
            <a:avLst/>
          </a:prstGeom>
          <a:noFill/>
        </p:spPr>
        <p:txBody>
          <a:bodyPr wrap="square">
            <a:spAutoFit/>
          </a:bodyPr>
          <a:lstStyle/>
          <a:p>
            <a:pPr algn="l"/>
            <a:r>
              <a:rPr sz="1000" b="0" i="1">
                <a:solidFill>
                  <a:srgbClr val="1A5C99"/>
                </a:solidFill>
              </a:rPr>
              <a:t>Slide 17 (Q&amp;A prep)</a:t>
            </a:r>
          </a:p>
        </p:txBody>
      </p:sp>
      <p:sp>
        <p:nvSpPr>
          <p:cNvPr id="64" name="Rectangle 63"/>
          <p:cNvSpPr/>
          <p:nvPr/>
        </p:nvSpPr>
        <p:spPr>
          <a:xfrm>
            <a:off x="256032" y="6053328"/>
            <a:ext cx="11676888" cy="402336"/>
          </a:xfrm>
          <a:prstGeom prst="rect">
            <a:avLst/>
          </a:prstGeom>
          <a:solidFill>
            <a:srgbClr val="FDF1E2"/>
          </a:solidFill>
          <a:ln w="6350">
            <a:solidFill>
              <a:srgbClr val="B0A8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56032" y="6144768"/>
            <a:ext cx="219456" cy="219456"/>
          </a:xfrm>
          <a:prstGeom prst="rect">
            <a:avLst/>
          </a:prstGeom>
          <a:solidFill>
            <a:srgbClr val="6B8F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56032" y="6089904"/>
            <a:ext cx="219456" cy="329184"/>
          </a:xfrm>
          <a:prstGeom prst="rect">
            <a:avLst/>
          </a:prstGeom>
          <a:noFill/>
        </p:spPr>
        <p:txBody>
          <a:bodyPr wrap="square">
            <a:spAutoFit/>
          </a:bodyPr>
          <a:lstStyle/>
          <a:p>
            <a:pPr algn="ctr"/>
            <a:r>
              <a:rPr sz="1100" b="1" i="0">
                <a:solidFill>
                  <a:srgbClr val="FFFBF5"/>
                </a:solidFill>
              </a:rPr>
              <a:t>✓</a:t>
            </a:r>
          </a:p>
        </p:txBody>
      </p:sp>
      <p:sp>
        <p:nvSpPr>
          <p:cNvPr id="67" name="TextBox 66"/>
          <p:cNvSpPr txBox="1"/>
          <p:nvPr/>
        </p:nvSpPr>
        <p:spPr>
          <a:xfrm>
            <a:off x="548640" y="6108192"/>
            <a:ext cx="3383280" cy="310896"/>
          </a:xfrm>
          <a:prstGeom prst="rect">
            <a:avLst/>
          </a:prstGeom>
          <a:noFill/>
        </p:spPr>
        <p:txBody>
          <a:bodyPr wrap="square">
            <a:spAutoFit/>
          </a:bodyPr>
          <a:lstStyle/>
          <a:p>
            <a:pPr algn="l"/>
            <a:r>
              <a:rPr sz="1100" b="1" i="0">
                <a:solidFill>
                  <a:srgbClr val="2C1A0E"/>
                </a:solidFill>
              </a:rPr>
              <a:t>Impact &amp; Innovation (5%)</a:t>
            </a:r>
          </a:p>
        </p:txBody>
      </p:sp>
      <p:sp>
        <p:nvSpPr>
          <p:cNvPr id="68" name="TextBox 67"/>
          <p:cNvSpPr txBox="1"/>
          <p:nvPr/>
        </p:nvSpPr>
        <p:spPr>
          <a:xfrm>
            <a:off x="3977639" y="6108192"/>
            <a:ext cx="5303520" cy="310896"/>
          </a:xfrm>
          <a:prstGeom prst="rect">
            <a:avLst/>
          </a:prstGeom>
          <a:noFill/>
        </p:spPr>
        <p:txBody>
          <a:bodyPr wrap="square">
            <a:spAutoFit/>
          </a:bodyPr>
          <a:lstStyle/>
          <a:p>
            <a:pPr algn="l"/>
            <a:r>
              <a:rPr sz="1050" b="0" i="0">
                <a:solidFill>
                  <a:srgbClr val="3D3D3D"/>
                </a:solidFill>
              </a:rPr>
              <a:t>6 impact statements, AI novelty, Outbox Pattern, RBAC, scale narrative</a:t>
            </a:r>
          </a:p>
        </p:txBody>
      </p:sp>
      <p:sp>
        <p:nvSpPr>
          <p:cNvPr id="69" name="TextBox 68"/>
          <p:cNvSpPr txBox="1"/>
          <p:nvPr/>
        </p:nvSpPr>
        <p:spPr>
          <a:xfrm>
            <a:off x="9326880" y="6108192"/>
            <a:ext cx="2468880" cy="310896"/>
          </a:xfrm>
          <a:prstGeom prst="rect">
            <a:avLst/>
          </a:prstGeom>
          <a:noFill/>
        </p:spPr>
        <p:txBody>
          <a:bodyPr wrap="square">
            <a:spAutoFit/>
          </a:bodyPr>
          <a:lstStyle/>
          <a:p>
            <a:pPr algn="l"/>
            <a:r>
              <a:rPr sz="1000" b="0" i="1">
                <a:solidFill>
                  <a:srgbClr val="1A5C99"/>
                </a:solidFill>
              </a:rPr>
              <a:t>Slide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