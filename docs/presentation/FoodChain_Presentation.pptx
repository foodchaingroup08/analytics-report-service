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(30 sec):</a:t>
            </a:r>
          </a:p>
          <a:p>
            <a:r>
              <a:t>"Good [morning/afternoon]. My name is Ubaydah, and today I'm presenting FoodChain — a production-grade, cloud-ready restaurant management platform built entirely on microservices.</a:t>
            </a:r>
          </a:p>
          <a:p/>
          <a:p>
            <a:r>
              <a:t>This isn't a demo app. Every service is independently deployable, communicates asynchronously through Apache Kafka, secured with JWT and role-based access control, and powered by Google Gemini AI for personalised food recommendations.</a:t>
            </a:r>
          </a:p>
          <a:p/>
          <a:p>
            <a:r>
              <a:t>Let me walk you through why this matters, what we built, and how it all fits together." </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(60 sec):</a:t>
            </a:r>
          </a:p>
          <a:p>
            <a:r>
              <a:t>"Restaurant chains face three compounding problems.</a:t>
            </a:r>
          </a:p>
          <a:p/>
          <a:p>
            <a:r>
              <a:t>First — operational chaos. Orders managed through informal channels mean mistakes, duplicates, and missed items.</a:t>
            </a:r>
          </a:p>
          <a:p/>
          <a:p>
            <a:r>
              <a:t>Second — revenue leakage from delays. Without a real-time kitchen display showing which orders are at risk of breaching their SLA, staff can't prioritise correctly.</a:t>
            </a:r>
          </a:p>
          <a:p/>
          <a:p>
            <a:r>
              <a:t>Third — decision-making in the dark. Without branch-level analytics, managers can't answer basic questions like: what's our best-selling item on Friday nights? Which branch has the slowest throughput?</a:t>
            </a:r>
          </a:p>
          <a:p/>
          <a:p>
            <a:r>
              <a:t>FoodChain solves all three."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(90 sec):</a:t>
            </a:r>
          </a:p>
          <a:p>
            <a:r>
              <a:t>"FoodChain delivers six core capabilities.</a:t>
            </a:r>
          </a:p>
          <a:p/>
          <a:p>
            <a:r>
              <a:t>The AI Food Assistant uses Google Gemini 2.5 Flash to analyse a customer's preferences — budget, hunger level, dietary restrictions — and recommends the best matching items from the live menu. This is not a static FAQ bot; it's a genuine AI reasoning over real inventory data.</a:t>
            </a:r>
          </a:p>
          <a:p/>
          <a:p>
            <a:r>
              <a:t>The Kitchen Display gives kitchen staff a live view of pending orders, sorted by SLA risk. Orders that are approaching their deadline are automatically flagged, so nothing slips through.</a:t>
            </a:r>
          </a:p>
          <a:p/>
          <a:p>
            <a:r>
              <a:t>The Analytics Dashboard gives managers actionable insight into branch performance — without needing a separate BI tool.</a:t>
            </a:r>
          </a:p>
          <a:p/>
          <a:p>
            <a:r>
              <a:t>Smart Notifications uses Kafka and WebSocket to push real-time status updates to customers and staff — no polling, no delays.</a:t>
            </a:r>
          </a:p>
          <a:p/>
          <a:p>
            <a:r>
              <a:t>Role-Based Security ensures customers can only see what they're allowed to, branch managers see their branch data, and head-office admins have full access.</a:t>
            </a:r>
          </a:p>
          <a:p/>
          <a:p>
            <a:r>
              <a:t>And it's multi-branch by design — not bolted on afterwards."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(90 sec):</a:t>
            </a:r>
          </a:p>
          <a:p>
            <a:r>
              <a:t>"Here's the full system architecture.</a:t>
            </a:r>
          </a:p>
          <a:p/>
          <a:p>
            <a:r>
              <a:t>Every external request enters through the API Gateway on port 8080, which validates the JWT token and routes to the appropriate downstream service. No service is exposed directly to the internet.</a:t>
            </a:r>
          </a:p>
          <a:p/>
          <a:p>
            <a:r>
              <a:t>Seven backend services each own their data — User, Menu, Order, Kitchen, Branch, Notifications, and Analytics — all running on separate MySQL databases. This is true data isolation; no cross-database joins.</a:t>
            </a:r>
          </a:p>
          <a:p/>
          <a:p>
            <a:r>
              <a:t>The horizontal orange band is Apache Kafka. Five topics carry events asynchronously between services: order creation, status updates, kitchen updates, email notifications, and analytics events. This decoupling means a notification service outage cannot affect order processing.</a:t>
            </a:r>
          </a:p>
          <a:p/>
          <a:p>
            <a:r>
              <a:t>Underneath: Redis for distributed caching and session blacklisting; Eureka for service discovery; Config Server for centralised configuration; AWS S3 for menu images; and Google Gemini AI for food recommendations."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(90 sec):</a:t>
            </a:r>
          </a:p>
          <a:p>
            <a:r>
              <a:t>"The AI Food Assistant is one of FoodChain's most innovative features.</a:t>
            </a:r>
          </a:p>
          <a:p/>
          <a:p>
            <a:r>
              <a:t>A customer opens a 7-step wizard inside the app. They answer questions about their hunger level, mood, meal type, how they want to receive their order, budget, dietary preferences, and any extra notes. The wizard is intelligent — it skips steps if not relevant and shows a clarification dialogue if the AI needs more information.</a:t>
            </a:r>
          </a:p>
          <a:p/>
          <a:p>
            <a:r>
              <a:t>The request is sent to our Menu Service, which fetches all active menu items for that branch — up to 40 items — and constructs a structured prompt for Google Gemini 2.5 Flash.</a:t>
            </a:r>
          </a:p>
          <a:p/>
          <a:p>
            <a:r>
              <a:t>Gemini returns a structured JSON response with suggested items, a reason for each, and optional add-on ideas. Critically, we only accept menu item IDs that actually exist in our database — the AI cannot hallucinate items that aren't on the menu.</a:t>
            </a:r>
          </a:p>
          <a:p/>
          <a:p>
            <a:r>
              <a:t>The estimated total cost is calculated per person, giving customers a clear price expectation before they order."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(75 sec):</a:t>
            </a:r>
          </a:p>
          <a:p>
            <a:r>
              <a:t>"The Kitchen Display is the operational heart of FoodChain.</a:t>
            </a:r>
          </a:p>
          <a:p/>
          <a:p>
            <a:r>
              <a:t>When a customer places an order, an event is published to the Kafka 'order.created' topic. The Kitchen Event Consumer picks this up and adds the order to a Redis priority queue scoped to the branch.</a:t>
            </a:r>
          </a:p>
          <a:p/>
          <a:p>
            <a:r>
              <a:t>Kitchen staff see their orders on a live dashboard. There's no polling — updates are pushed via WebSocket the moment state changes.</a:t>
            </a:r>
          </a:p>
          <a:p/>
          <a:p>
            <a:r>
              <a:t>The SLA Monitoring Engine runs on a 60-second schedule. It scans the Redis queue, calculates how long each order has been waiting, and flags any that are approaching their SLA limit. Staff see colour-coded urgency indicators — green, amber, red.</a:t>
            </a:r>
          </a:p>
          <a:p/>
          <a:p>
            <a:r>
              <a:t>When the kitchen marks an order ready, a 'kitchen.order.updated' event fires, which triggers both a status update on the order and a notification to the customer.</a:t>
            </a:r>
          </a:p>
          <a:p/>
          <a:p>
            <a:r>
              <a:t>This closed loop eliminates the 'lost ticket' problem entirely."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(90 sec):</a:t>
            </a:r>
          </a:p>
          <a:p>
            <a:r>
              <a:t>"This slide shows the event-driven backbone of FoodChain.</a:t>
            </a:r>
          </a:p>
          <a:p/>
          <a:p>
            <a:r>
              <a:t>Three services produce events: the Order Service, User Service, and Kitchen Service. Three services consume events: Kitchen, Notifications, and Analytics. Kafka acts as the durable event bus in the middle.</a:t>
            </a:r>
          </a:p>
          <a:p/>
          <a:p>
            <a:r>
              <a:t>The critical engineering detail here is the Outbox Pattern in the Order Service. Rather than publishing directly to Kafka — which risks losing events if the broker is temporarily unavailable — we write the order and an OutboxEvent record in a single database transaction. A background relay process then reads unpublished events and delivers them to Kafka. This gives us at-least-once delivery guarantees without distributed transactions.</a:t>
            </a:r>
          </a:p>
          <a:p/>
          <a:p>
            <a:r>
              <a:t>On the consumer side, the Notification Service has its own retry mechanism. If an email fails to send — network blip, Brevo rate limit, whatever — the failure is stored in the database with a FAILED status, and a scheduler retries up to three times before marking it as permanently failed for the audit log.</a:t>
            </a:r>
          </a:p>
          <a:p/>
          <a:p>
            <a:r>
              <a:t>This design means the system is resilient to partial failures at every layer."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(75 sec):</a:t>
            </a:r>
          </a:p>
          <a:p>
            <a:r>
              <a:t>"Security is layered across the entire stack.</a:t>
            </a:r>
          </a:p>
          <a:p/>
          <a:p>
            <a:r>
              <a:t>Every request first hits the API Gateway's JWT filter, which validates the token's signature and expiry, checks the Redis blacklist to confirm the token hasn't been revoked by a logout, and then injects X-User-Id and X-User-Role headers into the forwarded request.</a:t>
            </a:r>
          </a:p>
          <a:p/>
          <a:p>
            <a:r>
              <a:t>Downstream services trust these headers rather than re-validating the JWT themselves — a clean separation of concerns.</a:t>
            </a:r>
          </a:p>
          <a:p/>
          <a:p>
            <a:r>
              <a:t>Inside each service, Spring Security's @PreAuthorize annotations enforce method-level RBAC. A Branch Manager cannot access another branch's data; a Kitchen Staff member cannot modify menus.</a:t>
            </a:r>
          </a:p>
          <a:p/>
          <a:p>
            <a:r>
              <a:t>We support both traditional email/password authentication and Google OAuth2 social login, giving customers a frictionless sign-in experience.</a:t>
            </a:r>
          </a:p>
          <a:p/>
          <a:p>
            <a:r>
              <a:t>Finally, our test suite uses Spring Security Test and H2 in-memory databases, so we can write full integration tests that assert security behaviour without touching production infrastructure."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(60 sec):</a:t>
            </a:r>
          </a:p>
          <a:p>
            <a:r>
              <a:t>"The Analytics Service gives managers real business intelligence without needing a separate BI tool.</a:t>
            </a:r>
          </a:p>
          <a:p/>
          <a:p>
            <a:r>
              <a:t>We store four entities: OrderAnalytics for order-level metrics, OrderItemAnalytics for individual item performance, BranchDailySummary for daily aggregates, and Report for saved snapshots.</a:t>
            </a:r>
          </a:p>
          <a:p/>
          <a:p>
            <a:r>
              <a:t>Access is automatically filtered by role. A Branch Manager only sees their branch's data — this is enforced at the service layer, not just the UI. Head Office Admins see across all branches.</a:t>
            </a:r>
          </a:p>
          <a:p/>
          <a:p>
            <a:r>
              <a:t>Redis caching on all read endpoints means repeated dashboard loads are nearly instant. Cache is invalidated on writes, so data is always fresh within the 5-minute TTL.</a:t>
            </a:r>
          </a:p>
          <a:p/>
          <a:p>
            <a:r>
              <a:t>The AnalyticsEventConsumer listens to the 'analytics.order.completed' Kafka topic and persists all metrics asynchronously, so analytics processing never affects the order flow."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(60 sec):</a:t>
            </a:r>
          </a:p>
          <a:p>
            <a:r>
              <a:t>"Deployment is Docker-first from day one.</a:t>
            </a:r>
          </a:p>
          <a:p/>
          <a:p>
            <a:r>
              <a:t>A single docker-compose.yml spins up the entire stack — all eight services, MySQL databases, Redis, Kafka with Zookeeper, and the Eureka and Config servers — with one command. Environment-specific configuration is managed through .env files, with separate profiles for local development and production.</a:t>
            </a:r>
          </a:p>
          <a:p/>
          <a:p>
            <a:r>
              <a:t>Spring Cloud handles service discovery via Eureka, so services find each other by name, not hardcoded IPs. The Config Server centralises all application properties, meaning a configuration change doesn't require a rebuild.</a:t>
            </a:r>
          </a:p>
          <a:p/>
          <a:p>
            <a:r>
              <a:t>Every service exposes Spring Boot Actuator health endpoints and Swagger UI documentation. This makes the system immediately inspectable and integration-testable without custom tooling.</a:t>
            </a:r>
          </a:p>
          <a:p/>
          <a:p>
            <a:r>
              <a:t>For AWS deployment, the Config Server properties reference RDS endpoints, S3 bucket names, and ElastiCache addresses via environment variables — so the application code doesn't change between environments."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(60 sec):</a:t>
            </a:r>
          </a:p>
          <a:p>
            <a:r>
              <a:t>"Code quality is built in, not bolted on.</a:t>
            </a:r>
          </a:p>
          <a:p/>
          <a:p>
            <a:r>
              <a:t>On the design side: every class has a single responsibility, DTOs are Java records for immutability, and the AI client sits behind a FoodSuggestionAiClient interface — so we could swap Gemini for GPT-4 without touching the service layer.</a:t>
            </a:r>
          </a:p>
          <a:p/>
          <a:p>
            <a:r>
              <a:t>On the testing side, we use a layered approach. Unit tests use Mockito to test service logic in isolation without starting Spring. Controller tests use @WebMvcTest and MockMvc to test the full HTTP stack including serialisation and security annotations. Security tests explicitly assert 401 and 403 responses on every protected endpoint. Integration tests use H2 for the repository layer.</a:t>
            </a:r>
          </a:p>
          <a:p/>
          <a:p>
            <a:r>
              <a:t>This means our test suite is fast enough to run on every commit and comprehensive enough to catch regressions before they reach production." </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(60 sec):</a:t>
            </a:r>
          </a:p>
          <a:p>
            <a:r>
              <a:t>"Let me close with impact.</a:t>
            </a:r>
          </a:p>
          <a:p/>
          <a:p>
            <a:r>
              <a:t>Most restaurant POS systems are glorified order forms. FoodChain is an operating platform.</a:t>
            </a:r>
          </a:p>
          <a:p/>
          <a:p>
            <a:r>
              <a:t>The AI integration isn't a gimmick — it solves the real problem of menu paralysis, especially for new customers or large group orders.</a:t>
            </a:r>
          </a:p>
          <a:p/>
          <a:p>
            <a:r>
              <a:t>The zero-lost-events guarantee means a kitchen can trust every order will arrive, every time.</a:t>
            </a:r>
          </a:p>
          <a:p/>
          <a:p>
            <a:r>
              <a:t>The analytics layer gives managers the intelligence they need to make better decisions — menu pricing, staffing, branch hours.</a:t>
            </a:r>
          </a:p>
          <a:p/>
          <a:p>
            <a:r>
              <a:t>And the architecture is genuinely designed for scale. Adding a new branch is a database record, not a deployment." </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NOTES:</a:t>
            </a:r>
          </a:p>
          <a:p>
            <a:r>
              <a:t>• Pre-warm: have Docker stack running, all services green on Eureka</a:t>
            </a:r>
          </a:p>
          <a:p>
            <a:r>
              <a:t>• Have browser open: customer tab, kitchen tab (separate incognito), branch manager tab (third window)</a:t>
            </a:r>
          </a:p>
          <a:p>
            <a:r>
              <a:t>• Have server logs streaming in a terminal visible on screen</a:t>
            </a:r>
          </a:p>
          <a:p>
            <a:r>
              <a:t>• Have DevTools Network tab ready to show JWT token</a:t>
            </a:r>
          </a:p>
          <a:p>
            <a:r>
              <a:t>• If Gemini is slow: explain the 15-second timeout and that it's making a real AI API call</a:t>
            </a:r>
          </a:p>
          <a:p>
            <a:r>
              <a:t>• Fallback: if AI fails, explain the feature and show the code instead</a:t>
            </a:r>
          </a:p>
          <a:p>
            <a:r>
              <a:t>• Keep demo under 5 minutes — tight and confident is better than exhaustive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COACHING:</a:t>
            </a:r>
          </a:p>
          <a:p>
            <a:r>
              <a:t>• Pause briefly before answering — shows confidence, not nervousness</a:t>
            </a:r>
          </a:p>
          <a:p>
            <a:r>
              <a:t>• Start with the high-level answer, then add depth if probed</a:t>
            </a:r>
          </a:p>
          <a:p>
            <a:r>
              <a:t>• If you don't know: "That's a great edge case — in production I would handle it by X, and I'd want to test Y"</a:t>
            </a:r>
          </a:p>
          <a:p>
            <a:r>
              <a:t>• If they push on a weakness: acknowledge it honestly, then explain the tradeoff</a:t>
            </a:r>
          </a:p>
          <a:p>
            <a:r>
              <a:t>• Redirect long tangents: "I could talk about that all day — want me to walk through the code after?"</a:t>
            </a:r>
          </a:p>
          <a:p>
            <a:r>
              <a:t>• End every answer with a brief confirmatory close: "Does that answer your question?" </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STATEMENT (30 sec):</a:t>
            </a:r>
          </a:p>
          <a:p>
            <a:r>
              <a:t>"FoodChain is not a proof-of-concept. Every pattern you've seen today — the Outbox, the Kafka event bus, the JWT security chain, the AI integration, the Redis SLA monitor — is production-grade code, ready to deploy.</a:t>
            </a:r>
          </a:p>
          <a:p/>
          <a:p>
            <a:r>
              <a:t>I built this system because I believe restaurant technology deserves the same engineering rigour as fintech or logistics.</a:t>
            </a:r>
          </a:p>
          <a:p/>
          <a:p>
            <a:r>
              <a:t>Thank you. I'm happy to take any questions, dig into the code, or walk through any part of the architecture in more detail."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your private reference slide. Review it before the presentation to confirm every rubric criterion is explicitly addressed. You can hide this slide before presenting if preferred.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C1A0E"/>
        </a:solidFill>
        <a:effectLst/>
      </p:bgPr>
    </p:bg>
    <p:spTree>
      <p:nvGrpSpPr>
        <p:cNvPr id="1" name=""/>
        <p:cNvGrpSpPr/>
        <p:nvPr/>
      </p:nvGrpSpPr>
      <p:grpSpPr/>
      <p:sp>
        <p:nvSpPr>
          <p:cNvPr id="2" name="Rectangle 1"/>
          <p:cNvSpPr/>
          <p:nvPr/>
        </p:nvSpPr>
        <p:spPr>
          <a:xfrm>
            <a:off x="0" y="0"/>
            <a:ext cx="12188952" cy="16459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93408"/>
            <a:ext cx="12188952" cy="16459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7498079" cy="6528816"/>
          </a:xfrm>
          <a:prstGeom prst="rect">
            <a:avLst/>
          </a:prstGeom>
          <a:solidFill>
            <a:srgbClr val="FDF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731520"/>
            <a:ext cx="1005840" cy="1005840"/>
          </a:xfrm>
          <a:prstGeom prst="rect">
            <a:avLst/>
          </a:prstGeom>
          <a:solidFill>
            <a:srgbClr val="F5A623"/>
          </a:solidFill>
          <a:ln w="25400">
            <a:solidFill>
              <a:srgbClr val="2C1A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777240"/>
            <a:ext cx="914400" cy="914400"/>
          </a:xfrm>
          <a:prstGeom prst="rect">
            <a:avLst/>
          </a:prstGeom>
          <a:noFill/>
        </p:spPr>
        <p:txBody>
          <a:bodyPr wrap="square">
            <a:spAutoFit/>
          </a:bodyPr>
          <a:lstStyle/>
          <a:p>
            <a:pPr algn="ctr"/>
            <a:r>
              <a:rPr sz="3600" b="0" i="0"/>
              <a:t>🍔</a:t>
            </a:r>
          </a:p>
        </p:txBody>
      </p:sp>
      <p:sp>
        <p:nvSpPr>
          <p:cNvPr id="7" name="TextBox 6"/>
          <p:cNvSpPr txBox="1"/>
          <p:nvPr/>
        </p:nvSpPr>
        <p:spPr>
          <a:xfrm>
            <a:off x="411480" y="1828800"/>
            <a:ext cx="6583680" cy="1097280"/>
          </a:xfrm>
          <a:prstGeom prst="rect">
            <a:avLst/>
          </a:prstGeom>
          <a:noFill/>
        </p:spPr>
        <p:txBody>
          <a:bodyPr wrap="square">
            <a:spAutoFit/>
          </a:bodyPr>
          <a:lstStyle/>
          <a:p>
            <a:pPr algn="l"/>
            <a:r>
              <a:rPr sz="5600" b="1" i="0">
                <a:solidFill>
                  <a:srgbClr val="2C1A0E"/>
                </a:solidFill>
              </a:rPr>
              <a:t>FoodChain</a:t>
            </a:r>
          </a:p>
        </p:txBody>
      </p:sp>
      <p:sp>
        <p:nvSpPr>
          <p:cNvPr id="8" name="TextBox 7"/>
          <p:cNvSpPr txBox="1"/>
          <p:nvPr/>
        </p:nvSpPr>
        <p:spPr>
          <a:xfrm>
            <a:off x="411480" y="2880360"/>
            <a:ext cx="6583680" cy="548640"/>
          </a:xfrm>
          <a:prstGeom prst="rect">
            <a:avLst/>
          </a:prstGeom>
          <a:noFill/>
        </p:spPr>
        <p:txBody>
          <a:bodyPr wrap="square">
            <a:spAutoFit/>
          </a:bodyPr>
          <a:lstStyle/>
          <a:p>
            <a:pPr algn="l"/>
            <a:r>
              <a:rPr sz="2000" b="0" i="1">
                <a:solidFill>
                  <a:srgbClr val="3D3D3D"/>
                </a:solidFill>
              </a:rPr>
              <a:t>Enterprise Restaurant Management Platform</a:t>
            </a:r>
          </a:p>
        </p:txBody>
      </p:sp>
      <p:sp>
        <p:nvSpPr>
          <p:cNvPr id="9" name="Rectangle 8"/>
          <p:cNvSpPr/>
          <p:nvPr/>
        </p:nvSpPr>
        <p:spPr>
          <a:xfrm>
            <a:off x="411480" y="3474720"/>
            <a:ext cx="4114800"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3657600"/>
            <a:ext cx="6583680" cy="457200"/>
          </a:xfrm>
          <a:prstGeom prst="rect">
            <a:avLst/>
          </a:prstGeom>
          <a:noFill/>
        </p:spPr>
        <p:txBody>
          <a:bodyPr wrap="square">
            <a:spAutoFit/>
          </a:bodyPr>
          <a:lstStyle/>
          <a:p>
            <a:pPr algn="l"/>
            <a:r>
              <a:rPr sz="1300" b="0" i="0">
                <a:solidFill>
                  <a:srgbClr val="3D3D3D"/>
                </a:solidFill>
              </a:rPr>
              <a:t>Full-Stack Microservices  ·  AI-Powered  ·  Event-Driven  ·  Cloud-Ready</a:t>
            </a:r>
          </a:p>
        </p:txBody>
      </p:sp>
      <p:sp>
        <p:nvSpPr>
          <p:cNvPr id="11" name="TextBox 10"/>
          <p:cNvSpPr txBox="1"/>
          <p:nvPr/>
        </p:nvSpPr>
        <p:spPr>
          <a:xfrm>
            <a:off x="411480" y="4114800"/>
            <a:ext cx="6583680" cy="457200"/>
          </a:xfrm>
          <a:prstGeom prst="rect">
            <a:avLst/>
          </a:prstGeom>
          <a:noFill/>
        </p:spPr>
        <p:txBody>
          <a:bodyPr wrap="square">
            <a:spAutoFit/>
          </a:bodyPr>
          <a:lstStyle/>
          <a:p>
            <a:pPr algn="l"/>
            <a:r>
              <a:rPr sz="1200" b="0" i="0">
                <a:solidFill>
                  <a:srgbClr val="B0A89E"/>
                </a:solidFill>
              </a:rPr>
              <a:t>Spring Boot 3  ·  Kafka  ·  Redis  ·  MySQL  ·  Docker  ·  Gemini AI</a:t>
            </a:r>
          </a:p>
        </p:txBody>
      </p:sp>
      <p:sp>
        <p:nvSpPr>
          <p:cNvPr id="12" name="TextBox 11"/>
          <p:cNvSpPr txBox="1"/>
          <p:nvPr/>
        </p:nvSpPr>
        <p:spPr>
          <a:xfrm>
            <a:off x="411480" y="5120640"/>
            <a:ext cx="4572000" cy="365760"/>
          </a:xfrm>
          <a:prstGeom prst="rect">
            <a:avLst/>
          </a:prstGeom>
          <a:noFill/>
        </p:spPr>
        <p:txBody>
          <a:bodyPr wrap="square">
            <a:spAutoFit/>
          </a:bodyPr>
          <a:lstStyle/>
          <a:p>
            <a:pPr algn="l"/>
            <a:r>
              <a:rPr sz="1300" b="1" i="0">
                <a:solidFill>
                  <a:srgbClr val="2C1A0E"/>
                </a:solidFill>
              </a:rPr>
              <a:t>Presented by Ubaydah</a:t>
            </a:r>
          </a:p>
        </p:txBody>
      </p:sp>
      <p:sp>
        <p:nvSpPr>
          <p:cNvPr id="13" name="TextBox 12"/>
          <p:cNvSpPr txBox="1"/>
          <p:nvPr/>
        </p:nvSpPr>
        <p:spPr>
          <a:xfrm>
            <a:off x="411480" y="5486400"/>
            <a:ext cx="2743200" cy="320040"/>
          </a:xfrm>
          <a:prstGeom prst="rect">
            <a:avLst/>
          </a:prstGeom>
          <a:noFill/>
        </p:spPr>
        <p:txBody>
          <a:bodyPr wrap="square">
            <a:spAutoFit/>
          </a:bodyPr>
          <a:lstStyle/>
          <a:p>
            <a:pPr algn="l"/>
            <a:r>
              <a:rPr sz="1200" b="0" i="0">
                <a:solidFill>
                  <a:srgbClr val="B0A89E"/>
                </a:solidFill>
              </a:rPr>
              <a:t>May 2026</a:t>
            </a:r>
          </a:p>
        </p:txBody>
      </p:sp>
      <p:sp>
        <p:nvSpPr>
          <p:cNvPr id="14" name="TextBox 13"/>
          <p:cNvSpPr txBox="1"/>
          <p:nvPr/>
        </p:nvSpPr>
        <p:spPr>
          <a:xfrm>
            <a:off x="7772400" y="1097280"/>
            <a:ext cx="3931920" cy="457200"/>
          </a:xfrm>
          <a:prstGeom prst="rect">
            <a:avLst/>
          </a:prstGeom>
          <a:noFill/>
        </p:spPr>
        <p:txBody>
          <a:bodyPr wrap="square">
            <a:spAutoFit/>
          </a:bodyPr>
          <a:lstStyle/>
          <a:p>
            <a:pPr algn="ctr"/>
            <a:r>
              <a:rPr sz="1600" b="1" i="0">
                <a:solidFill>
                  <a:srgbClr val="F5A623"/>
                </a:solidFill>
              </a:rPr>
              <a:t>By the Numbers</a:t>
            </a:r>
          </a:p>
        </p:txBody>
      </p:sp>
      <p:sp>
        <p:nvSpPr>
          <p:cNvPr id="15" name="TextBox 14"/>
          <p:cNvSpPr txBox="1"/>
          <p:nvPr/>
        </p:nvSpPr>
        <p:spPr>
          <a:xfrm>
            <a:off x="7680960" y="1645920"/>
            <a:ext cx="4023360" cy="384048"/>
          </a:xfrm>
          <a:prstGeom prst="rect">
            <a:avLst/>
          </a:prstGeom>
          <a:noFill/>
        </p:spPr>
        <p:txBody>
          <a:bodyPr wrap="square">
            <a:spAutoFit/>
          </a:bodyPr>
          <a:lstStyle/>
          <a:p>
            <a:pPr algn="ctr"/>
            <a:r>
              <a:rPr sz="2200" b="1" i="0">
                <a:solidFill>
                  <a:srgbClr val="F5A623"/>
                </a:solidFill>
              </a:rPr>
              <a:t>8+</a:t>
            </a:r>
          </a:p>
        </p:txBody>
      </p:sp>
      <p:sp>
        <p:nvSpPr>
          <p:cNvPr id="16" name="TextBox 15"/>
          <p:cNvSpPr txBox="1"/>
          <p:nvPr/>
        </p:nvSpPr>
        <p:spPr>
          <a:xfrm>
            <a:off x="7680960" y="1993392"/>
            <a:ext cx="4023360" cy="292608"/>
          </a:xfrm>
          <a:prstGeom prst="rect">
            <a:avLst/>
          </a:prstGeom>
          <a:noFill/>
        </p:spPr>
        <p:txBody>
          <a:bodyPr wrap="square">
            <a:spAutoFit/>
          </a:bodyPr>
          <a:lstStyle/>
          <a:p>
            <a:pPr algn="ctr"/>
            <a:r>
              <a:rPr sz="1100" b="0" i="0">
                <a:solidFill>
                  <a:srgbClr val="FFFBF5"/>
                </a:solidFill>
              </a:rPr>
              <a:t>Microservices</a:t>
            </a:r>
          </a:p>
        </p:txBody>
      </p:sp>
      <p:sp>
        <p:nvSpPr>
          <p:cNvPr id="17" name="TextBox 16"/>
          <p:cNvSpPr txBox="1"/>
          <p:nvPr/>
        </p:nvSpPr>
        <p:spPr>
          <a:xfrm>
            <a:off x="7680960" y="2395728"/>
            <a:ext cx="4023360" cy="384048"/>
          </a:xfrm>
          <a:prstGeom prst="rect">
            <a:avLst/>
          </a:prstGeom>
          <a:noFill/>
        </p:spPr>
        <p:txBody>
          <a:bodyPr wrap="square">
            <a:spAutoFit/>
          </a:bodyPr>
          <a:lstStyle/>
          <a:p>
            <a:pPr algn="ctr"/>
            <a:r>
              <a:rPr sz="2200" b="1" i="0">
                <a:solidFill>
                  <a:srgbClr val="F5A623"/>
                </a:solidFill>
              </a:rPr>
              <a:t>5</a:t>
            </a:r>
          </a:p>
        </p:txBody>
      </p:sp>
      <p:sp>
        <p:nvSpPr>
          <p:cNvPr id="18" name="TextBox 17"/>
          <p:cNvSpPr txBox="1"/>
          <p:nvPr/>
        </p:nvSpPr>
        <p:spPr>
          <a:xfrm>
            <a:off x="7680960" y="2743200"/>
            <a:ext cx="4023360" cy="292608"/>
          </a:xfrm>
          <a:prstGeom prst="rect">
            <a:avLst/>
          </a:prstGeom>
          <a:noFill/>
        </p:spPr>
        <p:txBody>
          <a:bodyPr wrap="square">
            <a:spAutoFit/>
          </a:bodyPr>
          <a:lstStyle/>
          <a:p>
            <a:pPr algn="ctr"/>
            <a:r>
              <a:rPr sz="1100" b="0" i="0">
                <a:solidFill>
                  <a:srgbClr val="FFFBF5"/>
                </a:solidFill>
              </a:rPr>
              <a:t>Kafka Topics</a:t>
            </a:r>
          </a:p>
        </p:txBody>
      </p:sp>
      <p:sp>
        <p:nvSpPr>
          <p:cNvPr id="19" name="TextBox 18"/>
          <p:cNvSpPr txBox="1"/>
          <p:nvPr/>
        </p:nvSpPr>
        <p:spPr>
          <a:xfrm>
            <a:off x="7680960" y="3145536"/>
            <a:ext cx="4023360" cy="384048"/>
          </a:xfrm>
          <a:prstGeom prst="rect">
            <a:avLst/>
          </a:prstGeom>
          <a:noFill/>
        </p:spPr>
        <p:txBody>
          <a:bodyPr wrap="square">
            <a:spAutoFit/>
          </a:bodyPr>
          <a:lstStyle/>
          <a:p>
            <a:pPr algn="ctr"/>
            <a:r>
              <a:rPr sz="2200" b="1" i="0">
                <a:solidFill>
                  <a:srgbClr val="F5A623"/>
                </a:solidFill>
              </a:rPr>
              <a:t>3</a:t>
            </a:r>
          </a:p>
        </p:txBody>
      </p:sp>
      <p:sp>
        <p:nvSpPr>
          <p:cNvPr id="20" name="TextBox 19"/>
          <p:cNvSpPr txBox="1"/>
          <p:nvPr/>
        </p:nvSpPr>
        <p:spPr>
          <a:xfrm>
            <a:off x="7680960" y="3493008"/>
            <a:ext cx="4023360" cy="292608"/>
          </a:xfrm>
          <a:prstGeom prst="rect">
            <a:avLst/>
          </a:prstGeom>
          <a:noFill/>
        </p:spPr>
        <p:txBody>
          <a:bodyPr wrap="square">
            <a:spAutoFit/>
          </a:bodyPr>
          <a:lstStyle/>
          <a:p>
            <a:pPr algn="ctr"/>
            <a:r>
              <a:rPr sz="1100" b="0" i="0">
                <a:solidFill>
                  <a:srgbClr val="FFFBF5"/>
                </a:solidFill>
              </a:rPr>
              <a:t>User Roles</a:t>
            </a:r>
          </a:p>
        </p:txBody>
      </p:sp>
      <p:sp>
        <p:nvSpPr>
          <p:cNvPr id="21" name="TextBox 20"/>
          <p:cNvSpPr txBox="1"/>
          <p:nvPr/>
        </p:nvSpPr>
        <p:spPr>
          <a:xfrm>
            <a:off x="7680960" y="3895344"/>
            <a:ext cx="4023360" cy="384048"/>
          </a:xfrm>
          <a:prstGeom prst="rect">
            <a:avLst/>
          </a:prstGeom>
          <a:noFill/>
        </p:spPr>
        <p:txBody>
          <a:bodyPr wrap="square">
            <a:spAutoFit/>
          </a:bodyPr>
          <a:lstStyle/>
          <a:p>
            <a:pPr algn="ctr"/>
            <a:r>
              <a:rPr sz="2200" b="1" i="0">
                <a:solidFill>
                  <a:srgbClr val="F5A623"/>
                </a:solidFill>
              </a:rPr>
              <a:t>AI</a:t>
            </a:r>
          </a:p>
        </p:txBody>
      </p:sp>
      <p:sp>
        <p:nvSpPr>
          <p:cNvPr id="22" name="TextBox 21"/>
          <p:cNvSpPr txBox="1"/>
          <p:nvPr/>
        </p:nvSpPr>
        <p:spPr>
          <a:xfrm>
            <a:off x="7680960" y="4242816"/>
            <a:ext cx="4023360" cy="292608"/>
          </a:xfrm>
          <a:prstGeom prst="rect">
            <a:avLst/>
          </a:prstGeom>
          <a:noFill/>
        </p:spPr>
        <p:txBody>
          <a:bodyPr wrap="square">
            <a:spAutoFit/>
          </a:bodyPr>
          <a:lstStyle/>
          <a:p>
            <a:pPr algn="ctr"/>
            <a:r>
              <a:rPr sz="1100" b="0" i="0">
                <a:solidFill>
                  <a:srgbClr val="FFFBF5"/>
                </a:solidFill>
              </a:rPr>
              <a:t>Food Suggestions</a:t>
            </a:r>
          </a:p>
        </p:txBody>
      </p:sp>
      <p:sp>
        <p:nvSpPr>
          <p:cNvPr id="23" name="TextBox 22"/>
          <p:cNvSpPr txBox="1"/>
          <p:nvPr/>
        </p:nvSpPr>
        <p:spPr>
          <a:xfrm>
            <a:off x="7680960" y="4645152"/>
            <a:ext cx="4023360" cy="384048"/>
          </a:xfrm>
          <a:prstGeom prst="rect">
            <a:avLst/>
          </a:prstGeom>
          <a:noFill/>
        </p:spPr>
        <p:txBody>
          <a:bodyPr wrap="square">
            <a:spAutoFit/>
          </a:bodyPr>
          <a:lstStyle/>
          <a:p>
            <a:pPr algn="ctr"/>
            <a:r>
              <a:rPr sz="2200" b="1" i="0">
                <a:solidFill>
                  <a:srgbClr val="F5A623"/>
                </a:solidFill>
              </a:rPr>
              <a:t>Real-time</a:t>
            </a:r>
          </a:p>
        </p:txBody>
      </p:sp>
      <p:sp>
        <p:nvSpPr>
          <p:cNvPr id="24" name="TextBox 23"/>
          <p:cNvSpPr txBox="1"/>
          <p:nvPr/>
        </p:nvSpPr>
        <p:spPr>
          <a:xfrm>
            <a:off x="7680960" y="4992624"/>
            <a:ext cx="4023360" cy="292608"/>
          </a:xfrm>
          <a:prstGeom prst="rect">
            <a:avLst/>
          </a:prstGeom>
          <a:noFill/>
        </p:spPr>
        <p:txBody>
          <a:bodyPr wrap="square">
            <a:spAutoFit/>
          </a:bodyPr>
          <a:lstStyle/>
          <a:p>
            <a:pPr algn="ctr"/>
            <a:r>
              <a:rPr sz="1100" b="0" i="0">
                <a:solidFill>
                  <a:srgbClr val="FFFBF5"/>
                </a:solidFill>
              </a:rPr>
              <a:t>Notifications</a:t>
            </a:r>
          </a:p>
        </p:txBody>
      </p:sp>
      <p:sp>
        <p:nvSpPr>
          <p:cNvPr id="25" name="TextBox 24"/>
          <p:cNvSpPr txBox="1"/>
          <p:nvPr/>
        </p:nvSpPr>
        <p:spPr>
          <a:xfrm>
            <a:off x="7680960" y="5394960"/>
            <a:ext cx="4023360" cy="384048"/>
          </a:xfrm>
          <a:prstGeom prst="rect">
            <a:avLst/>
          </a:prstGeom>
          <a:noFill/>
        </p:spPr>
        <p:txBody>
          <a:bodyPr wrap="square">
            <a:spAutoFit/>
          </a:bodyPr>
          <a:lstStyle/>
          <a:p>
            <a:pPr algn="ctr"/>
            <a:r>
              <a:rPr sz="2200" b="1" i="0">
                <a:solidFill>
                  <a:srgbClr val="F5A623"/>
                </a:solidFill>
              </a:rPr>
              <a:t>Multi-branch</a:t>
            </a:r>
          </a:p>
        </p:txBody>
      </p:sp>
      <p:sp>
        <p:nvSpPr>
          <p:cNvPr id="26" name="TextBox 25"/>
          <p:cNvSpPr txBox="1"/>
          <p:nvPr/>
        </p:nvSpPr>
        <p:spPr>
          <a:xfrm>
            <a:off x="7680960" y="5742432"/>
            <a:ext cx="4023360" cy="292608"/>
          </a:xfrm>
          <a:prstGeom prst="rect">
            <a:avLst/>
          </a:prstGeom>
          <a:noFill/>
        </p:spPr>
        <p:txBody>
          <a:bodyPr wrap="square">
            <a:spAutoFit/>
          </a:bodyPr>
          <a:lstStyle/>
          <a:p>
            <a:pPr algn="ctr"/>
            <a:r>
              <a:rPr sz="1100" b="0" i="0">
                <a:solidFill>
                  <a:srgbClr val="FFFBF5"/>
                </a:solidFill>
              </a:rPr>
              <a:t>Analytics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DF6EC"/>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144000" cy="640080"/>
          </a:xfrm>
          <a:prstGeom prst="rect">
            <a:avLst/>
          </a:prstGeom>
          <a:noFill/>
        </p:spPr>
        <p:txBody>
          <a:bodyPr wrap="square">
            <a:spAutoFit/>
          </a:bodyPr>
          <a:lstStyle/>
          <a:p>
            <a:pPr algn="l"/>
            <a:r>
              <a:rPr sz="2800" b="1" i="0">
                <a:solidFill>
                  <a:srgbClr val="FFFBF5"/>
                </a:solidFill>
              </a:rPr>
              <a:t>The Problem</a:t>
            </a:r>
          </a:p>
        </p:txBody>
      </p:sp>
      <p:sp>
        <p:nvSpPr>
          <p:cNvPr id="4" name="TextBox 3"/>
          <p:cNvSpPr txBox="1"/>
          <p:nvPr/>
        </p:nvSpPr>
        <p:spPr>
          <a:xfrm>
            <a:off x="457200" y="749808"/>
            <a:ext cx="10058400" cy="411480"/>
          </a:xfrm>
          <a:prstGeom prst="rect">
            <a:avLst/>
          </a:prstGeom>
          <a:noFill/>
        </p:spPr>
        <p:txBody>
          <a:bodyPr wrap="square">
            <a:spAutoFit/>
          </a:bodyPr>
          <a:lstStyle/>
          <a:p>
            <a:pPr algn="l"/>
            <a:r>
              <a:rPr sz="1400" b="0" i="1">
                <a:solidFill>
                  <a:srgbClr val="F5A623"/>
                </a:solidFill>
              </a:rPr>
              <a:t>What we set out to solve</a:t>
            </a:r>
          </a:p>
        </p:txBody>
      </p:sp>
      <p:sp>
        <p:nvSpPr>
          <p:cNvPr id="5" name="Rectangle 4"/>
          <p:cNvSpPr/>
          <p:nvPr/>
        </p:nvSpPr>
        <p:spPr>
          <a:xfrm>
            <a:off x="0" y="12344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463040"/>
            <a:ext cx="3611880" cy="4206240"/>
          </a:xfrm>
          <a:prstGeom prst="rect">
            <a:avLst/>
          </a:prstGeom>
          <a:solidFill>
            <a:srgbClr val="FFFBF5"/>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600200"/>
            <a:ext cx="3383280" cy="685800"/>
          </a:xfrm>
          <a:prstGeom prst="rect">
            <a:avLst/>
          </a:prstGeom>
          <a:noFill/>
        </p:spPr>
        <p:txBody>
          <a:bodyPr wrap="square">
            <a:spAutoFit/>
          </a:bodyPr>
          <a:lstStyle/>
          <a:p>
            <a:pPr algn="ctr"/>
            <a:r>
              <a:rPr sz="3400" b="0" i="0"/>
              <a:t>😤</a:t>
            </a:r>
          </a:p>
        </p:txBody>
      </p:sp>
      <p:sp>
        <p:nvSpPr>
          <p:cNvPr id="8" name="TextBox 7"/>
          <p:cNvSpPr txBox="1"/>
          <p:nvPr/>
        </p:nvSpPr>
        <p:spPr>
          <a:xfrm>
            <a:off x="502920" y="2286000"/>
            <a:ext cx="3383280" cy="411480"/>
          </a:xfrm>
          <a:prstGeom prst="rect">
            <a:avLst/>
          </a:prstGeom>
          <a:noFill/>
        </p:spPr>
        <p:txBody>
          <a:bodyPr wrap="square">
            <a:spAutoFit/>
          </a:bodyPr>
          <a:lstStyle/>
          <a:p>
            <a:pPr algn="ctr"/>
            <a:r>
              <a:rPr sz="1500" b="1" i="0">
                <a:solidFill>
                  <a:srgbClr val="2C1A0E"/>
                </a:solidFill>
              </a:rPr>
              <a:t>Operational Chaos</a:t>
            </a:r>
          </a:p>
        </p:txBody>
      </p:sp>
      <p:sp>
        <p:nvSpPr>
          <p:cNvPr id="9" name="Rectangle 8"/>
          <p:cNvSpPr/>
          <p:nvPr/>
        </p:nvSpPr>
        <p:spPr>
          <a:xfrm>
            <a:off x="1463040" y="2697480"/>
            <a:ext cx="1417320"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834640"/>
            <a:ext cx="3291840" cy="2560320"/>
          </a:xfrm>
          <a:prstGeom prst="rect">
            <a:avLst/>
          </a:prstGeom>
          <a:noFill/>
        </p:spPr>
        <p:txBody>
          <a:bodyPr wrap="square">
            <a:spAutoFit/>
          </a:bodyPr>
          <a:lstStyle/>
          <a:p>
            <a:pPr algn="l"/>
            <a:r>
              <a:rPr sz="1250" b="0" i="0">
                <a:solidFill>
                  <a:srgbClr val="3D3D3D"/>
                </a:solidFill>
              </a:rPr>
              <a:t>Multi-branch restaurants manage orders via phone calls, paper tickets, and WhatsApp. No single source of truth across branches.</a:t>
            </a:r>
          </a:p>
        </p:txBody>
      </p:sp>
      <p:sp>
        <p:nvSpPr>
          <p:cNvPr id="11" name="Rectangle 10"/>
          <p:cNvSpPr/>
          <p:nvPr/>
        </p:nvSpPr>
        <p:spPr>
          <a:xfrm>
            <a:off x="4325112" y="1463040"/>
            <a:ext cx="3611880" cy="4206240"/>
          </a:xfrm>
          <a:prstGeom prst="rect">
            <a:avLst/>
          </a:prstGeom>
          <a:solidFill>
            <a:srgbClr val="FFFBF5"/>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62272" y="1600200"/>
            <a:ext cx="3383280" cy="685800"/>
          </a:xfrm>
          <a:prstGeom prst="rect">
            <a:avLst/>
          </a:prstGeom>
          <a:noFill/>
        </p:spPr>
        <p:txBody>
          <a:bodyPr wrap="square">
            <a:spAutoFit/>
          </a:bodyPr>
          <a:lstStyle/>
          <a:p>
            <a:pPr algn="ctr"/>
            <a:r>
              <a:rPr sz="3400" b="0" i="0"/>
              <a:t>⏱️</a:t>
            </a:r>
          </a:p>
        </p:txBody>
      </p:sp>
      <p:sp>
        <p:nvSpPr>
          <p:cNvPr id="13" name="TextBox 12"/>
          <p:cNvSpPr txBox="1"/>
          <p:nvPr/>
        </p:nvSpPr>
        <p:spPr>
          <a:xfrm>
            <a:off x="4462272" y="2286000"/>
            <a:ext cx="3383280" cy="411480"/>
          </a:xfrm>
          <a:prstGeom prst="rect">
            <a:avLst/>
          </a:prstGeom>
          <a:noFill/>
        </p:spPr>
        <p:txBody>
          <a:bodyPr wrap="square">
            <a:spAutoFit/>
          </a:bodyPr>
          <a:lstStyle/>
          <a:p>
            <a:pPr algn="ctr"/>
            <a:r>
              <a:rPr sz="1500" b="1" i="0">
                <a:solidFill>
                  <a:srgbClr val="2C1A0E"/>
                </a:solidFill>
              </a:rPr>
              <a:t>Lost Revenue from Delays</a:t>
            </a:r>
          </a:p>
        </p:txBody>
      </p:sp>
      <p:sp>
        <p:nvSpPr>
          <p:cNvPr id="14" name="Rectangle 13"/>
          <p:cNvSpPr/>
          <p:nvPr/>
        </p:nvSpPr>
        <p:spPr>
          <a:xfrm>
            <a:off x="5422392" y="2697480"/>
            <a:ext cx="1417320"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7992" y="2834640"/>
            <a:ext cx="3291840" cy="2560320"/>
          </a:xfrm>
          <a:prstGeom prst="rect">
            <a:avLst/>
          </a:prstGeom>
          <a:noFill/>
        </p:spPr>
        <p:txBody>
          <a:bodyPr wrap="square">
            <a:spAutoFit/>
          </a:bodyPr>
          <a:lstStyle/>
          <a:p>
            <a:pPr algn="l"/>
            <a:r>
              <a:rPr sz="1250" b="0" i="0">
                <a:solidFill>
                  <a:srgbClr val="3D3D3D"/>
                </a:solidFill>
              </a:rPr>
              <a:t>Kitchen staff have no visibility into SLA breaches. Orders go cold, customers leave, reviews suffer.</a:t>
            </a:r>
          </a:p>
        </p:txBody>
      </p:sp>
      <p:sp>
        <p:nvSpPr>
          <p:cNvPr id="16" name="Rectangle 15"/>
          <p:cNvSpPr/>
          <p:nvPr/>
        </p:nvSpPr>
        <p:spPr>
          <a:xfrm>
            <a:off x="8284464" y="1463040"/>
            <a:ext cx="3611880" cy="4206240"/>
          </a:xfrm>
          <a:prstGeom prst="rect">
            <a:avLst/>
          </a:prstGeom>
          <a:solidFill>
            <a:srgbClr val="FFFBF5"/>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21624" y="1600200"/>
            <a:ext cx="3383280" cy="685800"/>
          </a:xfrm>
          <a:prstGeom prst="rect">
            <a:avLst/>
          </a:prstGeom>
          <a:noFill/>
        </p:spPr>
        <p:txBody>
          <a:bodyPr wrap="square">
            <a:spAutoFit/>
          </a:bodyPr>
          <a:lstStyle/>
          <a:p>
            <a:pPr algn="ctr"/>
            <a:r>
              <a:rPr sz="3400" b="0" i="0"/>
              <a:t>📊</a:t>
            </a:r>
          </a:p>
        </p:txBody>
      </p:sp>
      <p:sp>
        <p:nvSpPr>
          <p:cNvPr id="18" name="TextBox 17"/>
          <p:cNvSpPr txBox="1"/>
          <p:nvPr/>
        </p:nvSpPr>
        <p:spPr>
          <a:xfrm>
            <a:off x="8421624" y="2286000"/>
            <a:ext cx="3383280" cy="411480"/>
          </a:xfrm>
          <a:prstGeom prst="rect">
            <a:avLst/>
          </a:prstGeom>
          <a:noFill/>
        </p:spPr>
        <p:txBody>
          <a:bodyPr wrap="square">
            <a:spAutoFit/>
          </a:bodyPr>
          <a:lstStyle/>
          <a:p>
            <a:pPr algn="ctr"/>
            <a:r>
              <a:rPr sz="1500" b="1" i="0">
                <a:solidFill>
                  <a:srgbClr val="2C1A0E"/>
                </a:solidFill>
              </a:rPr>
              <a:t>Zero Insight</a:t>
            </a:r>
          </a:p>
        </p:txBody>
      </p:sp>
      <p:sp>
        <p:nvSpPr>
          <p:cNvPr id="19" name="Rectangle 18"/>
          <p:cNvSpPr/>
          <p:nvPr/>
        </p:nvSpPr>
        <p:spPr>
          <a:xfrm>
            <a:off x="9381744" y="2697480"/>
            <a:ext cx="1417320"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67344" y="2834640"/>
            <a:ext cx="3291840" cy="2560320"/>
          </a:xfrm>
          <a:prstGeom prst="rect">
            <a:avLst/>
          </a:prstGeom>
          <a:noFill/>
        </p:spPr>
        <p:txBody>
          <a:bodyPr wrap="square">
            <a:spAutoFit/>
          </a:bodyPr>
          <a:lstStyle/>
          <a:p>
            <a:pPr algn="l"/>
            <a:r>
              <a:rPr sz="1250" b="0" i="0">
                <a:solidFill>
                  <a:srgbClr val="3D3D3D"/>
                </a:solidFill>
              </a:rPr>
              <a:t>Managers make decisions blindly. No real-time analytics on bestsellers, peak hours, or branch performance.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DF6EC"/>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144000" cy="640080"/>
          </a:xfrm>
          <a:prstGeom prst="rect">
            <a:avLst/>
          </a:prstGeom>
          <a:noFill/>
        </p:spPr>
        <p:txBody>
          <a:bodyPr wrap="square">
            <a:spAutoFit/>
          </a:bodyPr>
          <a:lstStyle/>
          <a:p>
            <a:pPr algn="l"/>
            <a:r>
              <a:rPr sz="2800" b="1" i="0">
                <a:solidFill>
                  <a:srgbClr val="FFFBF5"/>
                </a:solidFill>
              </a:rPr>
              <a:t>FoodChain — Our Solution</a:t>
            </a:r>
          </a:p>
        </p:txBody>
      </p:sp>
      <p:sp>
        <p:nvSpPr>
          <p:cNvPr id="4" name="TextBox 3"/>
          <p:cNvSpPr txBox="1"/>
          <p:nvPr/>
        </p:nvSpPr>
        <p:spPr>
          <a:xfrm>
            <a:off x="457200" y="749808"/>
            <a:ext cx="10058400" cy="411480"/>
          </a:xfrm>
          <a:prstGeom prst="rect">
            <a:avLst/>
          </a:prstGeom>
          <a:noFill/>
        </p:spPr>
        <p:txBody>
          <a:bodyPr wrap="square">
            <a:spAutoFit/>
          </a:bodyPr>
          <a:lstStyle/>
          <a:p>
            <a:pPr algn="l"/>
            <a:r>
              <a:rPr sz="1400" b="0" i="1">
                <a:solidFill>
                  <a:srgbClr val="F5A623"/>
                </a:solidFill>
              </a:rPr>
              <a:t>Eight specialised services working as one</a:t>
            </a:r>
          </a:p>
        </p:txBody>
      </p:sp>
      <p:sp>
        <p:nvSpPr>
          <p:cNvPr id="5" name="Rectangle 4"/>
          <p:cNvSpPr/>
          <p:nvPr/>
        </p:nvSpPr>
        <p:spPr>
          <a:xfrm>
            <a:off x="0" y="12344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463040"/>
            <a:ext cx="5303520" cy="1280160"/>
          </a:xfrm>
          <a:prstGeom prst="rect">
            <a:avLst/>
          </a:prstGeom>
          <a:solidFill>
            <a:srgbClr val="FFFBF5"/>
          </a:solidFill>
          <a:ln w="12700">
            <a:solidFill>
              <a:srgbClr val="E0D8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554480"/>
            <a:ext cx="5029200" cy="365760"/>
          </a:xfrm>
          <a:prstGeom prst="rect">
            <a:avLst/>
          </a:prstGeom>
          <a:noFill/>
        </p:spPr>
        <p:txBody>
          <a:bodyPr wrap="square">
            <a:spAutoFit/>
          </a:bodyPr>
          <a:lstStyle/>
          <a:p>
            <a:pPr algn="l"/>
            <a:r>
              <a:rPr sz="1350" b="1" i="0">
                <a:solidFill>
                  <a:srgbClr val="2C1A0E"/>
                </a:solidFill>
              </a:rPr>
              <a:t>🤖 AI Food Assistant</a:t>
            </a:r>
          </a:p>
        </p:txBody>
      </p:sp>
      <p:sp>
        <p:nvSpPr>
          <p:cNvPr id="8" name="TextBox 7"/>
          <p:cNvSpPr txBox="1"/>
          <p:nvPr/>
        </p:nvSpPr>
        <p:spPr>
          <a:xfrm>
            <a:off x="457200" y="1920240"/>
            <a:ext cx="5074920" cy="777240"/>
          </a:xfrm>
          <a:prstGeom prst="rect">
            <a:avLst/>
          </a:prstGeom>
          <a:noFill/>
        </p:spPr>
        <p:txBody>
          <a:bodyPr wrap="square">
            <a:spAutoFit/>
          </a:bodyPr>
          <a:lstStyle/>
          <a:p>
            <a:pPr algn="l"/>
            <a:r>
              <a:rPr sz="1200" b="0" i="0">
                <a:solidFill>
                  <a:srgbClr val="3D3D3D"/>
                </a:solidFill>
              </a:rPr>
              <a:t>Gemini 2.5 Flash recommends personalised menu items based on budget, appetite, and dietary preferences.</a:t>
            </a:r>
          </a:p>
        </p:txBody>
      </p:sp>
      <p:sp>
        <p:nvSpPr>
          <p:cNvPr id="9" name="Rectangle 8"/>
          <p:cNvSpPr/>
          <p:nvPr/>
        </p:nvSpPr>
        <p:spPr>
          <a:xfrm>
            <a:off x="320040" y="2880360"/>
            <a:ext cx="5303520" cy="1280160"/>
          </a:xfrm>
          <a:prstGeom prst="rect">
            <a:avLst/>
          </a:prstGeom>
          <a:solidFill>
            <a:srgbClr val="FFFBF5"/>
          </a:solidFill>
          <a:ln w="12700">
            <a:solidFill>
              <a:srgbClr val="E0D8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71800"/>
            <a:ext cx="5029200" cy="365760"/>
          </a:xfrm>
          <a:prstGeom prst="rect">
            <a:avLst/>
          </a:prstGeom>
          <a:noFill/>
        </p:spPr>
        <p:txBody>
          <a:bodyPr wrap="square">
            <a:spAutoFit/>
          </a:bodyPr>
          <a:lstStyle/>
          <a:p>
            <a:pPr algn="l"/>
            <a:r>
              <a:rPr sz="1350" b="1" i="0">
                <a:solidFill>
                  <a:srgbClr val="2C1A0E"/>
                </a:solidFill>
              </a:rPr>
              <a:t>🍳 Kitchen Display</a:t>
            </a:r>
          </a:p>
        </p:txBody>
      </p:sp>
      <p:sp>
        <p:nvSpPr>
          <p:cNvPr id="11" name="TextBox 10"/>
          <p:cNvSpPr txBox="1"/>
          <p:nvPr/>
        </p:nvSpPr>
        <p:spPr>
          <a:xfrm>
            <a:off x="457200" y="3337560"/>
            <a:ext cx="5074920" cy="777240"/>
          </a:xfrm>
          <a:prstGeom prst="rect">
            <a:avLst/>
          </a:prstGeom>
          <a:noFill/>
        </p:spPr>
        <p:txBody>
          <a:bodyPr wrap="square">
            <a:spAutoFit/>
          </a:bodyPr>
          <a:lstStyle/>
          <a:p>
            <a:pPr algn="l"/>
            <a:r>
              <a:rPr sz="1200" b="0" i="0">
                <a:solidFill>
                  <a:srgbClr val="3D3D3D"/>
                </a:solidFill>
              </a:rPr>
              <a:t>Real-time SLA monitoring flags orders that are at risk before they're late. Kitchen staff always know what to prioritise.</a:t>
            </a:r>
          </a:p>
        </p:txBody>
      </p:sp>
      <p:sp>
        <p:nvSpPr>
          <p:cNvPr id="12" name="Rectangle 11"/>
          <p:cNvSpPr/>
          <p:nvPr/>
        </p:nvSpPr>
        <p:spPr>
          <a:xfrm>
            <a:off x="320040" y="4297680"/>
            <a:ext cx="5303520" cy="1280160"/>
          </a:xfrm>
          <a:prstGeom prst="rect">
            <a:avLst/>
          </a:prstGeom>
          <a:solidFill>
            <a:srgbClr val="FFFBF5"/>
          </a:solidFill>
          <a:ln w="12700">
            <a:solidFill>
              <a:srgbClr val="E0D8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4389120"/>
            <a:ext cx="5029200" cy="365760"/>
          </a:xfrm>
          <a:prstGeom prst="rect">
            <a:avLst/>
          </a:prstGeom>
          <a:noFill/>
        </p:spPr>
        <p:txBody>
          <a:bodyPr wrap="square">
            <a:spAutoFit/>
          </a:bodyPr>
          <a:lstStyle/>
          <a:p>
            <a:pPr algn="l"/>
            <a:r>
              <a:rPr sz="1350" b="1" i="0">
                <a:solidFill>
                  <a:srgbClr val="2C1A0E"/>
                </a:solidFill>
              </a:rPr>
              <a:t>📊 Analytics Dashboard</a:t>
            </a:r>
          </a:p>
        </p:txBody>
      </p:sp>
      <p:sp>
        <p:nvSpPr>
          <p:cNvPr id="14" name="TextBox 13"/>
          <p:cNvSpPr txBox="1"/>
          <p:nvPr/>
        </p:nvSpPr>
        <p:spPr>
          <a:xfrm>
            <a:off x="457200" y="4754880"/>
            <a:ext cx="5074920" cy="777240"/>
          </a:xfrm>
          <a:prstGeom prst="rect">
            <a:avLst/>
          </a:prstGeom>
          <a:noFill/>
        </p:spPr>
        <p:txBody>
          <a:bodyPr wrap="square">
            <a:spAutoFit/>
          </a:bodyPr>
          <a:lstStyle/>
          <a:p>
            <a:pPr algn="l"/>
            <a:r>
              <a:rPr sz="1200" b="0" i="0">
                <a:solidFill>
                  <a:srgbClr val="3D3D3D"/>
                </a:solidFill>
              </a:rPr>
              <a:t>Branch managers and head office see revenue trends, top items, fulfilment rates, and SLA stats — live.</a:t>
            </a:r>
          </a:p>
        </p:txBody>
      </p:sp>
      <p:sp>
        <p:nvSpPr>
          <p:cNvPr id="15" name="Rectangle 14"/>
          <p:cNvSpPr/>
          <p:nvPr/>
        </p:nvSpPr>
        <p:spPr>
          <a:xfrm>
            <a:off x="6309360" y="1463040"/>
            <a:ext cx="5303520" cy="1280160"/>
          </a:xfrm>
          <a:prstGeom prst="rect">
            <a:avLst/>
          </a:prstGeom>
          <a:solidFill>
            <a:srgbClr val="FFFBF5"/>
          </a:solidFill>
          <a:ln w="12700">
            <a:solidFill>
              <a:srgbClr val="E0D8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1554480"/>
            <a:ext cx="5029200" cy="365760"/>
          </a:xfrm>
          <a:prstGeom prst="rect">
            <a:avLst/>
          </a:prstGeom>
          <a:noFill/>
        </p:spPr>
        <p:txBody>
          <a:bodyPr wrap="square">
            <a:spAutoFit/>
          </a:bodyPr>
          <a:lstStyle/>
          <a:p>
            <a:pPr algn="l"/>
            <a:r>
              <a:rPr sz="1350" b="1" i="0">
                <a:solidFill>
                  <a:srgbClr val="2C1A0E"/>
                </a:solidFill>
              </a:rPr>
              <a:t>🔔 Smart Notifications</a:t>
            </a:r>
          </a:p>
        </p:txBody>
      </p:sp>
      <p:sp>
        <p:nvSpPr>
          <p:cNvPr id="17" name="TextBox 16"/>
          <p:cNvSpPr txBox="1"/>
          <p:nvPr/>
        </p:nvSpPr>
        <p:spPr>
          <a:xfrm>
            <a:off x="6446520" y="1920240"/>
            <a:ext cx="5074920" cy="777240"/>
          </a:xfrm>
          <a:prstGeom prst="rect">
            <a:avLst/>
          </a:prstGeom>
          <a:noFill/>
        </p:spPr>
        <p:txBody>
          <a:bodyPr wrap="square">
            <a:spAutoFit/>
          </a:bodyPr>
          <a:lstStyle/>
          <a:p>
            <a:pPr algn="l"/>
            <a:r>
              <a:rPr sz="1200" b="0" i="0">
                <a:solidFill>
                  <a:srgbClr val="3D3D3D"/>
                </a:solidFill>
              </a:rPr>
              <a:t>Event-driven emails and WebSocket push alerts for order confirmations, status changes, and kitchen updates.</a:t>
            </a:r>
          </a:p>
        </p:txBody>
      </p:sp>
      <p:sp>
        <p:nvSpPr>
          <p:cNvPr id="18" name="Rectangle 17"/>
          <p:cNvSpPr/>
          <p:nvPr/>
        </p:nvSpPr>
        <p:spPr>
          <a:xfrm>
            <a:off x="6309360" y="2880360"/>
            <a:ext cx="5303520" cy="1280160"/>
          </a:xfrm>
          <a:prstGeom prst="rect">
            <a:avLst/>
          </a:prstGeom>
          <a:solidFill>
            <a:srgbClr val="FFFBF5"/>
          </a:solidFill>
          <a:ln w="12700">
            <a:solidFill>
              <a:srgbClr val="E0D8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2971800"/>
            <a:ext cx="5029200" cy="365760"/>
          </a:xfrm>
          <a:prstGeom prst="rect">
            <a:avLst/>
          </a:prstGeom>
          <a:noFill/>
        </p:spPr>
        <p:txBody>
          <a:bodyPr wrap="square">
            <a:spAutoFit/>
          </a:bodyPr>
          <a:lstStyle/>
          <a:p>
            <a:pPr algn="l"/>
            <a:r>
              <a:rPr sz="1350" b="1" i="0">
                <a:solidFill>
                  <a:srgbClr val="2C1A0E"/>
                </a:solidFill>
              </a:rPr>
              <a:t>🔐 Role-Based Security</a:t>
            </a:r>
          </a:p>
        </p:txBody>
      </p:sp>
      <p:sp>
        <p:nvSpPr>
          <p:cNvPr id="20" name="TextBox 19"/>
          <p:cNvSpPr txBox="1"/>
          <p:nvPr/>
        </p:nvSpPr>
        <p:spPr>
          <a:xfrm>
            <a:off x="6446520" y="3337560"/>
            <a:ext cx="5074920" cy="777240"/>
          </a:xfrm>
          <a:prstGeom prst="rect">
            <a:avLst/>
          </a:prstGeom>
          <a:noFill/>
        </p:spPr>
        <p:txBody>
          <a:bodyPr wrap="square">
            <a:spAutoFit/>
          </a:bodyPr>
          <a:lstStyle/>
          <a:p>
            <a:pPr algn="l"/>
            <a:r>
              <a:rPr sz="1200" b="0" i="0">
                <a:solidFill>
                  <a:srgbClr val="3D3D3D"/>
                </a:solidFill>
              </a:rPr>
              <a:t>JWT + OAuth2 with four distinct roles: Customer, Branch Manager, Kitchen Staff, Head Office Admin.</a:t>
            </a:r>
          </a:p>
        </p:txBody>
      </p:sp>
      <p:sp>
        <p:nvSpPr>
          <p:cNvPr id="21" name="Rectangle 20"/>
          <p:cNvSpPr/>
          <p:nvPr/>
        </p:nvSpPr>
        <p:spPr>
          <a:xfrm>
            <a:off x="6309360" y="4297680"/>
            <a:ext cx="5303520" cy="1280160"/>
          </a:xfrm>
          <a:prstGeom prst="rect">
            <a:avLst/>
          </a:prstGeom>
          <a:solidFill>
            <a:srgbClr val="FFFBF5"/>
          </a:solidFill>
          <a:ln w="12700">
            <a:solidFill>
              <a:srgbClr val="E0D8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389120"/>
            <a:ext cx="5029200" cy="365760"/>
          </a:xfrm>
          <a:prstGeom prst="rect">
            <a:avLst/>
          </a:prstGeom>
          <a:noFill/>
        </p:spPr>
        <p:txBody>
          <a:bodyPr wrap="square">
            <a:spAutoFit/>
          </a:bodyPr>
          <a:lstStyle/>
          <a:p>
            <a:pPr algn="l"/>
            <a:r>
              <a:rPr sz="1350" b="1" i="0">
                <a:solidFill>
                  <a:srgbClr val="2C1A0E"/>
                </a:solidFill>
              </a:rPr>
              <a:t>🌐 Multi-Branch Ready</a:t>
            </a:r>
          </a:p>
        </p:txBody>
      </p:sp>
      <p:sp>
        <p:nvSpPr>
          <p:cNvPr id="23" name="TextBox 22"/>
          <p:cNvSpPr txBox="1"/>
          <p:nvPr/>
        </p:nvSpPr>
        <p:spPr>
          <a:xfrm>
            <a:off x="6446520" y="4754880"/>
            <a:ext cx="5074920" cy="777240"/>
          </a:xfrm>
          <a:prstGeom prst="rect">
            <a:avLst/>
          </a:prstGeom>
          <a:noFill/>
        </p:spPr>
        <p:txBody>
          <a:bodyPr wrap="square">
            <a:spAutoFit/>
          </a:bodyPr>
          <a:lstStyle/>
          <a:p>
            <a:pPr algn="l"/>
            <a:r>
              <a:rPr sz="1200" b="0" i="0">
                <a:solidFill>
                  <a:srgbClr val="3D3D3D"/>
                </a:solidFill>
              </a:rPr>
              <a:t>Every entity is branch-scoped. One deployment supports any number of branches without code changes.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DF6EC"/>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144000" cy="640080"/>
          </a:xfrm>
          <a:prstGeom prst="rect">
            <a:avLst/>
          </a:prstGeom>
          <a:noFill/>
        </p:spPr>
        <p:txBody>
          <a:bodyPr wrap="square">
            <a:spAutoFit/>
          </a:bodyPr>
          <a:lstStyle/>
          <a:p>
            <a:pPr algn="l"/>
            <a:r>
              <a:rPr sz="2800" b="1" i="0">
                <a:solidFill>
                  <a:srgbClr val="FFFBF5"/>
                </a:solidFill>
              </a:rPr>
              <a:t>System Architecture</a:t>
            </a:r>
          </a:p>
        </p:txBody>
      </p:sp>
      <p:sp>
        <p:nvSpPr>
          <p:cNvPr id="4" name="TextBox 3"/>
          <p:cNvSpPr txBox="1"/>
          <p:nvPr/>
        </p:nvSpPr>
        <p:spPr>
          <a:xfrm>
            <a:off x="457200" y="749808"/>
            <a:ext cx="10058400" cy="411480"/>
          </a:xfrm>
          <a:prstGeom prst="rect">
            <a:avLst/>
          </a:prstGeom>
          <a:noFill/>
        </p:spPr>
        <p:txBody>
          <a:bodyPr wrap="square">
            <a:spAutoFit/>
          </a:bodyPr>
          <a:lstStyle/>
          <a:p>
            <a:pPr algn="l"/>
            <a:r>
              <a:rPr sz="1400" b="0" i="1">
                <a:solidFill>
                  <a:srgbClr val="F5A623"/>
                </a:solidFill>
              </a:rPr>
              <a:t>Cloud-native microservices with event-driven backbone</a:t>
            </a:r>
          </a:p>
        </p:txBody>
      </p:sp>
      <p:sp>
        <p:nvSpPr>
          <p:cNvPr id="5" name="Rectangle 4"/>
          <p:cNvSpPr/>
          <p:nvPr/>
        </p:nvSpPr>
        <p:spPr>
          <a:xfrm>
            <a:off x="0" y="12344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2377440"/>
            <a:ext cx="1188720" cy="640080"/>
          </a:xfrm>
          <a:prstGeom prst="rect">
            <a:avLst/>
          </a:prstGeom>
          <a:solidFill>
            <a:srgbClr val="E3F2FD"/>
          </a:solidFill>
          <a:ln w="19050">
            <a:solidFill>
              <a:srgbClr val="2D6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423160"/>
            <a:ext cx="1188720" cy="594360"/>
          </a:xfrm>
          <a:prstGeom prst="rect">
            <a:avLst/>
          </a:prstGeom>
          <a:noFill/>
        </p:spPr>
        <p:txBody>
          <a:bodyPr wrap="square">
            <a:spAutoFit/>
          </a:bodyPr>
          <a:lstStyle/>
          <a:p>
            <a:pPr algn="ctr"/>
            <a:r>
              <a:rPr sz="1000" b="1" i="0">
                <a:solidFill>
                  <a:srgbClr val="2D6AA0"/>
                </a:solidFill>
              </a:rPr>
              <a:t>🌐 Client
(React)</a:t>
            </a:r>
          </a:p>
        </p:txBody>
      </p:sp>
      <p:sp>
        <p:nvSpPr>
          <p:cNvPr id="8" name="Rectangle 7"/>
          <p:cNvSpPr/>
          <p:nvPr/>
        </p:nvSpPr>
        <p:spPr>
          <a:xfrm>
            <a:off x="1481328" y="2633472"/>
            <a:ext cx="365760" cy="54864"/>
          </a:xfrm>
          <a:prstGeom prst="rect">
            <a:avLst/>
          </a:prstGeom>
          <a:solidFill>
            <a:srgbClr val="3D3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74519" y="2103120"/>
            <a:ext cx="1554480" cy="1188720"/>
          </a:xfrm>
          <a:prstGeom prst="rect">
            <a:avLst/>
          </a:prstGeom>
          <a:solidFill>
            <a:srgbClr val="2C1A0E"/>
          </a:solidFill>
          <a:ln w="254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92807" y="2194560"/>
            <a:ext cx="1508760" cy="548640"/>
          </a:xfrm>
          <a:prstGeom prst="rect">
            <a:avLst/>
          </a:prstGeom>
          <a:noFill/>
        </p:spPr>
        <p:txBody>
          <a:bodyPr wrap="square">
            <a:spAutoFit/>
          </a:bodyPr>
          <a:lstStyle/>
          <a:p>
            <a:pPr algn="ctr"/>
            <a:r>
              <a:rPr sz="1100" b="1" i="0">
                <a:solidFill>
                  <a:srgbClr val="FFFBF5"/>
                </a:solidFill>
              </a:rPr>
              <a:t>API Gateway
:8080</a:t>
            </a:r>
          </a:p>
        </p:txBody>
      </p:sp>
      <p:sp>
        <p:nvSpPr>
          <p:cNvPr id="11" name="TextBox 10"/>
          <p:cNvSpPr txBox="1"/>
          <p:nvPr/>
        </p:nvSpPr>
        <p:spPr>
          <a:xfrm>
            <a:off x="1892807" y="2706624"/>
            <a:ext cx="1508760" cy="512064"/>
          </a:xfrm>
          <a:prstGeom prst="rect">
            <a:avLst/>
          </a:prstGeom>
          <a:noFill/>
        </p:spPr>
        <p:txBody>
          <a:bodyPr wrap="square">
            <a:spAutoFit/>
          </a:bodyPr>
          <a:lstStyle/>
          <a:p>
            <a:pPr algn="ctr"/>
            <a:r>
              <a:rPr sz="900" b="0" i="0">
                <a:solidFill>
                  <a:srgbClr val="F5A623"/>
                </a:solidFill>
              </a:rPr>
              <a:t>JWT Filter
Route → Service</a:t>
            </a:r>
          </a:p>
        </p:txBody>
      </p:sp>
      <p:sp>
        <p:nvSpPr>
          <p:cNvPr id="12" name="Rectangle 11"/>
          <p:cNvSpPr/>
          <p:nvPr/>
        </p:nvSpPr>
        <p:spPr>
          <a:xfrm>
            <a:off x="3749039" y="1417320"/>
            <a:ext cx="1170432" cy="658368"/>
          </a:xfrm>
          <a:prstGeom prst="rect">
            <a:avLst/>
          </a:prstGeom>
          <a:solidFill>
            <a:srgbClr val="2C1A0E"/>
          </a:solidFill>
          <a:ln w="1524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03903" y="1453896"/>
            <a:ext cx="1078992" cy="320040"/>
          </a:xfrm>
          <a:prstGeom prst="rect">
            <a:avLst/>
          </a:prstGeom>
          <a:noFill/>
        </p:spPr>
        <p:txBody>
          <a:bodyPr wrap="square">
            <a:spAutoFit/>
          </a:bodyPr>
          <a:lstStyle/>
          <a:p>
            <a:pPr algn="ctr"/>
            <a:r>
              <a:rPr sz="1000" b="1" i="0">
                <a:solidFill>
                  <a:srgbClr val="FFFBF5"/>
                </a:solidFill>
              </a:rPr>
              <a:t>User Svc</a:t>
            </a:r>
          </a:p>
        </p:txBody>
      </p:sp>
      <p:sp>
        <p:nvSpPr>
          <p:cNvPr id="14" name="TextBox 13"/>
          <p:cNvSpPr txBox="1"/>
          <p:nvPr/>
        </p:nvSpPr>
        <p:spPr>
          <a:xfrm>
            <a:off x="3803903" y="1746504"/>
            <a:ext cx="1078992" cy="256032"/>
          </a:xfrm>
          <a:prstGeom prst="rect">
            <a:avLst/>
          </a:prstGeom>
          <a:noFill/>
        </p:spPr>
        <p:txBody>
          <a:bodyPr wrap="square">
            <a:spAutoFit/>
          </a:bodyPr>
          <a:lstStyle/>
          <a:p>
            <a:pPr algn="ctr"/>
            <a:r>
              <a:rPr sz="900" b="0" i="0">
                <a:solidFill>
                  <a:srgbClr val="F5A623"/>
                </a:solidFill>
              </a:rPr>
              <a:t>:8081</a:t>
            </a:r>
          </a:p>
        </p:txBody>
      </p:sp>
      <p:sp>
        <p:nvSpPr>
          <p:cNvPr id="15" name="Rectangle 14"/>
          <p:cNvSpPr/>
          <p:nvPr/>
        </p:nvSpPr>
        <p:spPr>
          <a:xfrm>
            <a:off x="4334255" y="2075688"/>
            <a:ext cx="36576" cy="347472"/>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956047" y="1417320"/>
            <a:ext cx="1170432" cy="658368"/>
          </a:xfrm>
          <a:prstGeom prst="rect">
            <a:avLst/>
          </a:prstGeom>
          <a:solidFill>
            <a:srgbClr val="2C1A0E"/>
          </a:solidFill>
          <a:ln w="1524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10911" y="1453896"/>
            <a:ext cx="1078992" cy="320040"/>
          </a:xfrm>
          <a:prstGeom prst="rect">
            <a:avLst/>
          </a:prstGeom>
          <a:noFill/>
        </p:spPr>
        <p:txBody>
          <a:bodyPr wrap="square">
            <a:spAutoFit/>
          </a:bodyPr>
          <a:lstStyle/>
          <a:p>
            <a:pPr algn="ctr"/>
            <a:r>
              <a:rPr sz="1000" b="1" i="0">
                <a:solidFill>
                  <a:srgbClr val="FFFBF5"/>
                </a:solidFill>
              </a:rPr>
              <a:t>Menu Svc</a:t>
            </a:r>
          </a:p>
        </p:txBody>
      </p:sp>
      <p:sp>
        <p:nvSpPr>
          <p:cNvPr id="18" name="TextBox 17"/>
          <p:cNvSpPr txBox="1"/>
          <p:nvPr/>
        </p:nvSpPr>
        <p:spPr>
          <a:xfrm>
            <a:off x="5010911" y="1746504"/>
            <a:ext cx="1078992" cy="256032"/>
          </a:xfrm>
          <a:prstGeom prst="rect">
            <a:avLst/>
          </a:prstGeom>
          <a:noFill/>
        </p:spPr>
        <p:txBody>
          <a:bodyPr wrap="square">
            <a:spAutoFit/>
          </a:bodyPr>
          <a:lstStyle/>
          <a:p>
            <a:pPr algn="ctr"/>
            <a:r>
              <a:rPr sz="900" b="0" i="0">
                <a:solidFill>
                  <a:srgbClr val="F5A623"/>
                </a:solidFill>
              </a:rPr>
              <a:t>:8082</a:t>
            </a:r>
          </a:p>
        </p:txBody>
      </p:sp>
      <p:sp>
        <p:nvSpPr>
          <p:cNvPr id="19" name="Rectangle 18"/>
          <p:cNvSpPr/>
          <p:nvPr/>
        </p:nvSpPr>
        <p:spPr>
          <a:xfrm>
            <a:off x="5541263" y="2075688"/>
            <a:ext cx="36576" cy="347472"/>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63055" y="1417320"/>
            <a:ext cx="1170432" cy="658368"/>
          </a:xfrm>
          <a:prstGeom prst="rect">
            <a:avLst/>
          </a:prstGeom>
          <a:solidFill>
            <a:srgbClr val="2C1A0E"/>
          </a:solidFill>
          <a:ln w="1524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19" y="1453896"/>
            <a:ext cx="1078992" cy="320040"/>
          </a:xfrm>
          <a:prstGeom prst="rect">
            <a:avLst/>
          </a:prstGeom>
          <a:noFill/>
        </p:spPr>
        <p:txBody>
          <a:bodyPr wrap="square">
            <a:spAutoFit/>
          </a:bodyPr>
          <a:lstStyle/>
          <a:p>
            <a:pPr algn="ctr"/>
            <a:r>
              <a:rPr sz="1000" b="1" i="0">
                <a:solidFill>
                  <a:srgbClr val="FFFBF5"/>
                </a:solidFill>
              </a:rPr>
              <a:t>Order Svc</a:t>
            </a:r>
          </a:p>
        </p:txBody>
      </p:sp>
      <p:sp>
        <p:nvSpPr>
          <p:cNvPr id="22" name="TextBox 21"/>
          <p:cNvSpPr txBox="1"/>
          <p:nvPr/>
        </p:nvSpPr>
        <p:spPr>
          <a:xfrm>
            <a:off x="6217919" y="1746504"/>
            <a:ext cx="1078992" cy="256032"/>
          </a:xfrm>
          <a:prstGeom prst="rect">
            <a:avLst/>
          </a:prstGeom>
          <a:noFill/>
        </p:spPr>
        <p:txBody>
          <a:bodyPr wrap="square">
            <a:spAutoFit/>
          </a:bodyPr>
          <a:lstStyle/>
          <a:p>
            <a:pPr algn="ctr"/>
            <a:r>
              <a:rPr sz="900" b="0" i="0">
                <a:solidFill>
                  <a:srgbClr val="F5A623"/>
                </a:solidFill>
              </a:rPr>
              <a:t>:8083</a:t>
            </a:r>
          </a:p>
        </p:txBody>
      </p:sp>
      <p:sp>
        <p:nvSpPr>
          <p:cNvPr id="23" name="Rectangle 22"/>
          <p:cNvSpPr/>
          <p:nvPr/>
        </p:nvSpPr>
        <p:spPr>
          <a:xfrm>
            <a:off x="6748271" y="2075688"/>
            <a:ext cx="36576" cy="347472"/>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70063" y="1417320"/>
            <a:ext cx="1170432" cy="658368"/>
          </a:xfrm>
          <a:prstGeom prst="rect">
            <a:avLst/>
          </a:prstGeom>
          <a:solidFill>
            <a:srgbClr val="2C1A0E"/>
          </a:solidFill>
          <a:ln w="1524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24927" y="1453896"/>
            <a:ext cx="1078992" cy="320040"/>
          </a:xfrm>
          <a:prstGeom prst="rect">
            <a:avLst/>
          </a:prstGeom>
          <a:noFill/>
        </p:spPr>
        <p:txBody>
          <a:bodyPr wrap="square">
            <a:spAutoFit/>
          </a:bodyPr>
          <a:lstStyle/>
          <a:p>
            <a:pPr algn="ctr"/>
            <a:r>
              <a:rPr sz="1000" b="1" i="0">
                <a:solidFill>
                  <a:srgbClr val="FFFBF5"/>
                </a:solidFill>
              </a:rPr>
              <a:t>Kitchen Svc</a:t>
            </a:r>
          </a:p>
        </p:txBody>
      </p:sp>
      <p:sp>
        <p:nvSpPr>
          <p:cNvPr id="26" name="TextBox 25"/>
          <p:cNvSpPr txBox="1"/>
          <p:nvPr/>
        </p:nvSpPr>
        <p:spPr>
          <a:xfrm>
            <a:off x="7424927" y="1746504"/>
            <a:ext cx="1078992" cy="256032"/>
          </a:xfrm>
          <a:prstGeom prst="rect">
            <a:avLst/>
          </a:prstGeom>
          <a:noFill/>
        </p:spPr>
        <p:txBody>
          <a:bodyPr wrap="square">
            <a:spAutoFit/>
          </a:bodyPr>
          <a:lstStyle/>
          <a:p>
            <a:pPr algn="ctr"/>
            <a:r>
              <a:rPr sz="900" b="0" i="0">
                <a:solidFill>
                  <a:srgbClr val="F5A623"/>
                </a:solidFill>
              </a:rPr>
              <a:t>:8084</a:t>
            </a:r>
          </a:p>
        </p:txBody>
      </p:sp>
      <p:sp>
        <p:nvSpPr>
          <p:cNvPr id="27" name="Rectangle 26"/>
          <p:cNvSpPr/>
          <p:nvPr/>
        </p:nvSpPr>
        <p:spPr>
          <a:xfrm>
            <a:off x="7955279" y="2075688"/>
            <a:ext cx="36576" cy="347472"/>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577071" y="1417320"/>
            <a:ext cx="1170432" cy="658368"/>
          </a:xfrm>
          <a:prstGeom prst="rect">
            <a:avLst/>
          </a:prstGeom>
          <a:solidFill>
            <a:srgbClr val="2C1A0E"/>
          </a:solidFill>
          <a:ln w="1524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31935" y="1453896"/>
            <a:ext cx="1078992" cy="320040"/>
          </a:xfrm>
          <a:prstGeom prst="rect">
            <a:avLst/>
          </a:prstGeom>
          <a:noFill/>
        </p:spPr>
        <p:txBody>
          <a:bodyPr wrap="square">
            <a:spAutoFit/>
          </a:bodyPr>
          <a:lstStyle/>
          <a:p>
            <a:pPr algn="ctr"/>
            <a:r>
              <a:rPr sz="1000" b="1" i="0">
                <a:solidFill>
                  <a:srgbClr val="FFFBF5"/>
                </a:solidFill>
              </a:rPr>
              <a:t>Branch Svc</a:t>
            </a:r>
          </a:p>
        </p:txBody>
      </p:sp>
      <p:sp>
        <p:nvSpPr>
          <p:cNvPr id="30" name="TextBox 29"/>
          <p:cNvSpPr txBox="1"/>
          <p:nvPr/>
        </p:nvSpPr>
        <p:spPr>
          <a:xfrm>
            <a:off x="8631935" y="1746504"/>
            <a:ext cx="1078992" cy="256032"/>
          </a:xfrm>
          <a:prstGeom prst="rect">
            <a:avLst/>
          </a:prstGeom>
          <a:noFill/>
        </p:spPr>
        <p:txBody>
          <a:bodyPr wrap="square">
            <a:spAutoFit/>
          </a:bodyPr>
          <a:lstStyle/>
          <a:p>
            <a:pPr algn="ctr"/>
            <a:r>
              <a:rPr sz="900" b="0" i="0">
                <a:solidFill>
                  <a:srgbClr val="F5A623"/>
                </a:solidFill>
              </a:rPr>
              <a:t>:8085</a:t>
            </a:r>
          </a:p>
        </p:txBody>
      </p:sp>
      <p:sp>
        <p:nvSpPr>
          <p:cNvPr id="31" name="Rectangle 30"/>
          <p:cNvSpPr/>
          <p:nvPr/>
        </p:nvSpPr>
        <p:spPr>
          <a:xfrm>
            <a:off x="9162287" y="2075688"/>
            <a:ext cx="36576" cy="347472"/>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784079" y="1417320"/>
            <a:ext cx="1170432" cy="658368"/>
          </a:xfrm>
          <a:prstGeom prst="rect">
            <a:avLst/>
          </a:prstGeom>
          <a:solidFill>
            <a:srgbClr val="2C1A0E"/>
          </a:solidFill>
          <a:ln w="1524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38943" y="1453896"/>
            <a:ext cx="1078992" cy="320040"/>
          </a:xfrm>
          <a:prstGeom prst="rect">
            <a:avLst/>
          </a:prstGeom>
          <a:noFill/>
        </p:spPr>
        <p:txBody>
          <a:bodyPr wrap="square">
            <a:spAutoFit/>
          </a:bodyPr>
          <a:lstStyle/>
          <a:p>
            <a:pPr algn="ctr"/>
            <a:r>
              <a:rPr sz="1000" b="1" i="0">
                <a:solidFill>
                  <a:srgbClr val="FFFBF5"/>
                </a:solidFill>
              </a:rPr>
              <a:t>Notif Svc</a:t>
            </a:r>
          </a:p>
        </p:txBody>
      </p:sp>
      <p:sp>
        <p:nvSpPr>
          <p:cNvPr id="34" name="TextBox 33"/>
          <p:cNvSpPr txBox="1"/>
          <p:nvPr/>
        </p:nvSpPr>
        <p:spPr>
          <a:xfrm>
            <a:off x="9838943" y="1746504"/>
            <a:ext cx="1078992" cy="256032"/>
          </a:xfrm>
          <a:prstGeom prst="rect">
            <a:avLst/>
          </a:prstGeom>
          <a:noFill/>
        </p:spPr>
        <p:txBody>
          <a:bodyPr wrap="square">
            <a:spAutoFit/>
          </a:bodyPr>
          <a:lstStyle/>
          <a:p>
            <a:pPr algn="ctr"/>
            <a:r>
              <a:rPr sz="900" b="0" i="0">
                <a:solidFill>
                  <a:srgbClr val="F5A623"/>
                </a:solidFill>
              </a:rPr>
              <a:t>:8086</a:t>
            </a:r>
          </a:p>
        </p:txBody>
      </p:sp>
      <p:sp>
        <p:nvSpPr>
          <p:cNvPr id="35" name="Rectangle 34"/>
          <p:cNvSpPr/>
          <p:nvPr/>
        </p:nvSpPr>
        <p:spPr>
          <a:xfrm>
            <a:off x="10369295" y="2075688"/>
            <a:ext cx="36576" cy="347472"/>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991087" y="1417320"/>
            <a:ext cx="1170432" cy="658368"/>
          </a:xfrm>
          <a:prstGeom prst="rect">
            <a:avLst/>
          </a:prstGeom>
          <a:solidFill>
            <a:srgbClr val="2C1A0E"/>
          </a:solidFill>
          <a:ln w="1524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045951" y="1453896"/>
            <a:ext cx="1078992" cy="320040"/>
          </a:xfrm>
          <a:prstGeom prst="rect">
            <a:avLst/>
          </a:prstGeom>
          <a:noFill/>
        </p:spPr>
        <p:txBody>
          <a:bodyPr wrap="square">
            <a:spAutoFit/>
          </a:bodyPr>
          <a:lstStyle/>
          <a:p>
            <a:pPr algn="ctr"/>
            <a:r>
              <a:rPr sz="1000" b="1" i="0">
                <a:solidFill>
                  <a:srgbClr val="FFFBF5"/>
                </a:solidFill>
              </a:rPr>
              <a:t>Analytics</a:t>
            </a:r>
          </a:p>
        </p:txBody>
      </p:sp>
      <p:sp>
        <p:nvSpPr>
          <p:cNvPr id="38" name="TextBox 37"/>
          <p:cNvSpPr txBox="1"/>
          <p:nvPr/>
        </p:nvSpPr>
        <p:spPr>
          <a:xfrm>
            <a:off x="11045951" y="1746504"/>
            <a:ext cx="1078992" cy="256032"/>
          </a:xfrm>
          <a:prstGeom prst="rect">
            <a:avLst/>
          </a:prstGeom>
          <a:noFill/>
        </p:spPr>
        <p:txBody>
          <a:bodyPr wrap="square">
            <a:spAutoFit/>
          </a:bodyPr>
          <a:lstStyle/>
          <a:p>
            <a:pPr algn="ctr"/>
            <a:r>
              <a:rPr sz="900" b="0" i="0">
                <a:solidFill>
                  <a:srgbClr val="F5A623"/>
                </a:solidFill>
              </a:rPr>
              <a:t>:8087</a:t>
            </a:r>
          </a:p>
        </p:txBody>
      </p:sp>
      <p:sp>
        <p:nvSpPr>
          <p:cNvPr id="39" name="Rectangle 38"/>
          <p:cNvSpPr/>
          <p:nvPr/>
        </p:nvSpPr>
        <p:spPr>
          <a:xfrm>
            <a:off x="11576303" y="2075688"/>
            <a:ext cx="36576" cy="347472"/>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749039" y="2048256"/>
            <a:ext cx="7955279" cy="45720"/>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642616" y="2048256"/>
            <a:ext cx="45720" cy="310896"/>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642616" y="2048256"/>
            <a:ext cx="1152144" cy="45720"/>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749039" y="3154680"/>
            <a:ext cx="7955279" cy="640080"/>
          </a:xfrm>
          <a:prstGeom prst="rect">
            <a:avLst/>
          </a:prstGeom>
          <a:solidFill>
            <a:srgbClr val="FFF3E0"/>
          </a:solidFill>
          <a:ln w="1905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749039" y="3227832"/>
            <a:ext cx="7955279" cy="411480"/>
          </a:xfrm>
          <a:prstGeom prst="rect">
            <a:avLst/>
          </a:prstGeom>
          <a:noFill/>
        </p:spPr>
        <p:txBody>
          <a:bodyPr wrap="square">
            <a:spAutoFit/>
          </a:bodyPr>
          <a:lstStyle/>
          <a:p>
            <a:pPr algn="ctr"/>
            <a:r>
              <a:rPr sz="1200" b="1" i="0">
                <a:solidFill>
                  <a:srgbClr val="BF3600"/>
                </a:solidFill>
              </a:rPr>
              <a:t>⚡  Apache Kafka  —  Event Bus</a:t>
            </a:r>
          </a:p>
        </p:txBody>
      </p:sp>
      <p:sp>
        <p:nvSpPr>
          <p:cNvPr id="45" name="Rectangle 44"/>
          <p:cNvSpPr/>
          <p:nvPr/>
        </p:nvSpPr>
        <p:spPr>
          <a:xfrm>
            <a:off x="3886200" y="3904487"/>
            <a:ext cx="1481328" cy="292608"/>
          </a:xfrm>
          <a:prstGeom prst="rect">
            <a:avLst/>
          </a:prstGeom>
          <a:solidFill>
            <a:srgbClr val="FFE0B2"/>
          </a:solidFill>
          <a:ln w="1016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922776" y="3922776"/>
            <a:ext cx="1417320" cy="265176"/>
          </a:xfrm>
          <a:prstGeom prst="rect">
            <a:avLst/>
          </a:prstGeom>
          <a:noFill/>
        </p:spPr>
        <p:txBody>
          <a:bodyPr wrap="square">
            <a:spAutoFit/>
          </a:bodyPr>
          <a:lstStyle/>
          <a:p>
            <a:pPr algn="ctr"/>
            <a:r>
              <a:rPr sz="800" b="0" i="0">
                <a:solidFill>
                  <a:srgbClr val="BF3600"/>
                </a:solidFill>
              </a:rPr>
              <a:t>order.created</a:t>
            </a:r>
          </a:p>
        </p:txBody>
      </p:sp>
      <p:sp>
        <p:nvSpPr>
          <p:cNvPr id="47" name="Rectangle 46"/>
          <p:cNvSpPr/>
          <p:nvPr/>
        </p:nvSpPr>
        <p:spPr>
          <a:xfrm>
            <a:off x="5458968" y="3904487"/>
            <a:ext cx="1481328" cy="292608"/>
          </a:xfrm>
          <a:prstGeom prst="rect">
            <a:avLst/>
          </a:prstGeom>
          <a:solidFill>
            <a:srgbClr val="FFE0B2"/>
          </a:solidFill>
          <a:ln w="1016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495544" y="3922776"/>
            <a:ext cx="1417320" cy="265176"/>
          </a:xfrm>
          <a:prstGeom prst="rect">
            <a:avLst/>
          </a:prstGeom>
          <a:noFill/>
        </p:spPr>
        <p:txBody>
          <a:bodyPr wrap="square">
            <a:spAutoFit/>
          </a:bodyPr>
          <a:lstStyle/>
          <a:p>
            <a:pPr algn="ctr"/>
            <a:r>
              <a:rPr sz="800" b="0" i="0">
                <a:solidFill>
                  <a:srgbClr val="BF3600"/>
                </a:solidFill>
              </a:rPr>
              <a:t>order.status.updated</a:t>
            </a:r>
          </a:p>
        </p:txBody>
      </p:sp>
      <p:sp>
        <p:nvSpPr>
          <p:cNvPr id="49" name="Rectangle 48"/>
          <p:cNvSpPr/>
          <p:nvPr/>
        </p:nvSpPr>
        <p:spPr>
          <a:xfrm>
            <a:off x="7031736" y="3904487"/>
            <a:ext cx="1481328" cy="292608"/>
          </a:xfrm>
          <a:prstGeom prst="rect">
            <a:avLst/>
          </a:prstGeom>
          <a:solidFill>
            <a:srgbClr val="FFE0B2"/>
          </a:solidFill>
          <a:ln w="1016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068312" y="3922776"/>
            <a:ext cx="1417320" cy="265176"/>
          </a:xfrm>
          <a:prstGeom prst="rect">
            <a:avLst/>
          </a:prstGeom>
          <a:noFill/>
        </p:spPr>
        <p:txBody>
          <a:bodyPr wrap="square">
            <a:spAutoFit/>
          </a:bodyPr>
          <a:lstStyle/>
          <a:p>
            <a:pPr algn="ctr"/>
            <a:r>
              <a:rPr sz="800" b="0" i="0">
                <a:solidFill>
                  <a:srgbClr val="BF3600"/>
                </a:solidFill>
              </a:rPr>
              <a:t>kitchen.order.updated</a:t>
            </a:r>
          </a:p>
        </p:txBody>
      </p:sp>
      <p:sp>
        <p:nvSpPr>
          <p:cNvPr id="51" name="Rectangle 50"/>
          <p:cNvSpPr/>
          <p:nvPr/>
        </p:nvSpPr>
        <p:spPr>
          <a:xfrm>
            <a:off x="8604504" y="3904487"/>
            <a:ext cx="1481328" cy="292608"/>
          </a:xfrm>
          <a:prstGeom prst="rect">
            <a:avLst/>
          </a:prstGeom>
          <a:solidFill>
            <a:srgbClr val="FFE0B2"/>
          </a:solidFill>
          <a:ln w="1016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641080" y="3922776"/>
            <a:ext cx="1417320" cy="265176"/>
          </a:xfrm>
          <a:prstGeom prst="rect">
            <a:avLst/>
          </a:prstGeom>
          <a:noFill/>
        </p:spPr>
        <p:txBody>
          <a:bodyPr wrap="square">
            <a:spAutoFit/>
          </a:bodyPr>
          <a:lstStyle/>
          <a:p>
            <a:pPr algn="ctr"/>
            <a:r>
              <a:rPr sz="800" b="0" i="0">
                <a:solidFill>
                  <a:srgbClr val="BF3600"/>
                </a:solidFill>
              </a:rPr>
              <a:t>notification.email.send</a:t>
            </a:r>
          </a:p>
        </p:txBody>
      </p:sp>
      <p:sp>
        <p:nvSpPr>
          <p:cNvPr id="53" name="Rectangle 52"/>
          <p:cNvSpPr/>
          <p:nvPr/>
        </p:nvSpPr>
        <p:spPr>
          <a:xfrm>
            <a:off x="10177272" y="3904487"/>
            <a:ext cx="1481328" cy="292608"/>
          </a:xfrm>
          <a:prstGeom prst="rect">
            <a:avLst/>
          </a:prstGeom>
          <a:solidFill>
            <a:srgbClr val="FFE0B2"/>
          </a:solidFill>
          <a:ln w="1016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213848" y="3922776"/>
            <a:ext cx="1417320" cy="265176"/>
          </a:xfrm>
          <a:prstGeom prst="rect">
            <a:avLst/>
          </a:prstGeom>
          <a:noFill/>
        </p:spPr>
        <p:txBody>
          <a:bodyPr wrap="square">
            <a:spAutoFit/>
          </a:bodyPr>
          <a:lstStyle/>
          <a:p>
            <a:pPr algn="ctr"/>
            <a:r>
              <a:rPr sz="800" b="0" i="0">
                <a:solidFill>
                  <a:srgbClr val="BF3600"/>
                </a:solidFill>
              </a:rPr>
              <a:t>analytics.order.completed</a:t>
            </a:r>
          </a:p>
        </p:txBody>
      </p:sp>
      <p:sp>
        <p:nvSpPr>
          <p:cNvPr id="55" name="Rectangle 54"/>
          <p:cNvSpPr/>
          <p:nvPr/>
        </p:nvSpPr>
        <p:spPr>
          <a:xfrm>
            <a:off x="274320" y="4617720"/>
            <a:ext cx="1920240" cy="658368"/>
          </a:xfrm>
          <a:prstGeom prst="rect">
            <a:avLst/>
          </a:prstGeom>
          <a:solidFill>
            <a:srgbClr val="E8F5E9"/>
          </a:solidFill>
          <a:ln w="19050">
            <a:solidFill>
              <a:srgbClr val="6B8F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29184" y="4663440"/>
            <a:ext cx="1828800" cy="594360"/>
          </a:xfrm>
          <a:prstGeom prst="rect">
            <a:avLst/>
          </a:prstGeom>
          <a:noFill/>
        </p:spPr>
        <p:txBody>
          <a:bodyPr wrap="square">
            <a:spAutoFit/>
          </a:bodyPr>
          <a:lstStyle/>
          <a:p>
            <a:pPr algn="ctr"/>
            <a:r>
              <a:rPr sz="1000" b="1" i="0">
                <a:solidFill>
                  <a:srgbClr val="2C1A0E"/>
                </a:solidFill>
              </a:rPr>
              <a:t>MySQL
(×8 DBs)</a:t>
            </a:r>
          </a:p>
        </p:txBody>
      </p:sp>
      <p:sp>
        <p:nvSpPr>
          <p:cNvPr id="57" name="Rectangle 56"/>
          <p:cNvSpPr/>
          <p:nvPr/>
        </p:nvSpPr>
        <p:spPr>
          <a:xfrm>
            <a:off x="2286000" y="4617720"/>
            <a:ext cx="1920240" cy="658368"/>
          </a:xfrm>
          <a:prstGeom prst="rect">
            <a:avLst/>
          </a:prstGeom>
          <a:solidFill>
            <a:srgbClr val="E8F5E9"/>
          </a:solidFill>
          <a:ln w="19050">
            <a:solidFill>
              <a:srgbClr val="6B8F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340864" y="4663440"/>
            <a:ext cx="1828800" cy="594360"/>
          </a:xfrm>
          <a:prstGeom prst="rect">
            <a:avLst/>
          </a:prstGeom>
          <a:noFill/>
        </p:spPr>
        <p:txBody>
          <a:bodyPr wrap="square">
            <a:spAutoFit/>
          </a:bodyPr>
          <a:lstStyle/>
          <a:p>
            <a:pPr algn="ctr"/>
            <a:r>
              <a:rPr sz="1000" b="1" i="0">
                <a:solidFill>
                  <a:srgbClr val="2C1A0E"/>
                </a:solidFill>
              </a:rPr>
              <a:t>Redis
Cache</a:t>
            </a:r>
          </a:p>
        </p:txBody>
      </p:sp>
      <p:sp>
        <p:nvSpPr>
          <p:cNvPr id="59" name="Rectangle 58"/>
          <p:cNvSpPr/>
          <p:nvPr/>
        </p:nvSpPr>
        <p:spPr>
          <a:xfrm>
            <a:off x="4297680" y="4617720"/>
            <a:ext cx="1920240" cy="658368"/>
          </a:xfrm>
          <a:prstGeom prst="rect">
            <a:avLst/>
          </a:prstGeom>
          <a:solidFill>
            <a:srgbClr val="E3F2FD"/>
          </a:solidFill>
          <a:ln w="19050">
            <a:solidFill>
              <a:srgbClr val="2D6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352544" y="4663440"/>
            <a:ext cx="1828800" cy="594360"/>
          </a:xfrm>
          <a:prstGeom prst="rect">
            <a:avLst/>
          </a:prstGeom>
          <a:noFill/>
        </p:spPr>
        <p:txBody>
          <a:bodyPr wrap="square">
            <a:spAutoFit/>
          </a:bodyPr>
          <a:lstStyle/>
          <a:p>
            <a:pPr algn="ctr"/>
            <a:r>
              <a:rPr sz="1000" b="1" i="0">
                <a:solidFill>
                  <a:srgbClr val="2C1A0E"/>
                </a:solidFill>
              </a:rPr>
              <a:t>Eureka
Server :8761</a:t>
            </a:r>
          </a:p>
        </p:txBody>
      </p:sp>
      <p:sp>
        <p:nvSpPr>
          <p:cNvPr id="61" name="Rectangle 60"/>
          <p:cNvSpPr/>
          <p:nvPr/>
        </p:nvSpPr>
        <p:spPr>
          <a:xfrm>
            <a:off x="6309360" y="4617720"/>
            <a:ext cx="1920240" cy="658368"/>
          </a:xfrm>
          <a:prstGeom prst="rect">
            <a:avLst/>
          </a:prstGeom>
          <a:solidFill>
            <a:srgbClr val="E3F2FD"/>
          </a:solidFill>
          <a:ln w="19050">
            <a:solidFill>
              <a:srgbClr val="2D6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364224" y="4663440"/>
            <a:ext cx="1828800" cy="594360"/>
          </a:xfrm>
          <a:prstGeom prst="rect">
            <a:avLst/>
          </a:prstGeom>
          <a:noFill/>
        </p:spPr>
        <p:txBody>
          <a:bodyPr wrap="square">
            <a:spAutoFit/>
          </a:bodyPr>
          <a:lstStyle/>
          <a:p>
            <a:pPr algn="ctr"/>
            <a:r>
              <a:rPr sz="1000" b="1" i="0">
                <a:solidFill>
                  <a:srgbClr val="2C1A0E"/>
                </a:solidFill>
              </a:rPr>
              <a:t>Config
Server :8888</a:t>
            </a:r>
          </a:p>
        </p:txBody>
      </p:sp>
      <p:sp>
        <p:nvSpPr>
          <p:cNvPr id="63" name="Rectangle 62"/>
          <p:cNvSpPr/>
          <p:nvPr/>
        </p:nvSpPr>
        <p:spPr>
          <a:xfrm>
            <a:off x="8321040" y="4617720"/>
            <a:ext cx="1920240" cy="658368"/>
          </a:xfrm>
          <a:prstGeom prst="rect">
            <a:avLst/>
          </a:prstGeom>
          <a:solidFill>
            <a:srgbClr val="FFF8E1"/>
          </a:solidFill>
          <a:ln w="19050">
            <a:solidFill>
              <a:srgbClr val="F57F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375904" y="4663440"/>
            <a:ext cx="1828800" cy="594360"/>
          </a:xfrm>
          <a:prstGeom prst="rect">
            <a:avLst/>
          </a:prstGeom>
          <a:noFill/>
        </p:spPr>
        <p:txBody>
          <a:bodyPr wrap="square">
            <a:spAutoFit/>
          </a:bodyPr>
          <a:lstStyle/>
          <a:p>
            <a:pPr algn="ctr"/>
            <a:r>
              <a:rPr sz="1000" b="1" i="0">
                <a:solidFill>
                  <a:srgbClr val="2C1A0E"/>
                </a:solidFill>
              </a:rPr>
              <a:t>AWS S3
(Images)</a:t>
            </a:r>
          </a:p>
        </p:txBody>
      </p:sp>
      <p:sp>
        <p:nvSpPr>
          <p:cNvPr id="65" name="Rectangle 64"/>
          <p:cNvSpPr/>
          <p:nvPr/>
        </p:nvSpPr>
        <p:spPr>
          <a:xfrm>
            <a:off x="10332720" y="4617720"/>
            <a:ext cx="1920240" cy="658368"/>
          </a:xfrm>
          <a:prstGeom prst="rect">
            <a:avLst/>
          </a:prstGeom>
          <a:solidFill>
            <a:srgbClr val="F3E5F5"/>
          </a:solidFill>
          <a:ln w="19050">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0387584" y="4663440"/>
            <a:ext cx="1828800" cy="594360"/>
          </a:xfrm>
          <a:prstGeom prst="rect">
            <a:avLst/>
          </a:prstGeom>
          <a:noFill/>
        </p:spPr>
        <p:txBody>
          <a:bodyPr wrap="square">
            <a:spAutoFit/>
          </a:bodyPr>
          <a:lstStyle/>
          <a:p>
            <a:pPr algn="ctr"/>
            <a:r>
              <a:rPr sz="1000" b="1" i="0">
                <a:solidFill>
                  <a:srgbClr val="2C1A0E"/>
                </a:solidFill>
              </a:rPr>
              <a:t>Gemini AI
(Suggestions)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DF6EC"/>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144000" cy="640080"/>
          </a:xfrm>
          <a:prstGeom prst="rect">
            <a:avLst/>
          </a:prstGeom>
          <a:noFill/>
        </p:spPr>
        <p:txBody>
          <a:bodyPr wrap="square">
            <a:spAutoFit/>
          </a:bodyPr>
          <a:lstStyle/>
          <a:p>
            <a:pPr algn="l"/>
            <a:r>
              <a:rPr sz="2800" b="1" i="0">
                <a:solidFill>
                  <a:srgbClr val="FFFBF5"/>
                </a:solidFill>
              </a:rPr>
              <a:t>AI Food Assistant</a:t>
            </a:r>
          </a:p>
        </p:txBody>
      </p:sp>
      <p:sp>
        <p:nvSpPr>
          <p:cNvPr id="4" name="TextBox 3"/>
          <p:cNvSpPr txBox="1"/>
          <p:nvPr/>
        </p:nvSpPr>
        <p:spPr>
          <a:xfrm>
            <a:off x="457200" y="749808"/>
            <a:ext cx="10058400" cy="411480"/>
          </a:xfrm>
          <a:prstGeom prst="rect">
            <a:avLst/>
          </a:prstGeom>
          <a:noFill/>
        </p:spPr>
        <p:txBody>
          <a:bodyPr wrap="square">
            <a:spAutoFit/>
          </a:bodyPr>
          <a:lstStyle/>
          <a:p>
            <a:pPr algn="l"/>
            <a:r>
              <a:rPr sz="1400" b="0" i="1">
                <a:solidFill>
                  <a:srgbClr val="F5A623"/>
                </a:solidFill>
              </a:rPr>
              <a:t>Google Gemini 2.5 Flash · Real menu · Personalised recommendations</a:t>
            </a:r>
          </a:p>
        </p:txBody>
      </p:sp>
      <p:sp>
        <p:nvSpPr>
          <p:cNvPr id="5" name="Rectangle 4"/>
          <p:cNvSpPr/>
          <p:nvPr/>
        </p:nvSpPr>
        <p:spPr>
          <a:xfrm>
            <a:off x="0" y="12344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600200"/>
            <a:ext cx="1737360" cy="96012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600200"/>
            <a:ext cx="1737360" cy="292608"/>
          </a:xfrm>
          <a:prstGeom prst="rect">
            <a:avLst/>
          </a:prstGeom>
          <a:noFill/>
        </p:spPr>
        <p:txBody>
          <a:bodyPr wrap="square">
            <a:spAutoFit/>
          </a:bodyPr>
          <a:lstStyle/>
          <a:p>
            <a:pPr algn="ctr"/>
            <a:r>
              <a:rPr sz="1100" b="1" i="0">
                <a:solidFill>
                  <a:srgbClr val="FFFBF5"/>
                </a:solidFill>
              </a:rPr>
              <a:t>1</a:t>
            </a:r>
          </a:p>
        </p:txBody>
      </p:sp>
      <p:sp>
        <p:nvSpPr>
          <p:cNvPr id="8" name="TextBox 7"/>
          <p:cNvSpPr txBox="1"/>
          <p:nvPr/>
        </p:nvSpPr>
        <p:spPr>
          <a:xfrm>
            <a:off x="365760" y="1874519"/>
            <a:ext cx="1645920" cy="640080"/>
          </a:xfrm>
          <a:prstGeom prst="rect">
            <a:avLst/>
          </a:prstGeom>
          <a:noFill/>
        </p:spPr>
        <p:txBody>
          <a:bodyPr wrap="square">
            <a:spAutoFit/>
          </a:bodyPr>
          <a:lstStyle/>
          <a:p>
            <a:pPr algn="ctr"/>
            <a:r>
              <a:rPr sz="1050" b="1" i="0">
                <a:solidFill>
                  <a:srgbClr val="FFFBF5"/>
                </a:solidFill>
              </a:rPr>
              <a:t>Customer
Opens Modal</a:t>
            </a:r>
          </a:p>
        </p:txBody>
      </p:sp>
      <p:sp>
        <p:nvSpPr>
          <p:cNvPr id="9" name="Rectangle 8"/>
          <p:cNvSpPr/>
          <p:nvPr/>
        </p:nvSpPr>
        <p:spPr>
          <a:xfrm>
            <a:off x="2057400" y="2039112"/>
            <a:ext cx="228600" cy="64008"/>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0" y="1600200"/>
            <a:ext cx="1737360" cy="96012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86000" y="1600200"/>
            <a:ext cx="1737360" cy="292608"/>
          </a:xfrm>
          <a:prstGeom prst="rect">
            <a:avLst/>
          </a:prstGeom>
          <a:noFill/>
        </p:spPr>
        <p:txBody>
          <a:bodyPr wrap="square">
            <a:spAutoFit/>
          </a:bodyPr>
          <a:lstStyle/>
          <a:p>
            <a:pPr algn="ctr"/>
            <a:r>
              <a:rPr sz="1100" b="1" i="0">
                <a:solidFill>
                  <a:srgbClr val="FFFBF5"/>
                </a:solidFill>
              </a:rPr>
              <a:t>2</a:t>
            </a:r>
          </a:p>
        </p:txBody>
      </p:sp>
      <p:sp>
        <p:nvSpPr>
          <p:cNvPr id="12" name="TextBox 11"/>
          <p:cNvSpPr txBox="1"/>
          <p:nvPr/>
        </p:nvSpPr>
        <p:spPr>
          <a:xfrm>
            <a:off x="2331720" y="1874519"/>
            <a:ext cx="1645920" cy="640080"/>
          </a:xfrm>
          <a:prstGeom prst="rect">
            <a:avLst/>
          </a:prstGeom>
          <a:noFill/>
        </p:spPr>
        <p:txBody>
          <a:bodyPr wrap="square">
            <a:spAutoFit/>
          </a:bodyPr>
          <a:lstStyle/>
          <a:p>
            <a:pPr algn="ctr"/>
            <a:r>
              <a:rPr sz="1050" b="1" i="0">
                <a:solidFill>
                  <a:srgbClr val="FFFBF5"/>
                </a:solidFill>
              </a:rPr>
              <a:t>Wizard
(7 steps)</a:t>
            </a:r>
          </a:p>
        </p:txBody>
      </p:sp>
      <p:sp>
        <p:nvSpPr>
          <p:cNvPr id="13" name="Rectangle 12"/>
          <p:cNvSpPr/>
          <p:nvPr/>
        </p:nvSpPr>
        <p:spPr>
          <a:xfrm>
            <a:off x="4023360" y="2039112"/>
            <a:ext cx="228600" cy="64008"/>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51960" y="1600200"/>
            <a:ext cx="1737360" cy="96012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51960" y="1600200"/>
            <a:ext cx="1737360" cy="292608"/>
          </a:xfrm>
          <a:prstGeom prst="rect">
            <a:avLst/>
          </a:prstGeom>
          <a:noFill/>
        </p:spPr>
        <p:txBody>
          <a:bodyPr wrap="square">
            <a:spAutoFit/>
          </a:bodyPr>
          <a:lstStyle/>
          <a:p>
            <a:pPr algn="ctr"/>
            <a:r>
              <a:rPr sz="1100" b="1" i="0">
                <a:solidFill>
                  <a:srgbClr val="FFFBF5"/>
                </a:solidFill>
              </a:rPr>
              <a:t>3</a:t>
            </a:r>
          </a:p>
        </p:txBody>
      </p:sp>
      <p:sp>
        <p:nvSpPr>
          <p:cNvPr id="16" name="TextBox 15"/>
          <p:cNvSpPr txBox="1"/>
          <p:nvPr/>
        </p:nvSpPr>
        <p:spPr>
          <a:xfrm>
            <a:off x="4297680" y="1874519"/>
            <a:ext cx="1645920" cy="640080"/>
          </a:xfrm>
          <a:prstGeom prst="rect">
            <a:avLst/>
          </a:prstGeom>
          <a:noFill/>
        </p:spPr>
        <p:txBody>
          <a:bodyPr wrap="square">
            <a:spAutoFit/>
          </a:bodyPr>
          <a:lstStyle/>
          <a:p>
            <a:pPr algn="ctr"/>
            <a:r>
              <a:rPr sz="1050" b="1" i="0">
                <a:solidFill>
                  <a:srgbClr val="FFFBF5"/>
                </a:solidFill>
              </a:rPr>
              <a:t>POST /api/v1
/menu/suggestions</a:t>
            </a:r>
          </a:p>
        </p:txBody>
      </p:sp>
      <p:sp>
        <p:nvSpPr>
          <p:cNvPr id="17" name="Rectangle 16"/>
          <p:cNvSpPr/>
          <p:nvPr/>
        </p:nvSpPr>
        <p:spPr>
          <a:xfrm>
            <a:off x="5989320" y="2039112"/>
            <a:ext cx="228600" cy="64008"/>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1600200"/>
            <a:ext cx="1737360" cy="9601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600200"/>
            <a:ext cx="1737360" cy="292608"/>
          </a:xfrm>
          <a:prstGeom prst="rect">
            <a:avLst/>
          </a:prstGeom>
          <a:noFill/>
        </p:spPr>
        <p:txBody>
          <a:bodyPr wrap="square">
            <a:spAutoFit/>
          </a:bodyPr>
          <a:lstStyle/>
          <a:p>
            <a:pPr algn="ctr"/>
            <a:r>
              <a:rPr sz="1100" b="1" i="0">
                <a:solidFill>
                  <a:srgbClr val="FFFBF5"/>
                </a:solidFill>
              </a:rPr>
              <a:t>4</a:t>
            </a:r>
          </a:p>
        </p:txBody>
      </p:sp>
      <p:sp>
        <p:nvSpPr>
          <p:cNvPr id="20" name="TextBox 19"/>
          <p:cNvSpPr txBox="1"/>
          <p:nvPr/>
        </p:nvSpPr>
        <p:spPr>
          <a:xfrm>
            <a:off x="6263640" y="1874519"/>
            <a:ext cx="1645920" cy="640080"/>
          </a:xfrm>
          <a:prstGeom prst="rect">
            <a:avLst/>
          </a:prstGeom>
          <a:noFill/>
        </p:spPr>
        <p:txBody>
          <a:bodyPr wrap="square">
            <a:spAutoFit/>
          </a:bodyPr>
          <a:lstStyle/>
          <a:p>
            <a:pPr algn="ctr"/>
            <a:r>
              <a:rPr sz="1050" b="1" i="0">
                <a:solidFill>
                  <a:srgbClr val="2C1A0E"/>
                </a:solidFill>
              </a:rPr>
              <a:t>Gemini
API Call</a:t>
            </a:r>
          </a:p>
        </p:txBody>
      </p:sp>
      <p:sp>
        <p:nvSpPr>
          <p:cNvPr id="21" name="Rectangle 20"/>
          <p:cNvSpPr/>
          <p:nvPr/>
        </p:nvSpPr>
        <p:spPr>
          <a:xfrm>
            <a:off x="7955280" y="2039112"/>
            <a:ext cx="228600" cy="64008"/>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83880" y="1600200"/>
            <a:ext cx="1737360" cy="9601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83880" y="1600200"/>
            <a:ext cx="1737360" cy="292608"/>
          </a:xfrm>
          <a:prstGeom prst="rect">
            <a:avLst/>
          </a:prstGeom>
          <a:noFill/>
        </p:spPr>
        <p:txBody>
          <a:bodyPr wrap="square">
            <a:spAutoFit/>
          </a:bodyPr>
          <a:lstStyle/>
          <a:p>
            <a:pPr algn="ctr"/>
            <a:r>
              <a:rPr sz="1100" b="1" i="0">
                <a:solidFill>
                  <a:srgbClr val="FFFBF5"/>
                </a:solidFill>
              </a:rPr>
              <a:t>5</a:t>
            </a:r>
          </a:p>
        </p:txBody>
      </p:sp>
      <p:sp>
        <p:nvSpPr>
          <p:cNvPr id="24" name="TextBox 23"/>
          <p:cNvSpPr txBox="1"/>
          <p:nvPr/>
        </p:nvSpPr>
        <p:spPr>
          <a:xfrm>
            <a:off x="8229600" y="1874519"/>
            <a:ext cx="1645920" cy="640080"/>
          </a:xfrm>
          <a:prstGeom prst="rect">
            <a:avLst/>
          </a:prstGeom>
          <a:noFill/>
        </p:spPr>
        <p:txBody>
          <a:bodyPr wrap="square">
            <a:spAutoFit/>
          </a:bodyPr>
          <a:lstStyle/>
          <a:p>
            <a:pPr algn="ctr"/>
            <a:r>
              <a:rPr sz="1050" b="1" i="0">
                <a:solidFill>
                  <a:srgbClr val="2C1A0E"/>
                </a:solidFill>
              </a:rPr>
              <a:t>Filter &amp;
Rank Results</a:t>
            </a:r>
          </a:p>
        </p:txBody>
      </p:sp>
      <p:sp>
        <p:nvSpPr>
          <p:cNvPr id="25" name="Rectangle 24"/>
          <p:cNvSpPr/>
          <p:nvPr/>
        </p:nvSpPr>
        <p:spPr>
          <a:xfrm>
            <a:off x="9921240" y="2039112"/>
            <a:ext cx="228600" cy="64008"/>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149840" y="1600200"/>
            <a:ext cx="1737360" cy="96012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149840" y="1600200"/>
            <a:ext cx="1737360" cy="292608"/>
          </a:xfrm>
          <a:prstGeom prst="rect">
            <a:avLst/>
          </a:prstGeom>
          <a:noFill/>
        </p:spPr>
        <p:txBody>
          <a:bodyPr wrap="square">
            <a:spAutoFit/>
          </a:bodyPr>
          <a:lstStyle/>
          <a:p>
            <a:pPr algn="ctr"/>
            <a:r>
              <a:rPr sz="1100" b="1" i="0">
                <a:solidFill>
                  <a:srgbClr val="FFFBF5"/>
                </a:solidFill>
              </a:rPr>
              <a:t>6</a:t>
            </a:r>
          </a:p>
        </p:txBody>
      </p:sp>
      <p:sp>
        <p:nvSpPr>
          <p:cNvPr id="28" name="TextBox 27"/>
          <p:cNvSpPr txBox="1"/>
          <p:nvPr/>
        </p:nvSpPr>
        <p:spPr>
          <a:xfrm>
            <a:off x="10195560" y="1874519"/>
            <a:ext cx="1645920" cy="640080"/>
          </a:xfrm>
          <a:prstGeom prst="rect">
            <a:avLst/>
          </a:prstGeom>
          <a:noFill/>
        </p:spPr>
        <p:txBody>
          <a:bodyPr wrap="square">
            <a:spAutoFit/>
          </a:bodyPr>
          <a:lstStyle/>
          <a:p>
            <a:pPr algn="ctr"/>
            <a:r>
              <a:rPr sz="1050" b="1" i="0">
                <a:solidFill>
                  <a:srgbClr val="FFFBF5"/>
                </a:solidFill>
              </a:rPr>
              <a:t>Suggestions
Returned</a:t>
            </a:r>
          </a:p>
        </p:txBody>
      </p:sp>
      <p:sp>
        <p:nvSpPr>
          <p:cNvPr id="29" name="Rectangle 28"/>
          <p:cNvSpPr/>
          <p:nvPr/>
        </p:nvSpPr>
        <p:spPr>
          <a:xfrm>
            <a:off x="320040" y="2834640"/>
            <a:ext cx="5303520" cy="3383280"/>
          </a:xfrm>
          <a:prstGeom prst="rect">
            <a:avLst/>
          </a:prstGeom>
          <a:solidFill>
            <a:srgbClr val="2C1A0E"/>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2907792"/>
            <a:ext cx="5029200" cy="347472"/>
          </a:xfrm>
          <a:prstGeom prst="rect">
            <a:avLst/>
          </a:prstGeom>
          <a:noFill/>
        </p:spPr>
        <p:txBody>
          <a:bodyPr wrap="square">
            <a:spAutoFit/>
          </a:bodyPr>
          <a:lstStyle/>
          <a:p>
            <a:pPr algn="l"/>
            <a:r>
              <a:rPr sz="1300" b="1" i="0">
                <a:solidFill>
                  <a:srgbClr val="F5A623"/>
                </a:solidFill>
              </a:rPr>
              <a:t>📤  Request Payload</a:t>
            </a:r>
          </a:p>
        </p:txBody>
      </p:sp>
      <p:sp>
        <p:nvSpPr>
          <p:cNvPr id="31" name="TextBox 30"/>
          <p:cNvSpPr txBox="1"/>
          <p:nvPr/>
        </p:nvSpPr>
        <p:spPr>
          <a:xfrm>
            <a:off x="457200" y="3273552"/>
            <a:ext cx="5074920" cy="2834640"/>
          </a:xfrm>
          <a:prstGeom prst="rect">
            <a:avLst/>
          </a:prstGeom>
          <a:noFill/>
        </p:spPr>
        <p:txBody>
          <a:bodyPr wrap="square">
            <a:spAutoFit/>
          </a:bodyPr>
          <a:lstStyle/>
          <a:p>
            <a:pPr algn="l"/>
            <a:r>
              <a:rPr sz="1050" b="0" i="0">
                <a:solidFill>
                  <a:srgbClr val="A5D6A7"/>
                </a:solidFill>
              </a:rPr>
              <a:t>{
  "branchId":   "ae8f6ec1-...",
  "budget":     5000,
  "mealType":   "dinner",
  "appetite":   "heavy",
  "peopleCount": 2,
  "fulfillmentType": "dine-in",
  "dietaryPreferences": ["halal"],
  "limit": 5
}</a:t>
            </a:r>
          </a:p>
        </p:txBody>
      </p:sp>
      <p:sp>
        <p:nvSpPr>
          <p:cNvPr id="32" name="Rectangle 31"/>
          <p:cNvSpPr/>
          <p:nvPr/>
        </p:nvSpPr>
        <p:spPr>
          <a:xfrm>
            <a:off x="5852160" y="2834640"/>
            <a:ext cx="5989320" cy="3383280"/>
          </a:xfrm>
          <a:prstGeom prst="rect">
            <a:avLst/>
          </a:prstGeom>
          <a:solidFill>
            <a:srgbClr val="2C1A0E"/>
          </a:solidFill>
          <a:ln w="19050">
            <a:solidFill>
              <a:srgbClr val="6B8F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89320" y="2907792"/>
            <a:ext cx="5760720" cy="347472"/>
          </a:xfrm>
          <a:prstGeom prst="rect">
            <a:avLst/>
          </a:prstGeom>
          <a:noFill/>
        </p:spPr>
        <p:txBody>
          <a:bodyPr wrap="square">
            <a:spAutoFit/>
          </a:bodyPr>
          <a:lstStyle/>
          <a:p>
            <a:pPr algn="l"/>
            <a:r>
              <a:rPr sz="1300" b="1" i="0">
                <a:solidFill>
                  <a:srgbClr val="6B8F71"/>
                </a:solidFill>
              </a:rPr>
              <a:t>📥  AI Response</a:t>
            </a:r>
          </a:p>
        </p:txBody>
      </p:sp>
      <p:sp>
        <p:nvSpPr>
          <p:cNvPr id="34" name="TextBox 33"/>
          <p:cNvSpPr txBox="1"/>
          <p:nvPr/>
        </p:nvSpPr>
        <p:spPr>
          <a:xfrm>
            <a:off x="5989320" y="3273552"/>
            <a:ext cx="5760720" cy="2834640"/>
          </a:xfrm>
          <a:prstGeom prst="rect">
            <a:avLst/>
          </a:prstGeom>
          <a:noFill/>
        </p:spPr>
        <p:txBody>
          <a:bodyPr wrap="square">
            <a:spAutoFit/>
          </a:bodyPr>
          <a:lstStyle/>
          <a:p>
            <a:pPr algn="l"/>
            <a:r>
              <a:rPr sz="1050" b="0" i="0">
                <a:solidFill>
                  <a:srgbClr val="A5D6A7"/>
                </a:solidFill>
              </a:rPr>
              <a:t>{
  "readyForSuggestions": true,
  "message": "Here are AI-picked options...",
  "suggestions": [
    {
      "menuItemName": "Grilled Chicken Jollof",
      "price": 3500,
      "reason": "High-protein halal dinner, great value for 2",
      "estimatedTotalCost": 7000,
      "optionalAddOns": ["Coleslaw", "Zobo Drink"]
    }
  ]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DF6EC"/>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144000" cy="640080"/>
          </a:xfrm>
          <a:prstGeom prst="rect">
            <a:avLst/>
          </a:prstGeom>
          <a:noFill/>
        </p:spPr>
        <p:txBody>
          <a:bodyPr wrap="square">
            <a:spAutoFit/>
          </a:bodyPr>
          <a:lstStyle/>
          <a:p>
            <a:pPr algn="l"/>
            <a:r>
              <a:rPr sz="2800" b="1" i="0">
                <a:solidFill>
                  <a:srgbClr val="FFFBF5"/>
                </a:solidFill>
              </a:rPr>
              <a:t>Real-Time Kitchen Display &amp; SLA Monitoring</a:t>
            </a:r>
          </a:p>
        </p:txBody>
      </p:sp>
      <p:sp>
        <p:nvSpPr>
          <p:cNvPr id="4" name="TextBox 3"/>
          <p:cNvSpPr txBox="1"/>
          <p:nvPr/>
        </p:nvSpPr>
        <p:spPr>
          <a:xfrm>
            <a:off x="457200" y="749808"/>
            <a:ext cx="10058400" cy="411480"/>
          </a:xfrm>
          <a:prstGeom prst="rect">
            <a:avLst/>
          </a:prstGeom>
          <a:noFill/>
        </p:spPr>
        <p:txBody>
          <a:bodyPr wrap="square">
            <a:spAutoFit/>
          </a:bodyPr>
          <a:lstStyle/>
          <a:p>
            <a:pPr algn="l"/>
            <a:r>
              <a:rPr sz="1400" b="0" i="1">
                <a:solidFill>
                  <a:srgbClr val="F5A623"/>
                </a:solidFill>
              </a:rPr>
              <a:t>Zero orders missed · Redis-backed · Kafka-driven</a:t>
            </a:r>
          </a:p>
        </p:txBody>
      </p:sp>
      <p:sp>
        <p:nvSpPr>
          <p:cNvPr id="5" name="Rectangle 4"/>
          <p:cNvSpPr/>
          <p:nvPr/>
        </p:nvSpPr>
        <p:spPr>
          <a:xfrm>
            <a:off x="0" y="12344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417320"/>
            <a:ext cx="5029200" cy="365760"/>
          </a:xfrm>
          <a:prstGeom prst="rect">
            <a:avLst/>
          </a:prstGeom>
          <a:noFill/>
        </p:spPr>
        <p:txBody>
          <a:bodyPr wrap="square">
            <a:spAutoFit/>
          </a:bodyPr>
          <a:lstStyle/>
          <a:p>
            <a:pPr algn="l"/>
            <a:r>
              <a:rPr sz="1500" b="1" i="0">
                <a:solidFill>
                  <a:srgbClr val="2C1A0E"/>
                </a:solidFill>
              </a:rPr>
              <a:t>Event Flow</a:t>
            </a:r>
          </a:p>
        </p:txBody>
      </p:sp>
      <p:sp>
        <p:nvSpPr>
          <p:cNvPr id="7" name="Rectangle 6"/>
          <p:cNvSpPr/>
          <p:nvPr/>
        </p:nvSpPr>
        <p:spPr>
          <a:xfrm>
            <a:off x="365760" y="1874519"/>
            <a:ext cx="5029200" cy="420624"/>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911095"/>
            <a:ext cx="4754880" cy="347472"/>
          </a:xfrm>
          <a:prstGeom prst="rect">
            <a:avLst/>
          </a:prstGeom>
          <a:noFill/>
        </p:spPr>
        <p:txBody>
          <a:bodyPr wrap="square">
            <a:spAutoFit/>
          </a:bodyPr>
          <a:lstStyle/>
          <a:p>
            <a:pPr algn="l"/>
            <a:r>
              <a:rPr sz="1150" b="1" i="0">
                <a:solidFill>
                  <a:srgbClr val="FFFBF5"/>
                </a:solidFill>
              </a:rPr>
              <a:t>Order Placed (Customer)</a:t>
            </a:r>
          </a:p>
        </p:txBody>
      </p:sp>
      <p:sp>
        <p:nvSpPr>
          <p:cNvPr id="9" name="Rectangle 8"/>
          <p:cNvSpPr/>
          <p:nvPr/>
        </p:nvSpPr>
        <p:spPr>
          <a:xfrm>
            <a:off x="2834640" y="2295143"/>
            <a:ext cx="45720" cy="164592"/>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459735"/>
            <a:ext cx="5029200" cy="420624"/>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496311"/>
            <a:ext cx="4754880" cy="347472"/>
          </a:xfrm>
          <a:prstGeom prst="rect">
            <a:avLst/>
          </a:prstGeom>
          <a:noFill/>
        </p:spPr>
        <p:txBody>
          <a:bodyPr wrap="square">
            <a:spAutoFit/>
          </a:bodyPr>
          <a:lstStyle/>
          <a:p>
            <a:pPr algn="l"/>
            <a:r>
              <a:rPr sz="1150" b="1" i="0">
                <a:solidFill>
                  <a:srgbClr val="FFFBF5"/>
                </a:solidFill>
              </a:rPr>
              <a:t>Kafka: order.created</a:t>
            </a:r>
          </a:p>
        </p:txBody>
      </p:sp>
      <p:sp>
        <p:nvSpPr>
          <p:cNvPr id="12" name="Rectangle 11"/>
          <p:cNvSpPr/>
          <p:nvPr/>
        </p:nvSpPr>
        <p:spPr>
          <a:xfrm>
            <a:off x="2834640" y="2880359"/>
            <a:ext cx="45720" cy="164592"/>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3044951"/>
            <a:ext cx="5029200" cy="420624"/>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81527"/>
            <a:ext cx="4754880" cy="347472"/>
          </a:xfrm>
          <a:prstGeom prst="rect">
            <a:avLst/>
          </a:prstGeom>
          <a:noFill/>
        </p:spPr>
        <p:txBody>
          <a:bodyPr wrap="square">
            <a:spAutoFit/>
          </a:bodyPr>
          <a:lstStyle/>
          <a:p>
            <a:pPr algn="l"/>
            <a:r>
              <a:rPr sz="1150" b="1" i="0">
                <a:solidFill>
                  <a:srgbClr val="FFFBF5"/>
                </a:solidFill>
              </a:rPr>
              <a:t>KitchenEventConsumer</a:t>
            </a:r>
          </a:p>
        </p:txBody>
      </p:sp>
      <p:sp>
        <p:nvSpPr>
          <p:cNvPr id="15" name="Rectangle 14"/>
          <p:cNvSpPr/>
          <p:nvPr/>
        </p:nvSpPr>
        <p:spPr>
          <a:xfrm>
            <a:off x="2834640" y="3465575"/>
            <a:ext cx="45720" cy="164592"/>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3630167"/>
            <a:ext cx="5029200" cy="420624"/>
          </a:xfrm>
          <a:prstGeom prst="rect">
            <a:avLst/>
          </a:prstGeom>
          <a:solidFill>
            <a:srgbClr val="6B8F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3666743"/>
            <a:ext cx="4754880" cy="347472"/>
          </a:xfrm>
          <a:prstGeom prst="rect">
            <a:avLst/>
          </a:prstGeom>
          <a:noFill/>
        </p:spPr>
        <p:txBody>
          <a:bodyPr wrap="square">
            <a:spAutoFit/>
          </a:bodyPr>
          <a:lstStyle/>
          <a:p>
            <a:pPr algn="l"/>
            <a:r>
              <a:rPr sz="1150" b="1" i="0">
                <a:solidFill>
                  <a:srgbClr val="FFFBF5"/>
                </a:solidFill>
              </a:rPr>
              <a:t>Redis Priority Queue</a:t>
            </a:r>
          </a:p>
        </p:txBody>
      </p:sp>
      <p:sp>
        <p:nvSpPr>
          <p:cNvPr id="18" name="Rectangle 17"/>
          <p:cNvSpPr/>
          <p:nvPr/>
        </p:nvSpPr>
        <p:spPr>
          <a:xfrm>
            <a:off x="2834640" y="4050791"/>
            <a:ext cx="45720" cy="164592"/>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4215383"/>
            <a:ext cx="5029200" cy="420624"/>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4251959"/>
            <a:ext cx="4754880" cy="347472"/>
          </a:xfrm>
          <a:prstGeom prst="rect">
            <a:avLst/>
          </a:prstGeom>
          <a:noFill/>
        </p:spPr>
        <p:txBody>
          <a:bodyPr wrap="square">
            <a:spAutoFit/>
          </a:bodyPr>
          <a:lstStyle/>
          <a:p>
            <a:pPr algn="l"/>
            <a:r>
              <a:rPr sz="1150" b="1" i="0">
                <a:solidFill>
                  <a:srgbClr val="FFFBF5"/>
                </a:solidFill>
              </a:rPr>
              <a:t>Kitchen Staff Dashboard</a:t>
            </a:r>
          </a:p>
        </p:txBody>
      </p:sp>
      <p:sp>
        <p:nvSpPr>
          <p:cNvPr id="21" name="Rectangle 20"/>
          <p:cNvSpPr/>
          <p:nvPr/>
        </p:nvSpPr>
        <p:spPr>
          <a:xfrm>
            <a:off x="2834640" y="4636007"/>
            <a:ext cx="45720" cy="164592"/>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4800599"/>
            <a:ext cx="5029200" cy="420624"/>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4837175"/>
            <a:ext cx="4754880" cy="347472"/>
          </a:xfrm>
          <a:prstGeom prst="rect">
            <a:avLst/>
          </a:prstGeom>
          <a:noFill/>
        </p:spPr>
        <p:txBody>
          <a:bodyPr wrap="square">
            <a:spAutoFit/>
          </a:bodyPr>
          <a:lstStyle/>
          <a:p>
            <a:pPr algn="l"/>
            <a:r>
              <a:rPr sz="1150" b="1" i="0">
                <a:solidFill>
                  <a:srgbClr val="FFFBF5"/>
                </a:solidFill>
              </a:rPr>
              <a:t>Kafka: kitchen.order.updated</a:t>
            </a:r>
          </a:p>
        </p:txBody>
      </p:sp>
      <p:sp>
        <p:nvSpPr>
          <p:cNvPr id="24" name="Rectangle 23"/>
          <p:cNvSpPr/>
          <p:nvPr/>
        </p:nvSpPr>
        <p:spPr>
          <a:xfrm>
            <a:off x="2834640" y="5221223"/>
            <a:ext cx="45720" cy="164592"/>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5760" y="5385815"/>
            <a:ext cx="5029200" cy="420624"/>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5422391"/>
            <a:ext cx="4754880" cy="347472"/>
          </a:xfrm>
          <a:prstGeom prst="rect">
            <a:avLst/>
          </a:prstGeom>
          <a:noFill/>
        </p:spPr>
        <p:txBody>
          <a:bodyPr wrap="square">
            <a:spAutoFit/>
          </a:bodyPr>
          <a:lstStyle/>
          <a:p>
            <a:pPr algn="l"/>
            <a:r>
              <a:rPr sz="1150" b="1" i="0">
                <a:solidFill>
                  <a:srgbClr val="FFFBF5"/>
                </a:solidFill>
              </a:rPr>
              <a:t>Order Status Updated</a:t>
            </a:r>
          </a:p>
        </p:txBody>
      </p:sp>
      <p:sp>
        <p:nvSpPr>
          <p:cNvPr id="27" name="Rectangle 26"/>
          <p:cNvSpPr/>
          <p:nvPr/>
        </p:nvSpPr>
        <p:spPr>
          <a:xfrm>
            <a:off x="2834640" y="5806439"/>
            <a:ext cx="45720" cy="164592"/>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760720" y="1417320"/>
            <a:ext cx="6080760" cy="5166360"/>
          </a:xfrm>
          <a:prstGeom prst="rect">
            <a:avLst/>
          </a:prstGeom>
          <a:solidFill>
            <a:srgbClr val="FFFBF5"/>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97880" y="1508760"/>
            <a:ext cx="5852160" cy="384048"/>
          </a:xfrm>
          <a:prstGeom prst="rect">
            <a:avLst/>
          </a:prstGeom>
          <a:noFill/>
        </p:spPr>
        <p:txBody>
          <a:bodyPr wrap="square">
            <a:spAutoFit/>
          </a:bodyPr>
          <a:lstStyle/>
          <a:p>
            <a:pPr algn="l"/>
            <a:r>
              <a:rPr sz="1400" b="1" i="0">
                <a:solidFill>
                  <a:srgbClr val="2C1A0E"/>
                </a:solidFill>
              </a:rPr>
              <a:t>⏱️  SLA Monitoring Engine</a:t>
            </a:r>
          </a:p>
        </p:txBody>
      </p:sp>
      <p:sp>
        <p:nvSpPr>
          <p:cNvPr id="30" name="Rectangle 29"/>
          <p:cNvSpPr/>
          <p:nvPr/>
        </p:nvSpPr>
        <p:spPr>
          <a:xfrm>
            <a:off x="5897880" y="1901952"/>
            <a:ext cx="5669280"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0" y="1993392"/>
            <a:ext cx="5760720" cy="274320"/>
          </a:xfrm>
          <a:prstGeom prst="rect">
            <a:avLst/>
          </a:prstGeom>
          <a:noFill/>
        </p:spPr>
        <p:txBody>
          <a:bodyPr wrap="square">
            <a:spAutoFit/>
          </a:bodyPr>
          <a:lstStyle/>
          <a:p>
            <a:pPr algn="l"/>
            <a:r>
              <a:rPr sz="1150" b="0" i="0">
                <a:solidFill>
                  <a:srgbClr val="3D3D3D"/>
                </a:solidFill>
              </a:rPr>
              <a:t>Scheduled monitor checks every 60 seconds</a:t>
            </a:r>
          </a:p>
        </p:txBody>
      </p:sp>
      <p:sp>
        <p:nvSpPr>
          <p:cNvPr id="32" name="TextBox 31"/>
          <p:cNvSpPr txBox="1"/>
          <p:nvPr/>
        </p:nvSpPr>
        <p:spPr>
          <a:xfrm>
            <a:off x="5943600" y="2304288"/>
            <a:ext cx="5760720" cy="274320"/>
          </a:xfrm>
          <a:prstGeom prst="rect">
            <a:avLst/>
          </a:prstGeom>
          <a:noFill/>
        </p:spPr>
        <p:txBody>
          <a:bodyPr wrap="square">
            <a:spAutoFit/>
          </a:bodyPr>
          <a:lstStyle/>
          <a:p>
            <a:pPr algn="l"/>
            <a:r>
              <a:rPr sz="1150" b="0" i="0">
                <a:solidFill>
                  <a:srgbClr val="3D3D3D"/>
                </a:solidFill>
              </a:rPr>
              <a:t>Calculates elapsed time per queued order</a:t>
            </a:r>
          </a:p>
        </p:txBody>
      </p:sp>
      <p:sp>
        <p:nvSpPr>
          <p:cNvPr id="33" name="TextBox 32"/>
          <p:cNvSpPr txBox="1"/>
          <p:nvPr/>
        </p:nvSpPr>
        <p:spPr>
          <a:xfrm>
            <a:off x="5943600" y="2615184"/>
            <a:ext cx="5760720" cy="274320"/>
          </a:xfrm>
          <a:prstGeom prst="rect">
            <a:avLst/>
          </a:prstGeom>
          <a:noFill/>
        </p:spPr>
        <p:txBody>
          <a:bodyPr wrap="square">
            <a:spAutoFit/>
          </a:bodyPr>
          <a:lstStyle/>
          <a:p>
            <a:pPr algn="l"/>
            <a:r>
              <a:rPr sz="1150" b="0" i="0">
                <a:solidFill>
                  <a:srgbClr val="3D3D3D"/>
                </a:solidFill>
              </a:rPr>
              <a:t>Flags orders approaching SLA threshold</a:t>
            </a:r>
          </a:p>
        </p:txBody>
      </p:sp>
      <p:sp>
        <p:nvSpPr>
          <p:cNvPr id="34" name="TextBox 33"/>
          <p:cNvSpPr txBox="1"/>
          <p:nvPr/>
        </p:nvSpPr>
        <p:spPr>
          <a:xfrm>
            <a:off x="5943600" y="2926080"/>
            <a:ext cx="5760720" cy="274320"/>
          </a:xfrm>
          <a:prstGeom prst="rect">
            <a:avLst/>
          </a:prstGeom>
          <a:noFill/>
        </p:spPr>
        <p:txBody>
          <a:bodyPr wrap="square">
            <a:spAutoFit/>
          </a:bodyPr>
          <a:lstStyle/>
          <a:p>
            <a:pPr algn="l"/>
            <a:r>
              <a:rPr sz="1150" b="0" i="0">
                <a:solidFill>
                  <a:srgbClr val="3D3D3D"/>
                </a:solidFill>
              </a:rPr>
              <a:t>Kitchen staff see colour-coded urgency</a:t>
            </a:r>
          </a:p>
        </p:txBody>
      </p:sp>
      <p:sp>
        <p:nvSpPr>
          <p:cNvPr id="35" name="TextBox 34"/>
          <p:cNvSpPr txBox="1"/>
          <p:nvPr/>
        </p:nvSpPr>
        <p:spPr>
          <a:xfrm>
            <a:off x="5943600" y="3236976"/>
            <a:ext cx="5760720" cy="274320"/>
          </a:xfrm>
          <a:prstGeom prst="rect">
            <a:avLst/>
          </a:prstGeom>
          <a:noFill/>
        </p:spPr>
        <p:txBody>
          <a:bodyPr wrap="square">
            <a:spAutoFit/>
          </a:bodyPr>
          <a:lstStyle/>
          <a:p>
            <a:pPr algn="l"/>
            <a:r>
              <a:rPr sz="1150" b="0" i="0">
                <a:solidFill>
                  <a:srgbClr val="3D3D3D"/>
                </a:solidFill>
              </a:rPr>
              <a:t>WebSocket push — no page refresh needed</a:t>
            </a:r>
          </a:p>
        </p:txBody>
      </p:sp>
      <p:sp>
        <p:nvSpPr>
          <p:cNvPr id="36" name="TextBox 35"/>
          <p:cNvSpPr txBox="1"/>
          <p:nvPr/>
        </p:nvSpPr>
        <p:spPr>
          <a:xfrm>
            <a:off x="5943600" y="3547872"/>
            <a:ext cx="5760720" cy="274320"/>
          </a:xfrm>
          <a:prstGeom prst="rect">
            <a:avLst/>
          </a:prstGeom>
          <a:noFill/>
        </p:spPr>
        <p:txBody>
          <a:bodyPr wrap="square">
            <a:spAutoFit/>
          </a:bodyPr>
          <a:lstStyle/>
          <a:p>
            <a:pPr algn="l"/>
            <a:r>
              <a:rPr sz="1150" b="0" i="0">
                <a:solidFill>
                  <a:srgbClr val="3D3D3D"/>
                </a:solidFill>
              </a:rPr>
              <a:t/>
            </a:r>
          </a:p>
        </p:txBody>
      </p:sp>
      <p:sp>
        <p:nvSpPr>
          <p:cNvPr id="37" name="TextBox 36"/>
          <p:cNvSpPr txBox="1"/>
          <p:nvPr/>
        </p:nvSpPr>
        <p:spPr>
          <a:xfrm>
            <a:off x="5943600" y="3858768"/>
            <a:ext cx="5760720" cy="274320"/>
          </a:xfrm>
          <a:prstGeom prst="rect">
            <a:avLst/>
          </a:prstGeom>
          <a:noFill/>
        </p:spPr>
        <p:txBody>
          <a:bodyPr wrap="square">
            <a:spAutoFit/>
          </a:bodyPr>
          <a:lstStyle/>
          <a:p>
            <a:pPr algn="l"/>
            <a:r>
              <a:rPr sz="1150" b="1" i="0">
                <a:solidFill>
                  <a:srgbClr val="F5A623"/>
                </a:solidFill>
              </a:rPr>
              <a:t>Kitchen Order States:</a:t>
            </a:r>
          </a:p>
        </p:txBody>
      </p:sp>
      <p:sp>
        <p:nvSpPr>
          <p:cNvPr id="38" name="TextBox 37"/>
          <p:cNvSpPr txBox="1"/>
          <p:nvPr/>
        </p:nvSpPr>
        <p:spPr>
          <a:xfrm>
            <a:off x="5943600" y="4169664"/>
            <a:ext cx="5760720" cy="274320"/>
          </a:xfrm>
          <a:prstGeom prst="rect">
            <a:avLst/>
          </a:prstGeom>
          <a:noFill/>
        </p:spPr>
        <p:txBody>
          <a:bodyPr wrap="square">
            <a:spAutoFit/>
          </a:bodyPr>
          <a:lstStyle/>
          <a:p>
            <a:pPr algn="l"/>
            <a:r>
              <a:rPr sz="1150" b="1" i="0">
                <a:solidFill>
                  <a:srgbClr val="3D3D3D"/>
                </a:solidFill>
              </a:rPr>
              <a:t>  QUEUED → PREPARING → READY → PICKED_UP</a:t>
            </a:r>
          </a:p>
        </p:txBody>
      </p:sp>
      <p:sp>
        <p:nvSpPr>
          <p:cNvPr id="39" name="TextBox 38"/>
          <p:cNvSpPr txBox="1"/>
          <p:nvPr/>
        </p:nvSpPr>
        <p:spPr>
          <a:xfrm>
            <a:off x="5943600" y="4480560"/>
            <a:ext cx="5760720" cy="274320"/>
          </a:xfrm>
          <a:prstGeom prst="rect">
            <a:avLst/>
          </a:prstGeom>
          <a:noFill/>
        </p:spPr>
        <p:txBody>
          <a:bodyPr wrap="square">
            <a:spAutoFit/>
          </a:bodyPr>
          <a:lstStyle/>
          <a:p>
            <a:pPr algn="l"/>
            <a:r>
              <a:rPr sz="1150" b="0" i="0">
                <a:solidFill>
                  <a:srgbClr val="3D3D3D"/>
                </a:solidFill>
              </a:rPr>
              <a:t>  CANCELLED (with reason)</a:t>
            </a:r>
          </a:p>
        </p:txBody>
      </p:sp>
      <p:sp>
        <p:nvSpPr>
          <p:cNvPr id="40" name="TextBox 39"/>
          <p:cNvSpPr txBox="1"/>
          <p:nvPr/>
        </p:nvSpPr>
        <p:spPr>
          <a:xfrm>
            <a:off x="5943600" y="4791456"/>
            <a:ext cx="5760720" cy="274320"/>
          </a:xfrm>
          <a:prstGeom prst="rect">
            <a:avLst/>
          </a:prstGeom>
          <a:noFill/>
        </p:spPr>
        <p:txBody>
          <a:bodyPr wrap="square">
            <a:spAutoFit/>
          </a:bodyPr>
          <a:lstStyle/>
          <a:p>
            <a:pPr algn="l"/>
            <a:r>
              <a:rPr sz="1150" b="0" i="0">
                <a:solidFill>
                  <a:srgbClr val="3D3D3D"/>
                </a:solidFill>
              </a:rPr>
              <a:t/>
            </a:r>
          </a:p>
        </p:txBody>
      </p:sp>
      <p:sp>
        <p:nvSpPr>
          <p:cNvPr id="41" name="TextBox 40"/>
          <p:cNvSpPr txBox="1"/>
          <p:nvPr/>
        </p:nvSpPr>
        <p:spPr>
          <a:xfrm>
            <a:off x="5943600" y="5102352"/>
            <a:ext cx="5760720" cy="274320"/>
          </a:xfrm>
          <a:prstGeom prst="rect">
            <a:avLst/>
          </a:prstGeom>
          <a:noFill/>
        </p:spPr>
        <p:txBody>
          <a:bodyPr wrap="square">
            <a:spAutoFit/>
          </a:bodyPr>
          <a:lstStyle/>
          <a:p>
            <a:pPr algn="l"/>
            <a:r>
              <a:rPr sz="1150" b="1" i="0">
                <a:solidFill>
                  <a:srgbClr val="F5A623"/>
                </a:solidFill>
              </a:rPr>
              <a:t>Redis Cache Benefits:</a:t>
            </a:r>
          </a:p>
        </p:txBody>
      </p:sp>
      <p:sp>
        <p:nvSpPr>
          <p:cNvPr id="42" name="TextBox 41"/>
          <p:cNvSpPr txBox="1"/>
          <p:nvPr/>
        </p:nvSpPr>
        <p:spPr>
          <a:xfrm>
            <a:off x="5943600" y="5413248"/>
            <a:ext cx="5760720" cy="274320"/>
          </a:xfrm>
          <a:prstGeom prst="rect">
            <a:avLst/>
          </a:prstGeom>
          <a:noFill/>
        </p:spPr>
        <p:txBody>
          <a:bodyPr wrap="square">
            <a:spAutoFit/>
          </a:bodyPr>
          <a:lstStyle/>
          <a:p>
            <a:pPr algn="l"/>
            <a:r>
              <a:rPr sz="1150" b="0" i="0">
                <a:solidFill>
                  <a:srgbClr val="3D3D3D"/>
                </a:solidFill>
              </a:rPr>
              <a:t>  • Sub-millisecond queue reads</a:t>
            </a:r>
          </a:p>
        </p:txBody>
      </p:sp>
      <p:sp>
        <p:nvSpPr>
          <p:cNvPr id="43" name="TextBox 42"/>
          <p:cNvSpPr txBox="1"/>
          <p:nvPr/>
        </p:nvSpPr>
        <p:spPr>
          <a:xfrm>
            <a:off x="5943600" y="5724144"/>
            <a:ext cx="5760720" cy="274320"/>
          </a:xfrm>
          <a:prstGeom prst="rect">
            <a:avLst/>
          </a:prstGeom>
          <a:noFill/>
        </p:spPr>
        <p:txBody>
          <a:bodyPr wrap="square">
            <a:spAutoFit/>
          </a:bodyPr>
          <a:lstStyle/>
          <a:p>
            <a:pPr algn="l"/>
            <a:r>
              <a:rPr sz="1150" b="0" i="0">
                <a:solidFill>
                  <a:srgbClr val="3D3D3D"/>
                </a:solidFill>
              </a:rPr>
              <a:t>  • Survives service restarts</a:t>
            </a:r>
          </a:p>
        </p:txBody>
      </p:sp>
      <p:sp>
        <p:nvSpPr>
          <p:cNvPr id="44" name="TextBox 43"/>
          <p:cNvSpPr txBox="1"/>
          <p:nvPr/>
        </p:nvSpPr>
        <p:spPr>
          <a:xfrm>
            <a:off x="5943600" y="6035040"/>
            <a:ext cx="5760720" cy="274320"/>
          </a:xfrm>
          <a:prstGeom prst="rect">
            <a:avLst/>
          </a:prstGeom>
          <a:noFill/>
        </p:spPr>
        <p:txBody>
          <a:bodyPr wrap="square">
            <a:spAutoFit/>
          </a:bodyPr>
          <a:lstStyle/>
          <a:p>
            <a:pPr algn="l"/>
            <a:r>
              <a:rPr sz="1150" b="0" i="0">
                <a:solidFill>
                  <a:srgbClr val="3D3D3D"/>
                </a:solidFill>
              </a:rPr>
              <a:t>  • Branch-scoped key namespacing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DF6EC"/>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144000" cy="640080"/>
          </a:xfrm>
          <a:prstGeom prst="rect">
            <a:avLst/>
          </a:prstGeom>
          <a:noFill/>
        </p:spPr>
        <p:txBody>
          <a:bodyPr wrap="square">
            <a:spAutoFit/>
          </a:bodyPr>
          <a:lstStyle/>
          <a:p>
            <a:pPr algn="l"/>
            <a:r>
              <a:rPr sz="2800" b="1" i="0">
                <a:solidFill>
                  <a:srgbClr val="FFFBF5"/>
                </a:solidFill>
              </a:rPr>
              <a:t>Event-Driven Architecture</a:t>
            </a:r>
          </a:p>
        </p:txBody>
      </p:sp>
      <p:sp>
        <p:nvSpPr>
          <p:cNvPr id="4" name="TextBox 3"/>
          <p:cNvSpPr txBox="1"/>
          <p:nvPr/>
        </p:nvSpPr>
        <p:spPr>
          <a:xfrm>
            <a:off x="457200" y="749808"/>
            <a:ext cx="10058400" cy="411480"/>
          </a:xfrm>
          <a:prstGeom prst="rect">
            <a:avLst/>
          </a:prstGeom>
          <a:noFill/>
        </p:spPr>
        <p:txBody>
          <a:bodyPr wrap="square">
            <a:spAutoFit/>
          </a:bodyPr>
          <a:lstStyle/>
          <a:p>
            <a:pPr algn="l"/>
            <a:r>
              <a:rPr sz="1400" b="0" i="1">
                <a:solidFill>
                  <a:srgbClr val="F5A623"/>
                </a:solidFill>
              </a:rPr>
              <a:t>Kafka · Outbox Pattern · Guaranteed delivery</a:t>
            </a:r>
          </a:p>
        </p:txBody>
      </p:sp>
      <p:sp>
        <p:nvSpPr>
          <p:cNvPr id="5" name="Rectangle 4"/>
          <p:cNvSpPr/>
          <p:nvPr/>
        </p:nvSpPr>
        <p:spPr>
          <a:xfrm>
            <a:off x="0" y="12344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74720" y="2560320"/>
            <a:ext cx="5212080" cy="1737360"/>
          </a:xfrm>
          <a:prstGeom prst="rect">
            <a:avLst/>
          </a:prstGeom>
          <a:solidFill>
            <a:srgbClr val="FFF3E0"/>
          </a:solidFill>
          <a:ln w="2540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74720" y="2651760"/>
            <a:ext cx="5212080" cy="384048"/>
          </a:xfrm>
          <a:prstGeom prst="rect">
            <a:avLst/>
          </a:prstGeom>
          <a:noFill/>
        </p:spPr>
        <p:txBody>
          <a:bodyPr wrap="square">
            <a:spAutoFit/>
          </a:bodyPr>
          <a:lstStyle/>
          <a:p>
            <a:pPr algn="ctr"/>
            <a:r>
              <a:rPr sz="1500" b="1" i="0">
                <a:solidFill>
                  <a:srgbClr val="BF3600"/>
                </a:solidFill>
              </a:rPr>
              <a:t>⚡  Apache Kafka</a:t>
            </a:r>
          </a:p>
        </p:txBody>
      </p:sp>
      <p:sp>
        <p:nvSpPr>
          <p:cNvPr id="8" name="Rectangle 7"/>
          <p:cNvSpPr/>
          <p:nvPr/>
        </p:nvSpPr>
        <p:spPr>
          <a:xfrm>
            <a:off x="3657600" y="3090672"/>
            <a:ext cx="4846320" cy="256032"/>
          </a:xfrm>
          <a:prstGeom prst="rect">
            <a:avLst/>
          </a:prstGeom>
          <a:solidFill>
            <a:srgbClr val="FFE0B2"/>
          </a:solidFill>
          <a:ln w="889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03320" y="3108960"/>
            <a:ext cx="4754880" cy="228600"/>
          </a:xfrm>
          <a:prstGeom prst="rect">
            <a:avLst/>
          </a:prstGeom>
          <a:noFill/>
        </p:spPr>
        <p:txBody>
          <a:bodyPr wrap="square">
            <a:spAutoFit/>
          </a:bodyPr>
          <a:lstStyle/>
          <a:p>
            <a:pPr algn="ctr"/>
            <a:r>
              <a:rPr sz="950" b="0" i="0">
                <a:solidFill>
                  <a:srgbClr val="BF3600"/>
                </a:solidFill>
              </a:rPr>
              <a:t>order.created</a:t>
            </a:r>
          </a:p>
        </p:txBody>
      </p:sp>
      <p:sp>
        <p:nvSpPr>
          <p:cNvPr id="10" name="Rectangle 9"/>
          <p:cNvSpPr/>
          <p:nvPr/>
        </p:nvSpPr>
        <p:spPr>
          <a:xfrm>
            <a:off x="3657600" y="3364992"/>
            <a:ext cx="4846320" cy="256032"/>
          </a:xfrm>
          <a:prstGeom prst="rect">
            <a:avLst/>
          </a:prstGeom>
          <a:solidFill>
            <a:srgbClr val="FFE0B2"/>
          </a:solidFill>
          <a:ln w="889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03320" y="3383280"/>
            <a:ext cx="4754880" cy="228600"/>
          </a:xfrm>
          <a:prstGeom prst="rect">
            <a:avLst/>
          </a:prstGeom>
          <a:noFill/>
        </p:spPr>
        <p:txBody>
          <a:bodyPr wrap="square">
            <a:spAutoFit/>
          </a:bodyPr>
          <a:lstStyle/>
          <a:p>
            <a:pPr algn="ctr"/>
            <a:r>
              <a:rPr sz="950" b="0" i="0">
                <a:solidFill>
                  <a:srgbClr val="BF3600"/>
                </a:solidFill>
              </a:rPr>
              <a:t>order.status.updated</a:t>
            </a:r>
          </a:p>
        </p:txBody>
      </p:sp>
      <p:sp>
        <p:nvSpPr>
          <p:cNvPr id="12" name="Rectangle 11"/>
          <p:cNvSpPr/>
          <p:nvPr/>
        </p:nvSpPr>
        <p:spPr>
          <a:xfrm>
            <a:off x="3657600" y="3639312"/>
            <a:ext cx="4846320" cy="256032"/>
          </a:xfrm>
          <a:prstGeom prst="rect">
            <a:avLst/>
          </a:prstGeom>
          <a:solidFill>
            <a:srgbClr val="FFE0B2"/>
          </a:solidFill>
          <a:ln w="889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03320" y="3657600"/>
            <a:ext cx="4754880" cy="228600"/>
          </a:xfrm>
          <a:prstGeom prst="rect">
            <a:avLst/>
          </a:prstGeom>
          <a:noFill/>
        </p:spPr>
        <p:txBody>
          <a:bodyPr wrap="square">
            <a:spAutoFit/>
          </a:bodyPr>
          <a:lstStyle/>
          <a:p>
            <a:pPr algn="ctr"/>
            <a:r>
              <a:rPr sz="950" b="0" i="0">
                <a:solidFill>
                  <a:srgbClr val="BF3600"/>
                </a:solidFill>
              </a:rPr>
              <a:t>kitchen.order.updated</a:t>
            </a:r>
          </a:p>
        </p:txBody>
      </p:sp>
      <p:sp>
        <p:nvSpPr>
          <p:cNvPr id="14" name="Rectangle 13"/>
          <p:cNvSpPr/>
          <p:nvPr/>
        </p:nvSpPr>
        <p:spPr>
          <a:xfrm>
            <a:off x="3657600" y="3913632"/>
            <a:ext cx="4846320" cy="256032"/>
          </a:xfrm>
          <a:prstGeom prst="rect">
            <a:avLst/>
          </a:prstGeom>
          <a:solidFill>
            <a:srgbClr val="FFE0B2"/>
          </a:solidFill>
          <a:ln w="889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03320" y="3931920"/>
            <a:ext cx="4754880" cy="228600"/>
          </a:xfrm>
          <a:prstGeom prst="rect">
            <a:avLst/>
          </a:prstGeom>
          <a:noFill/>
        </p:spPr>
        <p:txBody>
          <a:bodyPr wrap="square">
            <a:spAutoFit/>
          </a:bodyPr>
          <a:lstStyle/>
          <a:p>
            <a:pPr algn="ctr"/>
            <a:r>
              <a:rPr sz="950" b="0" i="0">
                <a:solidFill>
                  <a:srgbClr val="BF3600"/>
                </a:solidFill>
              </a:rPr>
              <a:t>notification.email.send</a:t>
            </a:r>
          </a:p>
        </p:txBody>
      </p:sp>
      <p:sp>
        <p:nvSpPr>
          <p:cNvPr id="16" name="Rectangle 15"/>
          <p:cNvSpPr/>
          <p:nvPr/>
        </p:nvSpPr>
        <p:spPr>
          <a:xfrm>
            <a:off x="3657600" y="4187952"/>
            <a:ext cx="4846320" cy="256032"/>
          </a:xfrm>
          <a:prstGeom prst="rect">
            <a:avLst/>
          </a:prstGeom>
          <a:solidFill>
            <a:srgbClr val="FFE0B2"/>
          </a:solidFill>
          <a:ln w="889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03320" y="4206240"/>
            <a:ext cx="4754880" cy="228600"/>
          </a:xfrm>
          <a:prstGeom prst="rect">
            <a:avLst/>
          </a:prstGeom>
          <a:noFill/>
        </p:spPr>
        <p:txBody>
          <a:bodyPr wrap="square">
            <a:spAutoFit/>
          </a:bodyPr>
          <a:lstStyle/>
          <a:p>
            <a:pPr algn="ctr"/>
            <a:r>
              <a:rPr sz="950" b="0" i="0">
                <a:solidFill>
                  <a:srgbClr val="BF3600"/>
                </a:solidFill>
              </a:rPr>
              <a:t>analytics.order.completed</a:t>
            </a:r>
          </a:p>
        </p:txBody>
      </p:sp>
      <p:sp>
        <p:nvSpPr>
          <p:cNvPr id="18" name="TextBox 17"/>
          <p:cNvSpPr txBox="1"/>
          <p:nvPr/>
        </p:nvSpPr>
        <p:spPr>
          <a:xfrm>
            <a:off x="182880" y="1463040"/>
            <a:ext cx="3017520" cy="365760"/>
          </a:xfrm>
          <a:prstGeom prst="rect">
            <a:avLst/>
          </a:prstGeom>
          <a:noFill/>
        </p:spPr>
        <p:txBody>
          <a:bodyPr wrap="square">
            <a:spAutoFit/>
          </a:bodyPr>
          <a:lstStyle/>
          <a:p>
            <a:pPr algn="l"/>
            <a:r>
              <a:rPr sz="1300" b="1" i="0">
                <a:solidFill>
                  <a:srgbClr val="2C1A0E"/>
                </a:solidFill>
              </a:rPr>
              <a:t>PRODUCERS</a:t>
            </a:r>
          </a:p>
        </p:txBody>
      </p:sp>
      <p:sp>
        <p:nvSpPr>
          <p:cNvPr id="19" name="Rectangle 18"/>
          <p:cNvSpPr/>
          <p:nvPr/>
        </p:nvSpPr>
        <p:spPr>
          <a:xfrm>
            <a:off x="182880" y="1874519"/>
            <a:ext cx="3017520" cy="658368"/>
          </a:xfrm>
          <a:prstGeom prst="rect">
            <a:avLst/>
          </a:prstGeom>
          <a:solidFill>
            <a:srgbClr val="2C1A0E"/>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4320" y="1911095"/>
            <a:ext cx="2834640" cy="292608"/>
          </a:xfrm>
          <a:prstGeom prst="rect">
            <a:avLst/>
          </a:prstGeom>
          <a:noFill/>
        </p:spPr>
        <p:txBody>
          <a:bodyPr wrap="square">
            <a:spAutoFit/>
          </a:bodyPr>
          <a:lstStyle/>
          <a:p>
            <a:pPr algn="l"/>
            <a:r>
              <a:rPr sz="1100" b="1" i="0">
                <a:solidFill>
                  <a:srgbClr val="FFFBF5"/>
                </a:solidFill>
              </a:rPr>
              <a:t>Order Service</a:t>
            </a:r>
          </a:p>
        </p:txBody>
      </p:sp>
      <p:sp>
        <p:nvSpPr>
          <p:cNvPr id="21" name="TextBox 20"/>
          <p:cNvSpPr txBox="1"/>
          <p:nvPr/>
        </p:nvSpPr>
        <p:spPr>
          <a:xfrm>
            <a:off x="274320" y="2185415"/>
            <a:ext cx="2834640" cy="292608"/>
          </a:xfrm>
          <a:prstGeom prst="rect">
            <a:avLst/>
          </a:prstGeom>
          <a:noFill/>
        </p:spPr>
        <p:txBody>
          <a:bodyPr wrap="square">
            <a:spAutoFit/>
          </a:bodyPr>
          <a:lstStyle/>
          <a:p>
            <a:pPr algn="l"/>
            <a:r>
              <a:rPr sz="950" b="0" i="0">
                <a:solidFill>
                  <a:srgbClr val="F5A623"/>
                </a:solidFill>
              </a:rPr>
              <a:t>Outbox Relay → Kafka</a:t>
            </a:r>
          </a:p>
        </p:txBody>
      </p:sp>
      <p:sp>
        <p:nvSpPr>
          <p:cNvPr id="22" name="Rectangle 21"/>
          <p:cNvSpPr/>
          <p:nvPr/>
        </p:nvSpPr>
        <p:spPr>
          <a:xfrm>
            <a:off x="3218688" y="2148839"/>
            <a:ext cx="256032" cy="54864"/>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82880" y="2679191"/>
            <a:ext cx="3017520" cy="658368"/>
          </a:xfrm>
          <a:prstGeom prst="rect">
            <a:avLst/>
          </a:prstGeom>
          <a:solidFill>
            <a:srgbClr val="2C1A0E"/>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4320" y="2715767"/>
            <a:ext cx="2834640" cy="292608"/>
          </a:xfrm>
          <a:prstGeom prst="rect">
            <a:avLst/>
          </a:prstGeom>
          <a:noFill/>
        </p:spPr>
        <p:txBody>
          <a:bodyPr wrap="square">
            <a:spAutoFit/>
          </a:bodyPr>
          <a:lstStyle/>
          <a:p>
            <a:pPr algn="l"/>
            <a:r>
              <a:rPr sz="1100" b="1" i="0">
                <a:solidFill>
                  <a:srgbClr val="FFFBF5"/>
                </a:solidFill>
              </a:rPr>
              <a:t>User Service</a:t>
            </a:r>
          </a:p>
        </p:txBody>
      </p:sp>
      <p:sp>
        <p:nvSpPr>
          <p:cNvPr id="25" name="TextBox 24"/>
          <p:cNvSpPr txBox="1"/>
          <p:nvPr/>
        </p:nvSpPr>
        <p:spPr>
          <a:xfrm>
            <a:off x="274320" y="2990087"/>
            <a:ext cx="2834640" cy="292608"/>
          </a:xfrm>
          <a:prstGeom prst="rect">
            <a:avLst/>
          </a:prstGeom>
          <a:noFill/>
        </p:spPr>
        <p:txBody>
          <a:bodyPr wrap="square">
            <a:spAutoFit/>
          </a:bodyPr>
          <a:lstStyle/>
          <a:p>
            <a:pPr algn="l"/>
            <a:r>
              <a:rPr sz="950" b="0" i="0">
                <a:solidFill>
                  <a:srgbClr val="F5A623"/>
                </a:solidFill>
              </a:rPr>
              <a:t>KafkaEmailProducer</a:t>
            </a:r>
          </a:p>
        </p:txBody>
      </p:sp>
      <p:sp>
        <p:nvSpPr>
          <p:cNvPr id="26" name="Rectangle 25"/>
          <p:cNvSpPr/>
          <p:nvPr/>
        </p:nvSpPr>
        <p:spPr>
          <a:xfrm>
            <a:off x="3218688" y="2953511"/>
            <a:ext cx="256032" cy="54864"/>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82880" y="3483863"/>
            <a:ext cx="3017520" cy="658368"/>
          </a:xfrm>
          <a:prstGeom prst="rect">
            <a:avLst/>
          </a:prstGeom>
          <a:solidFill>
            <a:srgbClr val="2C1A0E"/>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4320" y="3520439"/>
            <a:ext cx="2834640" cy="292608"/>
          </a:xfrm>
          <a:prstGeom prst="rect">
            <a:avLst/>
          </a:prstGeom>
          <a:noFill/>
        </p:spPr>
        <p:txBody>
          <a:bodyPr wrap="square">
            <a:spAutoFit/>
          </a:bodyPr>
          <a:lstStyle/>
          <a:p>
            <a:pPr algn="l"/>
            <a:r>
              <a:rPr sz="1100" b="1" i="0">
                <a:solidFill>
                  <a:srgbClr val="FFFBF5"/>
                </a:solidFill>
              </a:rPr>
              <a:t>Kitchen Service</a:t>
            </a:r>
          </a:p>
        </p:txBody>
      </p:sp>
      <p:sp>
        <p:nvSpPr>
          <p:cNvPr id="29" name="TextBox 28"/>
          <p:cNvSpPr txBox="1"/>
          <p:nvPr/>
        </p:nvSpPr>
        <p:spPr>
          <a:xfrm>
            <a:off x="274320" y="3794759"/>
            <a:ext cx="2834640" cy="292608"/>
          </a:xfrm>
          <a:prstGeom prst="rect">
            <a:avLst/>
          </a:prstGeom>
          <a:noFill/>
        </p:spPr>
        <p:txBody>
          <a:bodyPr wrap="square">
            <a:spAutoFit/>
          </a:bodyPr>
          <a:lstStyle/>
          <a:p>
            <a:pPr algn="l"/>
            <a:r>
              <a:rPr sz="950" b="0" i="0">
                <a:solidFill>
                  <a:srgbClr val="F5A623"/>
                </a:solidFill>
              </a:rPr>
              <a:t>KitchenEventProducer</a:t>
            </a:r>
          </a:p>
        </p:txBody>
      </p:sp>
      <p:sp>
        <p:nvSpPr>
          <p:cNvPr id="30" name="Rectangle 29"/>
          <p:cNvSpPr/>
          <p:nvPr/>
        </p:nvSpPr>
        <p:spPr>
          <a:xfrm>
            <a:off x="3218688" y="3758183"/>
            <a:ext cx="256032" cy="54864"/>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869680" y="1463040"/>
            <a:ext cx="3017520" cy="365760"/>
          </a:xfrm>
          <a:prstGeom prst="rect">
            <a:avLst/>
          </a:prstGeom>
          <a:noFill/>
        </p:spPr>
        <p:txBody>
          <a:bodyPr wrap="square">
            <a:spAutoFit/>
          </a:bodyPr>
          <a:lstStyle/>
          <a:p>
            <a:pPr algn="l"/>
            <a:r>
              <a:rPr sz="1300" b="1" i="0">
                <a:solidFill>
                  <a:srgbClr val="2C1A0E"/>
                </a:solidFill>
              </a:rPr>
              <a:t>CONSUMERS</a:t>
            </a:r>
          </a:p>
        </p:txBody>
      </p:sp>
      <p:sp>
        <p:nvSpPr>
          <p:cNvPr id="32" name="Rectangle 31"/>
          <p:cNvSpPr/>
          <p:nvPr/>
        </p:nvSpPr>
        <p:spPr>
          <a:xfrm>
            <a:off x="8869680" y="1874519"/>
            <a:ext cx="3017520" cy="658368"/>
          </a:xfrm>
          <a:prstGeom prst="rect">
            <a:avLst/>
          </a:prstGeom>
          <a:solidFill>
            <a:srgbClr val="2C1A0E"/>
          </a:solidFill>
          <a:ln w="12700">
            <a:solidFill>
              <a:srgbClr val="6B8F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61120" y="1911095"/>
            <a:ext cx="2834640" cy="292608"/>
          </a:xfrm>
          <a:prstGeom prst="rect">
            <a:avLst/>
          </a:prstGeom>
          <a:noFill/>
        </p:spPr>
        <p:txBody>
          <a:bodyPr wrap="square">
            <a:spAutoFit/>
          </a:bodyPr>
          <a:lstStyle/>
          <a:p>
            <a:pPr algn="l"/>
            <a:r>
              <a:rPr sz="1100" b="1" i="0">
                <a:solidFill>
                  <a:srgbClr val="FFFBF5"/>
                </a:solidFill>
              </a:rPr>
              <a:t>Kitchen Service</a:t>
            </a:r>
          </a:p>
        </p:txBody>
      </p:sp>
      <p:sp>
        <p:nvSpPr>
          <p:cNvPr id="34" name="TextBox 33"/>
          <p:cNvSpPr txBox="1"/>
          <p:nvPr/>
        </p:nvSpPr>
        <p:spPr>
          <a:xfrm>
            <a:off x="8961120" y="2185415"/>
            <a:ext cx="2834640" cy="292608"/>
          </a:xfrm>
          <a:prstGeom prst="rect">
            <a:avLst/>
          </a:prstGeom>
          <a:noFill/>
        </p:spPr>
        <p:txBody>
          <a:bodyPr wrap="square">
            <a:spAutoFit/>
          </a:bodyPr>
          <a:lstStyle/>
          <a:p>
            <a:pPr algn="l"/>
            <a:r>
              <a:rPr sz="950" b="0" i="0">
                <a:solidFill>
                  <a:srgbClr val="6B8F71"/>
                </a:solidFill>
              </a:rPr>
              <a:t>Processes new orders</a:t>
            </a:r>
          </a:p>
        </p:txBody>
      </p:sp>
      <p:sp>
        <p:nvSpPr>
          <p:cNvPr id="35" name="Rectangle 34"/>
          <p:cNvSpPr/>
          <p:nvPr/>
        </p:nvSpPr>
        <p:spPr>
          <a:xfrm>
            <a:off x="8613648" y="2148839"/>
            <a:ext cx="256032" cy="54864"/>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869680" y="2679191"/>
            <a:ext cx="3017520" cy="658368"/>
          </a:xfrm>
          <a:prstGeom prst="rect">
            <a:avLst/>
          </a:prstGeom>
          <a:solidFill>
            <a:srgbClr val="2C1A0E"/>
          </a:solidFill>
          <a:ln w="12700">
            <a:solidFill>
              <a:srgbClr val="6B8F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961120" y="2715767"/>
            <a:ext cx="2834640" cy="292608"/>
          </a:xfrm>
          <a:prstGeom prst="rect">
            <a:avLst/>
          </a:prstGeom>
          <a:noFill/>
        </p:spPr>
        <p:txBody>
          <a:bodyPr wrap="square">
            <a:spAutoFit/>
          </a:bodyPr>
          <a:lstStyle/>
          <a:p>
            <a:pPr algn="l"/>
            <a:r>
              <a:rPr sz="1100" b="1" i="0">
                <a:solidFill>
                  <a:srgbClr val="FFFBF5"/>
                </a:solidFill>
              </a:rPr>
              <a:t>Notification Service</a:t>
            </a:r>
          </a:p>
        </p:txBody>
      </p:sp>
      <p:sp>
        <p:nvSpPr>
          <p:cNvPr id="38" name="TextBox 37"/>
          <p:cNvSpPr txBox="1"/>
          <p:nvPr/>
        </p:nvSpPr>
        <p:spPr>
          <a:xfrm>
            <a:off x="8961120" y="2990087"/>
            <a:ext cx="2834640" cy="292608"/>
          </a:xfrm>
          <a:prstGeom prst="rect">
            <a:avLst/>
          </a:prstGeom>
          <a:noFill/>
        </p:spPr>
        <p:txBody>
          <a:bodyPr wrap="square">
            <a:spAutoFit/>
          </a:bodyPr>
          <a:lstStyle/>
          <a:p>
            <a:pPr algn="l"/>
            <a:r>
              <a:rPr sz="950" b="0" i="0">
                <a:solidFill>
                  <a:srgbClr val="6B8F71"/>
                </a:solidFill>
              </a:rPr>
              <a:t>Sends emails + WebSocket</a:t>
            </a:r>
          </a:p>
        </p:txBody>
      </p:sp>
      <p:sp>
        <p:nvSpPr>
          <p:cNvPr id="39" name="Rectangle 38"/>
          <p:cNvSpPr/>
          <p:nvPr/>
        </p:nvSpPr>
        <p:spPr>
          <a:xfrm>
            <a:off x="8613648" y="2953511"/>
            <a:ext cx="256032" cy="54864"/>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869680" y="3483863"/>
            <a:ext cx="3017520" cy="658368"/>
          </a:xfrm>
          <a:prstGeom prst="rect">
            <a:avLst/>
          </a:prstGeom>
          <a:solidFill>
            <a:srgbClr val="2C1A0E"/>
          </a:solidFill>
          <a:ln w="12700">
            <a:solidFill>
              <a:srgbClr val="6B8F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961120" y="3520439"/>
            <a:ext cx="2834640" cy="292608"/>
          </a:xfrm>
          <a:prstGeom prst="rect">
            <a:avLst/>
          </a:prstGeom>
          <a:noFill/>
        </p:spPr>
        <p:txBody>
          <a:bodyPr wrap="square">
            <a:spAutoFit/>
          </a:bodyPr>
          <a:lstStyle/>
          <a:p>
            <a:pPr algn="l"/>
            <a:r>
              <a:rPr sz="1100" b="1" i="0">
                <a:solidFill>
                  <a:srgbClr val="FFFBF5"/>
                </a:solidFill>
              </a:rPr>
              <a:t>Analytics Service</a:t>
            </a:r>
          </a:p>
        </p:txBody>
      </p:sp>
      <p:sp>
        <p:nvSpPr>
          <p:cNvPr id="42" name="TextBox 41"/>
          <p:cNvSpPr txBox="1"/>
          <p:nvPr/>
        </p:nvSpPr>
        <p:spPr>
          <a:xfrm>
            <a:off x="8961120" y="3794759"/>
            <a:ext cx="2834640" cy="292608"/>
          </a:xfrm>
          <a:prstGeom prst="rect">
            <a:avLst/>
          </a:prstGeom>
          <a:noFill/>
        </p:spPr>
        <p:txBody>
          <a:bodyPr wrap="square">
            <a:spAutoFit/>
          </a:bodyPr>
          <a:lstStyle/>
          <a:p>
            <a:pPr algn="l"/>
            <a:r>
              <a:rPr sz="950" b="0" i="0">
                <a:solidFill>
                  <a:srgbClr val="6B8F71"/>
                </a:solidFill>
              </a:rPr>
              <a:t>Stores order metrics</a:t>
            </a:r>
          </a:p>
        </p:txBody>
      </p:sp>
      <p:sp>
        <p:nvSpPr>
          <p:cNvPr id="43" name="Rectangle 42"/>
          <p:cNvSpPr/>
          <p:nvPr/>
        </p:nvSpPr>
        <p:spPr>
          <a:xfrm>
            <a:off x="8613648" y="3758183"/>
            <a:ext cx="256032" cy="54864"/>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82880" y="4663440"/>
            <a:ext cx="5029200" cy="1737360"/>
          </a:xfrm>
          <a:prstGeom prst="rect">
            <a:avLst/>
          </a:prstGeom>
          <a:solidFill>
            <a:srgbClr val="FFFBF5"/>
          </a:solidFill>
          <a:ln w="19050">
            <a:solidFill>
              <a:srgbClr val="2D6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20040" y="4754880"/>
            <a:ext cx="4754880" cy="347472"/>
          </a:xfrm>
          <a:prstGeom prst="rect">
            <a:avLst/>
          </a:prstGeom>
          <a:noFill/>
        </p:spPr>
        <p:txBody>
          <a:bodyPr wrap="square">
            <a:spAutoFit/>
          </a:bodyPr>
          <a:lstStyle/>
          <a:p>
            <a:pPr algn="l"/>
            <a:r>
              <a:rPr sz="1250" b="1" i="0">
                <a:solidFill>
                  <a:srgbClr val="2D6AA0"/>
                </a:solidFill>
              </a:rPr>
              <a:t>🔒  Outbox Pattern (Order Service)</a:t>
            </a:r>
          </a:p>
        </p:txBody>
      </p:sp>
      <p:sp>
        <p:nvSpPr>
          <p:cNvPr id="46" name="TextBox 45"/>
          <p:cNvSpPr txBox="1"/>
          <p:nvPr/>
        </p:nvSpPr>
        <p:spPr>
          <a:xfrm>
            <a:off x="320040" y="5120640"/>
            <a:ext cx="4846320" cy="1188720"/>
          </a:xfrm>
          <a:prstGeom prst="rect">
            <a:avLst/>
          </a:prstGeom>
          <a:noFill/>
        </p:spPr>
        <p:txBody>
          <a:bodyPr wrap="square">
            <a:spAutoFit/>
          </a:bodyPr>
          <a:lstStyle/>
          <a:p>
            <a:pPr algn="l"/>
            <a:r>
              <a:rPr sz="1150" b="0" i="0">
                <a:solidFill>
                  <a:srgbClr val="3D3D3D"/>
                </a:solidFill>
              </a:rPr>
              <a:t>1. Order + OutboxEvent saved in single DB transaction
2. OutboxRelay polls every 5s, publishes to Kafka
3. On success → marks event PUBLISHED
4. Guarantees: at-least-once delivery, no lost events</a:t>
            </a:r>
          </a:p>
        </p:txBody>
      </p:sp>
      <p:sp>
        <p:nvSpPr>
          <p:cNvPr id="47" name="Rectangle 46"/>
          <p:cNvSpPr/>
          <p:nvPr/>
        </p:nvSpPr>
        <p:spPr>
          <a:xfrm>
            <a:off x="6858000" y="4663440"/>
            <a:ext cx="5029200" cy="1737360"/>
          </a:xfrm>
          <a:prstGeom prst="rect">
            <a:avLst/>
          </a:prstGeom>
          <a:solidFill>
            <a:srgbClr val="FFFBF5"/>
          </a:solidFill>
          <a:ln w="19050">
            <a:solidFill>
              <a:srgbClr val="6B8F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995160" y="4754880"/>
            <a:ext cx="4754880" cy="347472"/>
          </a:xfrm>
          <a:prstGeom prst="rect">
            <a:avLst/>
          </a:prstGeom>
          <a:noFill/>
        </p:spPr>
        <p:txBody>
          <a:bodyPr wrap="square">
            <a:spAutoFit/>
          </a:bodyPr>
          <a:lstStyle/>
          <a:p>
            <a:pPr algn="l"/>
            <a:r>
              <a:rPr sz="1250" b="1" i="0">
                <a:solidFill>
                  <a:srgbClr val="6B8F71"/>
                </a:solidFill>
              </a:rPr>
              <a:t>🔄  Notification Retry (Notification Service)</a:t>
            </a:r>
          </a:p>
        </p:txBody>
      </p:sp>
      <p:sp>
        <p:nvSpPr>
          <p:cNvPr id="49" name="TextBox 48"/>
          <p:cNvSpPr txBox="1"/>
          <p:nvPr/>
        </p:nvSpPr>
        <p:spPr>
          <a:xfrm>
            <a:off x="6995160" y="5120640"/>
            <a:ext cx="4754880" cy="1188720"/>
          </a:xfrm>
          <a:prstGeom prst="rect">
            <a:avLst/>
          </a:prstGeom>
          <a:noFill/>
        </p:spPr>
        <p:txBody>
          <a:bodyPr wrap="square">
            <a:spAutoFit/>
          </a:bodyPr>
          <a:lstStyle/>
          <a:p>
            <a:pPr algn="l"/>
            <a:r>
              <a:rPr sz="1150" b="0" i="0">
                <a:solidFill>
                  <a:srgbClr val="3D3D3D"/>
                </a:solidFill>
              </a:rPr>
              <a:t>• Failed emails stored in DB as FAILED status
• Retry scheduler runs every 2 minutes
• Max 3 attempts per notification
• Dead-letter logging for audit trail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DF6EC"/>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144000" cy="640080"/>
          </a:xfrm>
          <a:prstGeom prst="rect">
            <a:avLst/>
          </a:prstGeom>
          <a:noFill/>
        </p:spPr>
        <p:txBody>
          <a:bodyPr wrap="square">
            <a:spAutoFit/>
          </a:bodyPr>
          <a:lstStyle/>
          <a:p>
            <a:pPr algn="l"/>
            <a:r>
              <a:rPr sz="2800" b="1" i="0">
                <a:solidFill>
                  <a:srgbClr val="FFFBF5"/>
                </a:solidFill>
              </a:rPr>
              <a:t>Security Architecture</a:t>
            </a:r>
          </a:p>
        </p:txBody>
      </p:sp>
      <p:sp>
        <p:nvSpPr>
          <p:cNvPr id="4" name="TextBox 3"/>
          <p:cNvSpPr txBox="1"/>
          <p:nvPr/>
        </p:nvSpPr>
        <p:spPr>
          <a:xfrm>
            <a:off x="457200" y="749808"/>
            <a:ext cx="10058400" cy="411480"/>
          </a:xfrm>
          <a:prstGeom prst="rect">
            <a:avLst/>
          </a:prstGeom>
          <a:noFill/>
        </p:spPr>
        <p:txBody>
          <a:bodyPr wrap="square">
            <a:spAutoFit/>
          </a:bodyPr>
          <a:lstStyle/>
          <a:p>
            <a:pPr algn="l"/>
            <a:r>
              <a:rPr sz="1400" b="0" i="1">
                <a:solidFill>
                  <a:srgbClr val="F5A623"/>
                </a:solidFill>
              </a:rPr>
              <a:t>JWT · OAuth2 · RBAC · Redis token blacklisting</a:t>
            </a:r>
          </a:p>
        </p:txBody>
      </p:sp>
      <p:sp>
        <p:nvSpPr>
          <p:cNvPr id="5" name="Rectangle 4"/>
          <p:cNvSpPr/>
          <p:nvPr/>
        </p:nvSpPr>
        <p:spPr>
          <a:xfrm>
            <a:off x="0" y="12344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417320"/>
            <a:ext cx="11430000" cy="365760"/>
          </a:xfrm>
          <a:prstGeom prst="rect">
            <a:avLst/>
          </a:prstGeom>
          <a:noFill/>
        </p:spPr>
        <p:txBody>
          <a:bodyPr wrap="square">
            <a:spAutoFit/>
          </a:bodyPr>
          <a:lstStyle/>
          <a:p>
            <a:pPr algn="l"/>
            <a:r>
              <a:rPr sz="1400" b="1" i="0">
                <a:solidFill>
                  <a:srgbClr val="2C1A0E"/>
                </a:solidFill>
              </a:rPr>
              <a:t>Request Lifecycle</a:t>
            </a:r>
          </a:p>
        </p:txBody>
      </p:sp>
      <p:sp>
        <p:nvSpPr>
          <p:cNvPr id="7" name="Rectangle 6"/>
          <p:cNvSpPr/>
          <p:nvPr/>
        </p:nvSpPr>
        <p:spPr>
          <a:xfrm>
            <a:off x="274320" y="1920240"/>
            <a:ext cx="1554480" cy="822960"/>
          </a:xfrm>
          <a:prstGeom prst="rect">
            <a:avLst/>
          </a:prstGeom>
          <a:solidFill>
            <a:srgbClr val="3D3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938528"/>
            <a:ext cx="1481328" cy="786384"/>
          </a:xfrm>
          <a:prstGeom prst="rect">
            <a:avLst/>
          </a:prstGeom>
          <a:noFill/>
        </p:spPr>
        <p:txBody>
          <a:bodyPr wrap="square">
            <a:spAutoFit/>
          </a:bodyPr>
          <a:lstStyle/>
          <a:p>
            <a:pPr algn="ctr"/>
            <a:r>
              <a:rPr sz="1000" b="1" i="0">
                <a:solidFill>
                  <a:srgbClr val="FFFBF5"/>
                </a:solidFill>
              </a:rPr>
              <a:t>HTTP Request</a:t>
            </a:r>
          </a:p>
        </p:txBody>
      </p:sp>
      <p:sp>
        <p:nvSpPr>
          <p:cNvPr id="9" name="Rectangle 8"/>
          <p:cNvSpPr/>
          <p:nvPr/>
        </p:nvSpPr>
        <p:spPr>
          <a:xfrm>
            <a:off x="1828800" y="2304288"/>
            <a:ext cx="164592" cy="54864"/>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993392" y="1920240"/>
            <a:ext cx="1554480" cy="822960"/>
          </a:xfrm>
          <a:prstGeom prst="rect">
            <a:avLst/>
          </a:prstGeom>
          <a:solidFill>
            <a:srgbClr val="2C1A0E"/>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39112" y="1938528"/>
            <a:ext cx="1481328" cy="786384"/>
          </a:xfrm>
          <a:prstGeom prst="rect">
            <a:avLst/>
          </a:prstGeom>
          <a:noFill/>
        </p:spPr>
        <p:txBody>
          <a:bodyPr wrap="square">
            <a:spAutoFit/>
          </a:bodyPr>
          <a:lstStyle/>
          <a:p>
            <a:pPr algn="ctr"/>
            <a:r>
              <a:rPr sz="1000" b="1" i="0">
                <a:solidFill>
                  <a:srgbClr val="F5A623"/>
                </a:solidFill>
              </a:rPr>
              <a:t>API Gateway
JwtAuthFilter</a:t>
            </a:r>
          </a:p>
        </p:txBody>
      </p:sp>
      <p:sp>
        <p:nvSpPr>
          <p:cNvPr id="12" name="Rectangle 11"/>
          <p:cNvSpPr/>
          <p:nvPr/>
        </p:nvSpPr>
        <p:spPr>
          <a:xfrm>
            <a:off x="3547872" y="2304288"/>
            <a:ext cx="164592" cy="54864"/>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12464" y="1920240"/>
            <a:ext cx="1554480" cy="822960"/>
          </a:xfrm>
          <a:prstGeom prst="rect">
            <a:avLst/>
          </a:prstGeom>
          <a:solidFill>
            <a:srgbClr val="2C1A0E"/>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58184" y="1938528"/>
            <a:ext cx="1481328" cy="786384"/>
          </a:xfrm>
          <a:prstGeom prst="rect">
            <a:avLst/>
          </a:prstGeom>
          <a:noFill/>
        </p:spPr>
        <p:txBody>
          <a:bodyPr wrap="square">
            <a:spAutoFit/>
          </a:bodyPr>
          <a:lstStyle/>
          <a:p>
            <a:pPr algn="ctr"/>
            <a:r>
              <a:rPr sz="1000" b="1" i="0">
                <a:solidFill>
                  <a:srgbClr val="FFFBF5"/>
                </a:solidFill>
              </a:rPr>
              <a:t>Token
Validation</a:t>
            </a:r>
          </a:p>
        </p:txBody>
      </p:sp>
      <p:sp>
        <p:nvSpPr>
          <p:cNvPr id="15" name="Rectangle 14"/>
          <p:cNvSpPr/>
          <p:nvPr/>
        </p:nvSpPr>
        <p:spPr>
          <a:xfrm>
            <a:off x="5266944" y="2304288"/>
            <a:ext cx="164592" cy="54864"/>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31536" y="1920240"/>
            <a:ext cx="1554480" cy="822960"/>
          </a:xfrm>
          <a:prstGeom prst="rect">
            <a:avLst/>
          </a:prstGeom>
          <a:solidFill>
            <a:srgbClr val="6B8F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77256" y="1938528"/>
            <a:ext cx="1481328" cy="786384"/>
          </a:xfrm>
          <a:prstGeom prst="rect">
            <a:avLst/>
          </a:prstGeom>
          <a:noFill/>
        </p:spPr>
        <p:txBody>
          <a:bodyPr wrap="square">
            <a:spAutoFit/>
          </a:bodyPr>
          <a:lstStyle/>
          <a:p>
            <a:pPr algn="ctr"/>
            <a:r>
              <a:rPr sz="1000" b="1" i="0">
                <a:solidFill>
                  <a:srgbClr val="FFFBF5"/>
                </a:solidFill>
              </a:rPr>
              <a:t>Redis
Blacklist Check</a:t>
            </a:r>
          </a:p>
        </p:txBody>
      </p:sp>
      <p:sp>
        <p:nvSpPr>
          <p:cNvPr id="18" name="Rectangle 17"/>
          <p:cNvSpPr/>
          <p:nvPr/>
        </p:nvSpPr>
        <p:spPr>
          <a:xfrm>
            <a:off x="6986016" y="2304288"/>
            <a:ext cx="164592" cy="54864"/>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150608" y="1920240"/>
            <a:ext cx="1554480" cy="822960"/>
          </a:xfrm>
          <a:prstGeom prst="rect">
            <a:avLst/>
          </a:prstGeom>
          <a:solidFill>
            <a:srgbClr val="2C1A0E"/>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96328" y="1938528"/>
            <a:ext cx="1481328" cy="786384"/>
          </a:xfrm>
          <a:prstGeom prst="rect">
            <a:avLst/>
          </a:prstGeom>
          <a:noFill/>
        </p:spPr>
        <p:txBody>
          <a:bodyPr wrap="square">
            <a:spAutoFit/>
          </a:bodyPr>
          <a:lstStyle/>
          <a:p>
            <a:pPr algn="ctr"/>
            <a:r>
              <a:rPr sz="1000" b="1" i="0">
                <a:solidFill>
                  <a:srgbClr val="FFFBF5"/>
                </a:solidFill>
              </a:rPr>
              <a:t>Header
Injection</a:t>
            </a:r>
          </a:p>
        </p:txBody>
      </p:sp>
      <p:sp>
        <p:nvSpPr>
          <p:cNvPr id="21" name="Rectangle 20"/>
          <p:cNvSpPr/>
          <p:nvPr/>
        </p:nvSpPr>
        <p:spPr>
          <a:xfrm>
            <a:off x="8705088" y="2304288"/>
            <a:ext cx="164592" cy="54864"/>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869680" y="1920240"/>
            <a:ext cx="1554480" cy="822960"/>
          </a:xfrm>
          <a:prstGeom prst="rect">
            <a:avLst/>
          </a:prstGeom>
          <a:solidFill>
            <a:srgbClr val="2C1A0E"/>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15400" y="1938528"/>
            <a:ext cx="1481328" cy="786384"/>
          </a:xfrm>
          <a:prstGeom prst="rect">
            <a:avLst/>
          </a:prstGeom>
          <a:noFill/>
        </p:spPr>
        <p:txBody>
          <a:bodyPr wrap="square">
            <a:spAutoFit/>
          </a:bodyPr>
          <a:lstStyle/>
          <a:p>
            <a:pPr algn="ctr"/>
            <a:r>
              <a:rPr sz="1000" b="1" i="0">
                <a:solidFill>
                  <a:srgbClr val="FFFBF5"/>
                </a:solidFill>
              </a:rPr>
              <a:t>Downstream
Service</a:t>
            </a:r>
          </a:p>
        </p:txBody>
      </p:sp>
      <p:sp>
        <p:nvSpPr>
          <p:cNvPr id="24" name="Rectangle 23"/>
          <p:cNvSpPr/>
          <p:nvPr/>
        </p:nvSpPr>
        <p:spPr>
          <a:xfrm>
            <a:off x="10424160" y="2304288"/>
            <a:ext cx="164592" cy="54864"/>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588752" y="1920240"/>
            <a:ext cx="1554480" cy="82296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634472" y="1938528"/>
            <a:ext cx="1481328" cy="786384"/>
          </a:xfrm>
          <a:prstGeom prst="rect">
            <a:avLst/>
          </a:prstGeom>
          <a:noFill/>
        </p:spPr>
        <p:txBody>
          <a:bodyPr wrap="square">
            <a:spAutoFit/>
          </a:bodyPr>
          <a:lstStyle/>
          <a:p>
            <a:pPr algn="ctr"/>
            <a:r>
              <a:rPr sz="1000" b="1" i="0">
                <a:solidFill>
                  <a:srgbClr val="FFFBF5"/>
                </a:solidFill>
              </a:rPr>
              <a:t>@PreAuthorize
RBAC</a:t>
            </a:r>
          </a:p>
        </p:txBody>
      </p:sp>
      <p:sp>
        <p:nvSpPr>
          <p:cNvPr id="27" name="Rectangle 26"/>
          <p:cNvSpPr/>
          <p:nvPr/>
        </p:nvSpPr>
        <p:spPr>
          <a:xfrm>
            <a:off x="274320" y="3017520"/>
            <a:ext cx="5669280" cy="3291840"/>
          </a:xfrm>
          <a:prstGeom prst="rect">
            <a:avLst/>
          </a:prstGeom>
          <a:solidFill>
            <a:srgbClr val="FFFBF5"/>
          </a:solidFill>
          <a:ln w="19050">
            <a:solidFill>
              <a:srgbClr val="2C1A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1480" y="3108960"/>
            <a:ext cx="5394960" cy="365760"/>
          </a:xfrm>
          <a:prstGeom prst="rect">
            <a:avLst/>
          </a:prstGeom>
          <a:noFill/>
        </p:spPr>
        <p:txBody>
          <a:bodyPr wrap="square">
            <a:spAutoFit/>
          </a:bodyPr>
          <a:lstStyle/>
          <a:p>
            <a:pPr algn="l"/>
            <a:r>
              <a:rPr sz="1350" b="1" i="0">
                <a:solidFill>
                  <a:srgbClr val="2C1A0E"/>
                </a:solidFill>
              </a:rPr>
              <a:t>👥  Role-Based Access Control</a:t>
            </a:r>
          </a:p>
        </p:txBody>
      </p:sp>
      <p:sp>
        <p:nvSpPr>
          <p:cNvPr id="29" name="Rectangle 28"/>
          <p:cNvSpPr/>
          <p:nvPr/>
        </p:nvSpPr>
        <p:spPr>
          <a:xfrm>
            <a:off x="411480" y="3493008"/>
            <a:ext cx="5394960"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3611880"/>
            <a:ext cx="1828800" cy="274320"/>
          </a:xfrm>
          <a:prstGeom prst="rect">
            <a:avLst/>
          </a:prstGeom>
          <a:noFill/>
        </p:spPr>
        <p:txBody>
          <a:bodyPr wrap="square">
            <a:spAutoFit/>
          </a:bodyPr>
          <a:lstStyle/>
          <a:p>
            <a:pPr algn="l"/>
            <a:r>
              <a:rPr sz="1050" b="1" i="0">
                <a:solidFill>
                  <a:srgbClr val="2C1A0E"/>
                </a:solidFill>
              </a:rPr>
              <a:t>CUSTOMER</a:t>
            </a:r>
          </a:p>
        </p:txBody>
      </p:sp>
      <p:sp>
        <p:nvSpPr>
          <p:cNvPr id="31" name="TextBox 30"/>
          <p:cNvSpPr txBox="1"/>
          <p:nvPr/>
        </p:nvSpPr>
        <p:spPr>
          <a:xfrm>
            <a:off x="2331720" y="3611880"/>
            <a:ext cx="3383280" cy="274320"/>
          </a:xfrm>
          <a:prstGeom prst="rect">
            <a:avLst/>
          </a:prstGeom>
          <a:noFill/>
        </p:spPr>
        <p:txBody>
          <a:bodyPr wrap="square">
            <a:spAutoFit/>
          </a:bodyPr>
          <a:lstStyle/>
          <a:p>
            <a:pPr algn="l"/>
            <a:r>
              <a:rPr sz="1000" b="0" i="0">
                <a:solidFill>
                  <a:srgbClr val="3D3D3D"/>
                </a:solidFill>
              </a:rPr>
              <a:t>Browse menus · Place orders · Track status · AI suggestions</a:t>
            </a:r>
          </a:p>
        </p:txBody>
      </p:sp>
      <p:sp>
        <p:nvSpPr>
          <p:cNvPr id="32" name="Rectangle 31"/>
          <p:cNvSpPr/>
          <p:nvPr/>
        </p:nvSpPr>
        <p:spPr>
          <a:xfrm>
            <a:off x="411480" y="3886200"/>
            <a:ext cx="5394960" cy="9144"/>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3941064"/>
            <a:ext cx="1828800" cy="274320"/>
          </a:xfrm>
          <a:prstGeom prst="rect">
            <a:avLst/>
          </a:prstGeom>
          <a:noFill/>
        </p:spPr>
        <p:txBody>
          <a:bodyPr wrap="square">
            <a:spAutoFit/>
          </a:bodyPr>
          <a:lstStyle/>
          <a:p>
            <a:pPr algn="l"/>
            <a:r>
              <a:rPr sz="1050" b="1" i="0">
                <a:solidFill>
                  <a:srgbClr val="2C1A0E"/>
                </a:solidFill>
              </a:rPr>
              <a:t>BRANCH_MANAGER</a:t>
            </a:r>
          </a:p>
        </p:txBody>
      </p:sp>
      <p:sp>
        <p:nvSpPr>
          <p:cNvPr id="34" name="TextBox 33"/>
          <p:cNvSpPr txBox="1"/>
          <p:nvPr/>
        </p:nvSpPr>
        <p:spPr>
          <a:xfrm>
            <a:off x="2331720" y="3941064"/>
            <a:ext cx="3383280" cy="274320"/>
          </a:xfrm>
          <a:prstGeom prst="rect">
            <a:avLst/>
          </a:prstGeom>
          <a:noFill/>
        </p:spPr>
        <p:txBody>
          <a:bodyPr wrap="square">
            <a:spAutoFit/>
          </a:bodyPr>
          <a:lstStyle/>
          <a:p>
            <a:pPr algn="l"/>
            <a:r>
              <a:rPr sz="1000" b="0" i="0">
                <a:solidFill>
                  <a:srgbClr val="3D3D3D"/>
                </a:solidFill>
              </a:rPr>
              <a:t>Manage branch · View orders · Analytics dashboard</a:t>
            </a:r>
          </a:p>
        </p:txBody>
      </p:sp>
      <p:sp>
        <p:nvSpPr>
          <p:cNvPr id="35" name="Rectangle 34"/>
          <p:cNvSpPr/>
          <p:nvPr/>
        </p:nvSpPr>
        <p:spPr>
          <a:xfrm>
            <a:off x="411480" y="4215384"/>
            <a:ext cx="5394960" cy="9144"/>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4270248"/>
            <a:ext cx="1828800" cy="274320"/>
          </a:xfrm>
          <a:prstGeom prst="rect">
            <a:avLst/>
          </a:prstGeom>
          <a:noFill/>
        </p:spPr>
        <p:txBody>
          <a:bodyPr wrap="square">
            <a:spAutoFit/>
          </a:bodyPr>
          <a:lstStyle/>
          <a:p>
            <a:pPr algn="l"/>
            <a:r>
              <a:rPr sz="1050" b="1" i="0">
                <a:solidFill>
                  <a:srgbClr val="2C1A0E"/>
                </a:solidFill>
              </a:rPr>
              <a:t>KITCHEN_STAFF</a:t>
            </a:r>
          </a:p>
        </p:txBody>
      </p:sp>
      <p:sp>
        <p:nvSpPr>
          <p:cNvPr id="37" name="TextBox 36"/>
          <p:cNvSpPr txBox="1"/>
          <p:nvPr/>
        </p:nvSpPr>
        <p:spPr>
          <a:xfrm>
            <a:off x="2331720" y="4270248"/>
            <a:ext cx="3383280" cy="274320"/>
          </a:xfrm>
          <a:prstGeom prst="rect">
            <a:avLst/>
          </a:prstGeom>
          <a:noFill/>
        </p:spPr>
        <p:txBody>
          <a:bodyPr wrap="square">
            <a:spAutoFit/>
          </a:bodyPr>
          <a:lstStyle/>
          <a:p>
            <a:pPr algn="l"/>
            <a:r>
              <a:rPr sz="1000" b="0" i="0">
                <a:solidFill>
                  <a:srgbClr val="3D3D3D"/>
                </a:solidFill>
              </a:rPr>
              <a:t>View queue · Update order status · Mark ready</a:t>
            </a:r>
          </a:p>
        </p:txBody>
      </p:sp>
      <p:sp>
        <p:nvSpPr>
          <p:cNvPr id="38" name="Rectangle 37"/>
          <p:cNvSpPr/>
          <p:nvPr/>
        </p:nvSpPr>
        <p:spPr>
          <a:xfrm>
            <a:off x="411480" y="4544568"/>
            <a:ext cx="5394960" cy="9144"/>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4599432"/>
            <a:ext cx="1828800" cy="274320"/>
          </a:xfrm>
          <a:prstGeom prst="rect">
            <a:avLst/>
          </a:prstGeom>
          <a:noFill/>
        </p:spPr>
        <p:txBody>
          <a:bodyPr wrap="square">
            <a:spAutoFit/>
          </a:bodyPr>
          <a:lstStyle/>
          <a:p>
            <a:pPr algn="l"/>
            <a:r>
              <a:rPr sz="1050" b="1" i="0">
                <a:solidFill>
                  <a:srgbClr val="2C1A0E"/>
                </a:solidFill>
              </a:rPr>
              <a:t>HEAD_OFFICE_ADMIN</a:t>
            </a:r>
          </a:p>
        </p:txBody>
      </p:sp>
      <p:sp>
        <p:nvSpPr>
          <p:cNvPr id="40" name="TextBox 39"/>
          <p:cNvSpPr txBox="1"/>
          <p:nvPr/>
        </p:nvSpPr>
        <p:spPr>
          <a:xfrm>
            <a:off x="2331720" y="4599432"/>
            <a:ext cx="3383280" cy="274320"/>
          </a:xfrm>
          <a:prstGeom prst="rect">
            <a:avLst/>
          </a:prstGeom>
          <a:noFill/>
        </p:spPr>
        <p:txBody>
          <a:bodyPr wrap="square">
            <a:spAutoFit/>
          </a:bodyPr>
          <a:lstStyle/>
          <a:p>
            <a:pPr algn="l"/>
            <a:r>
              <a:rPr sz="1000" b="0" i="0">
                <a:solidFill>
                  <a:srgbClr val="3D3D3D"/>
                </a:solidFill>
              </a:rPr>
              <a:t>All branches · User management · Full analytics</a:t>
            </a:r>
          </a:p>
        </p:txBody>
      </p:sp>
      <p:sp>
        <p:nvSpPr>
          <p:cNvPr id="41" name="Rectangle 40"/>
          <p:cNvSpPr/>
          <p:nvPr/>
        </p:nvSpPr>
        <p:spPr>
          <a:xfrm>
            <a:off x="411480" y="4873752"/>
            <a:ext cx="5394960" cy="9144"/>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217920" y="3017520"/>
            <a:ext cx="5623560" cy="3291840"/>
          </a:xfrm>
          <a:prstGeom prst="rect">
            <a:avLst/>
          </a:prstGeom>
          <a:solidFill>
            <a:srgbClr val="FFFBF5"/>
          </a:solidFill>
          <a:ln w="19050">
            <a:solidFill>
              <a:srgbClr val="2D6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55080" y="3108960"/>
            <a:ext cx="5303520" cy="365760"/>
          </a:xfrm>
          <a:prstGeom prst="rect">
            <a:avLst/>
          </a:prstGeom>
          <a:noFill/>
        </p:spPr>
        <p:txBody>
          <a:bodyPr wrap="square">
            <a:spAutoFit/>
          </a:bodyPr>
          <a:lstStyle/>
          <a:p>
            <a:pPr algn="l"/>
            <a:r>
              <a:rPr sz="1350" b="1" i="0">
                <a:solidFill>
                  <a:srgbClr val="2D6AA0"/>
                </a:solidFill>
              </a:rPr>
              <a:t>🔑  JWT + OAuth2</a:t>
            </a:r>
          </a:p>
        </p:txBody>
      </p:sp>
      <p:sp>
        <p:nvSpPr>
          <p:cNvPr id="44" name="Rectangle 43"/>
          <p:cNvSpPr/>
          <p:nvPr/>
        </p:nvSpPr>
        <p:spPr>
          <a:xfrm>
            <a:off x="6355080" y="3493008"/>
            <a:ext cx="5303520" cy="45720"/>
          </a:xfrm>
          <a:prstGeom prst="rect">
            <a:avLst/>
          </a:prstGeom>
          <a:solidFill>
            <a:srgbClr val="2D6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55080" y="3611880"/>
            <a:ext cx="5303520" cy="274320"/>
          </a:xfrm>
          <a:prstGeom prst="rect">
            <a:avLst/>
          </a:prstGeom>
          <a:noFill/>
        </p:spPr>
        <p:txBody>
          <a:bodyPr wrap="square">
            <a:spAutoFit/>
          </a:bodyPr>
          <a:lstStyle/>
          <a:p>
            <a:pPr algn="l"/>
            <a:r>
              <a:rPr sz="1100" b="0" i="0">
                <a:solidFill>
                  <a:srgbClr val="3D3D3D"/>
                </a:solidFill>
              </a:rPr>
              <a:t>• RS256-signed JWT tokens</a:t>
            </a:r>
          </a:p>
        </p:txBody>
      </p:sp>
      <p:sp>
        <p:nvSpPr>
          <p:cNvPr id="46" name="TextBox 45"/>
          <p:cNvSpPr txBox="1"/>
          <p:nvPr/>
        </p:nvSpPr>
        <p:spPr>
          <a:xfrm>
            <a:off x="6355080" y="3904488"/>
            <a:ext cx="5303520" cy="274320"/>
          </a:xfrm>
          <a:prstGeom prst="rect">
            <a:avLst/>
          </a:prstGeom>
          <a:noFill/>
        </p:spPr>
        <p:txBody>
          <a:bodyPr wrap="square">
            <a:spAutoFit/>
          </a:bodyPr>
          <a:lstStyle/>
          <a:p>
            <a:pPr algn="l"/>
            <a:r>
              <a:rPr sz="1100" b="0" i="0">
                <a:solidFill>
                  <a:srgbClr val="3D3D3D"/>
                </a:solidFill>
              </a:rPr>
              <a:t>• 15-min access + 7-day refresh tokens</a:t>
            </a:r>
          </a:p>
        </p:txBody>
      </p:sp>
      <p:sp>
        <p:nvSpPr>
          <p:cNvPr id="47" name="TextBox 46"/>
          <p:cNvSpPr txBox="1"/>
          <p:nvPr/>
        </p:nvSpPr>
        <p:spPr>
          <a:xfrm>
            <a:off x="6355080" y="4197096"/>
            <a:ext cx="5303520" cy="274320"/>
          </a:xfrm>
          <a:prstGeom prst="rect">
            <a:avLst/>
          </a:prstGeom>
          <a:noFill/>
        </p:spPr>
        <p:txBody>
          <a:bodyPr wrap="square">
            <a:spAutoFit/>
          </a:bodyPr>
          <a:lstStyle/>
          <a:p>
            <a:pPr algn="l"/>
            <a:r>
              <a:rPr sz="1100" b="0" i="0">
                <a:solidFill>
                  <a:srgbClr val="3D3D3D"/>
                </a:solidFill>
              </a:rPr>
              <a:t>• Redis-backed blacklist for logout/revocation</a:t>
            </a:r>
          </a:p>
        </p:txBody>
      </p:sp>
      <p:sp>
        <p:nvSpPr>
          <p:cNvPr id="48" name="TextBox 47"/>
          <p:cNvSpPr txBox="1"/>
          <p:nvPr/>
        </p:nvSpPr>
        <p:spPr>
          <a:xfrm>
            <a:off x="6355080" y="4489704"/>
            <a:ext cx="5303520" cy="274320"/>
          </a:xfrm>
          <a:prstGeom prst="rect">
            <a:avLst/>
          </a:prstGeom>
          <a:noFill/>
        </p:spPr>
        <p:txBody>
          <a:bodyPr wrap="square">
            <a:spAutoFit/>
          </a:bodyPr>
          <a:lstStyle/>
          <a:p>
            <a:pPr algn="l"/>
            <a:r>
              <a:rPr sz="1100" b="0" i="0">
                <a:solidFill>
                  <a:srgbClr val="3D3D3D"/>
                </a:solidFill>
              </a:rPr>
              <a:t>• Google OAuth2 social login supported</a:t>
            </a:r>
          </a:p>
        </p:txBody>
      </p:sp>
      <p:sp>
        <p:nvSpPr>
          <p:cNvPr id="49" name="TextBox 48"/>
          <p:cNvSpPr txBox="1"/>
          <p:nvPr/>
        </p:nvSpPr>
        <p:spPr>
          <a:xfrm>
            <a:off x="6355080" y="4782312"/>
            <a:ext cx="5303520" cy="274320"/>
          </a:xfrm>
          <a:prstGeom prst="rect">
            <a:avLst/>
          </a:prstGeom>
          <a:noFill/>
        </p:spPr>
        <p:txBody>
          <a:bodyPr wrap="square">
            <a:spAutoFit/>
          </a:bodyPr>
          <a:lstStyle/>
          <a:p>
            <a:pPr algn="l"/>
            <a:r>
              <a:rPr sz="1100" b="0" i="0">
                <a:solidFill>
                  <a:srgbClr val="3D3D3D"/>
                </a:solidFill>
              </a:rPr>
              <a:t>• X-User-Id &amp; X-User-Role headers injected</a:t>
            </a:r>
          </a:p>
        </p:txBody>
      </p:sp>
      <p:sp>
        <p:nvSpPr>
          <p:cNvPr id="50" name="TextBox 49"/>
          <p:cNvSpPr txBox="1"/>
          <p:nvPr/>
        </p:nvSpPr>
        <p:spPr>
          <a:xfrm>
            <a:off x="6355080" y="5074920"/>
            <a:ext cx="5303520" cy="274320"/>
          </a:xfrm>
          <a:prstGeom prst="rect">
            <a:avLst/>
          </a:prstGeom>
          <a:noFill/>
        </p:spPr>
        <p:txBody>
          <a:bodyPr wrap="square">
            <a:spAutoFit/>
          </a:bodyPr>
          <a:lstStyle/>
          <a:p>
            <a:pPr algn="l"/>
            <a:r>
              <a:rPr sz="1100" b="0" i="0">
                <a:solidFill>
                  <a:srgbClr val="3D3D3D"/>
                </a:solidFill>
              </a:rPr>
              <a:t>    by gateway — services trust headers</a:t>
            </a:r>
          </a:p>
        </p:txBody>
      </p:sp>
      <p:sp>
        <p:nvSpPr>
          <p:cNvPr id="51" name="TextBox 50"/>
          <p:cNvSpPr txBox="1"/>
          <p:nvPr/>
        </p:nvSpPr>
        <p:spPr>
          <a:xfrm>
            <a:off x="6355080" y="5367528"/>
            <a:ext cx="5303520" cy="274320"/>
          </a:xfrm>
          <a:prstGeom prst="rect">
            <a:avLst/>
          </a:prstGeom>
          <a:noFill/>
        </p:spPr>
        <p:txBody>
          <a:bodyPr wrap="square">
            <a:spAutoFit/>
          </a:bodyPr>
          <a:lstStyle/>
          <a:p>
            <a:pPr algn="l"/>
            <a:r>
              <a:rPr sz="1100" b="0" i="0">
                <a:solidFill>
                  <a:srgbClr val="3D3D3D"/>
                </a:solidFill>
              </a:rPr>
              <a:t>• Spring Security method-level @PreAuthorize</a:t>
            </a:r>
          </a:p>
        </p:txBody>
      </p:sp>
      <p:sp>
        <p:nvSpPr>
          <p:cNvPr id="52" name="TextBox 51"/>
          <p:cNvSpPr txBox="1"/>
          <p:nvPr/>
        </p:nvSpPr>
        <p:spPr>
          <a:xfrm>
            <a:off x="6355080" y="5660136"/>
            <a:ext cx="5303520" cy="274320"/>
          </a:xfrm>
          <a:prstGeom prst="rect">
            <a:avLst/>
          </a:prstGeom>
          <a:noFill/>
        </p:spPr>
        <p:txBody>
          <a:bodyPr wrap="square">
            <a:spAutoFit/>
          </a:bodyPr>
          <a:lstStyle/>
          <a:p>
            <a:pPr algn="l"/>
            <a:r>
              <a:rPr sz="1100" b="0" i="0">
                <a:solidFill>
                  <a:srgbClr val="3D3D3D"/>
                </a:solidFill>
              </a:rPr>
              <a:t>• H2 in-memory DB for test isolation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DF6EC"/>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144000" cy="640080"/>
          </a:xfrm>
          <a:prstGeom prst="rect">
            <a:avLst/>
          </a:prstGeom>
          <a:noFill/>
        </p:spPr>
        <p:txBody>
          <a:bodyPr wrap="square">
            <a:spAutoFit/>
          </a:bodyPr>
          <a:lstStyle/>
          <a:p>
            <a:pPr algn="l"/>
            <a:r>
              <a:rPr sz="2800" b="1" i="0">
                <a:solidFill>
                  <a:srgbClr val="FFFBF5"/>
                </a:solidFill>
              </a:rPr>
              <a:t>Analytics &amp; Reporting</a:t>
            </a:r>
          </a:p>
        </p:txBody>
      </p:sp>
      <p:sp>
        <p:nvSpPr>
          <p:cNvPr id="4" name="TextBox 3"/>
          <p:cNvSpPr txBox="1"/>
          <p:nvPr/>
        </p:nvSpPr>
        <p:spPr>
          <a:xfrm>
            <a:off x="457200" y="749808"/>
            <a:ext cx="10058400" cy="411480"/>
          </a:xfrm>
          <a:prstGeom prst="rect">
            <a:avLst/>
          </a:prstGeom>
          <a:noFill/>
        </p:spPr>
        <p:txBody>
          <a:bodyPr wrap="square">
            <a:spAutoFit/>
          </a:bodyPr>
          <a:lstStyle/>
          <a:p>
            <a:pPr algn="l"/>
            <a:r>
              <a:rPr sz="1400" b="0" i="1">
                <a:solidFill>
                  <a:srgbClr val="F5A623"/>
                </a:solidFill>
              </a:rPr>
              <a:t>Real-time insights · RBAC-filtered · Redis-cached</a:t>
            </a:r>
          </a:p>
        </p:txBody>
      </p:sp>
      <p:sp>
        <p:nvSpPr>
          <p:cNvPr id="5" name="Rectangle 4"/>
          <p:cNvSpPr/>
          <p:nvPr/>
        </p:nvSpPr>
        <p:spPr>
          <a:xfrm>
            <a:off x="0" y="12344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463040"/>
            <a:ext cx="1920240" cy="1188720"/>
          </a:xfrm>
          <a:prstGeom prst="rect">
            <a:avLst/>
          </a:prstGeom>
          <a:solidFill>
            <a:srgbClr val="FFFBF5"/>
          </a:solidFill>
          <a:ln w="1524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508760"/>
            <a:ext cx="1828800" cy="438912"/>
          </a:xfrm>
          <a:prstGeom prst="rect">
            <a:avLst/>
          </a:prstGeom>
          <a:noFill/>
        </p:spPr>
        <p:txBody>
          <a:bodyPr wrap="square">
            <a:spAutoFit/>
          </a:bodyPr>
          <a:lstStyle/>
          <a:p>
            <a:pPr algn="ctr"/>
            <a:r>
              <a:rPr sz="2200" b="0" i="0"/>
              <a:t>📦</a:t>
            </a:r>
          </a:p>
        </p:txBody>
      </p:sp>
      <p:sp>
        <p:nvSpPr>
          <p:cNvPr id="8" name="TextBox 7"/>
          <p:cNvSpPr txBox="1"/>
          <p:nvPr/>
        </p:nvSpPr>
        <p:spPr>
          <a:xfrm>
            <a:off x="320040" y="1920240"/>
            <a:ext cx="1828800" cy="292608"/>
          </a:xfrm>
          <a:prstGeom prst="rect">
            <a:avLst/>
          </a:prstGeom>
          <a:noFill/>
        </p:spPr>
        <p:txBody>
          <a:bodyPr wrap="square">
            <a:spAutoFit/>
          </a:bodyPr>
          <a:lstStyle/>
          <a:p>
            <a:pPr algn="ctr"/>
            <a:r>
              <a:rPr sz="1150" b="1" i="0">
                <a:solidFill>
                  <a:srgbClr val="2C1A0E"/>
                </a:solidFill>
              </a:rPr>
              <a:t>Total Orders</a:t>
            </a:r>
          </a:p>
        </p:txBody>
      </p:sp>
      <p:sp>
        <p:nvSpPr>
          <p:cNvPr id="9" name="TextBox 8"/>
          <p:cNvSpPr txBox="1"/>
          <p:nvPr/>
        </p:nvSpPr>
        <p:spPr>
          <a:xfrm>
            <a:off x="320040" y="2212848"/>
            <a:ext cx="1828800" cy="274320"/>
          </a:xfrm>
          <a:prstGeom prst="rect">
            <a:avLst/>
          </a:prstGeom>
          <a:noFill/>
        </p:spPr>
        <p:txBody>
          <a:bodyPr wrap="square">
            <a:spAutoFit/>
          </a:bodyPr>
          <a:lstStyle/>
          <a:p>
            <a:pPr algn="ctr"/>
            <a:r>
              <a:rPr sz="950" b="0" i="0">
                <a:solidFill>
                  <a:srgbClr val="B0A89E"/>
                </a:solidFill>
              </a:rPr>
              <a:t>Branch &amp; date range</a:t>
            </a:r>
          </a:p>
        </p:txBody>
      </p:sp>
      <p:sp>
        <p:nvSpPr>
          <p:cNvPr id="10" name="Rectangle 9"/>
          <p:cNvSpPr/>
          <p:nvPr/>
        </p:nvSpPr>
        <p:spPr>
          <a:xfrm>
            <a:off x="2286000" y="1463040"/>
            <a:ext cx="1920240" cy="1188720"/>
          </a:xfrm>
          <a:prstGeom prst="rect">
            <a:avLst/>
          </a:prstGeom>
          <a:solidFill>
            <a:srgbClr val="FFFBF5"/>
          </a:solidFill>
          <a:ln w="1524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31720" y="1508760"/>
            <a:ext cx="1828800" cy="438912"/>
          </a:xfrm>
          <a:prstGeom prst="rect">
            <a:avLst/>
          </a:prstGeom>
          <a:noFill/>
        </p:spPr>
        <p:txBody>
          <a:bodyPr wrap="square">
            <a:spAutoFit/>
          </a:bodyPr>
          <a:lstStyle/>
          <a:p>
            <a:pPr algn="ctr"/>
            <a:r>
              <a:rPr sz="2200" b="0" i="0"/>
              <a:t>💰</a:t>
            </a:r>
          </a:p>
        </p:txBody>
      </p:sp>
      <p:sp>
        <p:nvSpPr>
          <p:cNvPr id="12" name="TextBox 11"/>
          <p:cNvSpPr txBox="1"/>
          <p:nvPr/>
        </p:nvSpPr>
        <p:spPr>
          <a:xfrm>
            <a:off x="2331720" y="1920240"/>
            <a:ext cx="1828800" cy="292608"/>
          </a:xfrm>
          <a:prstGeom prst="rect">
            <a:avLst/>
          </a:prstGeom>
          <a:noFill/>
        </p:spPr>
        <p:txBody>
          <a:bodyPr wrap="square">
            <a:spAutoFit/>
          </a:bodyPr>
          <a:lstStyle/>
          <a:p>
            <a:pPr algn="ctr"/>
            <a:r>
              <a:rPr sz="1150" b="1" i="0">
                <a:solidFill>
                  <a:srgbClr val="2C1A0E"/>
                </a:solidFill>
              </a:rPr>
              <a:t>Revenue</a:t>
            </a:r>
          </a:p>
        </p:txBody>
      </p:sp>
      <p:sp>
        <p:nvSpPr>
          <p:cNvPr id="13" name="TextBox 12"/>
          <p:cNvSpPr txBox="1"/>
          <p:nvPr/>
        </p:nvSpPr>
        <p:spPr>
          <a:xfrm>
            <a:off x="2331720" y="2212848"/>
            <a:ext cx="1828800" cy="274320"/>
          </a:xfrm>
          <a:prstGeom prst="rect">
            <a:avLst/>
          </a:prstGeom>
          <a:noFill/>
        </p:spPr>
        <p:txBody>
          <a:bodyPr wrap="square">
            <a:spAutoFit/>
          </a:bodyPr>
          <a:lstStyle/>
          <a:p>
            <a:pPr algn="ctr"/>
            <a:r>
              <a:rPr sz="950" b="0" i="0">
                <a:solidFill>
                  <a:srgbClr val="B0A89E"/>
                </a:solidFill>
              </a:rPr>
              <a:t>Gross per branch</a:t>
            </a:r>
          </a:p>
        </p:txBody>
      </p:sp>
      <p:sp>
        <p:nvSpPr>
          <p:cNvPr id="14" name="Rectangle 13"/>
          <p:cNvSpPr/>
          <p:nvPr/>
        </p:nvSpPr>
        <p:spPr>
          <a:xfrm>
            <a:off x="4297680" y="1463040"/>
            <a:ext cx="1920240" cy="1188720"/>
          </a:xfrm>
          <a:prstGeom prst="rect">
            <a:avLst/>
          </a:prstGeom>
          <a:solidFill>
            <a:srgbClr val="FFFBF5"/>
          </a:solidFill>
          <a:ln w="1524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43400" y="1508760"/>
            <a:ext cx="1828800" cy="438912"/>
          </a:xfrm>
          <a:prstGeom prst="rect">
            <a:avLst/>
          </a:prstGeom>
          <a:noFill/>
        </p:spPr>
        <p:txBody>
          <a:bodyPr wrap="square">
            <a:spAutoFit/>
          </a:bodyPr>
          <a:lstStyle/>
          <a:p>
            <a:pPr algn="ctr"/>
            <a:r>
              <a:rPr sz="2200" b="0" i="0"/>
              <a:t>⭐</a:t>
            </a:r>
          </a:p>
        </p:txBody>
      </p:sp>
      <p:sp>
        <p:nvSpPr>
          <p:cNvPr id="16" name="TextBox 15"/>
          <p:cNvSpPr txBox="1"/>
          <p:nvPr/>
        </p:nvSpPr>
        <p:spPr>
          <a:xfrm>
            <a:off x="4343400" y="1920240"/>
            <a:ext cx="1828800" cy="292608"/>
          </a:xfrm>
          <a:prstGeom prst="rect">
            <a:avLst/>
          </a:prstGeom>
          <a:noFill/>
        </p:spPr>
        <p:txBody>
          <a:bodyPr wrap="square">
            <a:spAutoFit/>
          </a:bodyPr>
          <a:lstStyle/>
          <a:p>
            <a:pPr algn="ctr"/>
            <a:r>
              <a:rPr sz="1150" b="1" i="0">
                <a:solidFill>
                  <a:srgbClr val="2C1A0E"/>
                </a:solidFill>
              </a:rPr>
              <a:t>Top Items</a:t>
            </a:r>
          </a:p>
        </p:txBody>
      </p:sp>
      <p:sp>
        <p:nvSpPr>
          <p:cNvPr id="17" name="TextBox 16"/>
          <p:cNvSpPr txBox="1"/>
          <p:nvPr/>
        </p:nvSpPr>
        <p:spPr>
          <a:xfrm>
            <a:off x="4343400" y="2212848"/>
            <a:ext cx="1828800" cy="274320"/>
          </a:xfrm>
          <a:prstGeom prst="rect">
            <a:avLst/>
          </a:prstGeom>
          <a:noFill/>
        </p:spPr>
        <p:txBody>
          <a:bodyPr wrap="square">
            <a:spAutoFit/>
          </a:bodyPr>
          <a:lstStyle/>
          <a:p>
            <a:pPr algn="ctr"/>
            <a:r>
              <a:rPr sz="950" b="0" i="0">
                <a:solidFill>
                  <a:srgbClr val="B0A89E"/>
                </a:solidFill>
              </a:rPr>
              <a:t>By quantity &amp; revenue</a:t>
            </a:r>
          </a:p>
        </p:txBody>
      </p:sp>
      <p:sp>
        <p:nvSpPr>
          <p:cNvPr id="18" name="Rectangle 17"/>
          <p:cNvSpPr/>
          <p:nvPr/>
        </p:nvSpPr>
        <p:spPr>
          <a:xfrm>
            <a:off x="6309360" y="1463040"/>
            <a:ext cx="1920240" cy="1188720"/>
          </a:xfrm>
          <a:prstGeom prst="rect">
            <a:avLst/>
          </a:prstGeom>
          <a:solidFill>
            <a:srgbClr val="FFFBF5"/>
          </a:solidFill>
          <a:ln w="1524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1508760"/>
            <a:ext cx="1828800" cy="438912"/>
          </a:xfrm>
          <a:prstGeom prst="rect">
            <a:avLst/>
          </a:prstGeom>
          <a:noFill/>
        </p:spPr>
        <p:txBody>
          <a:bodyPr wrap="square">
            <a:spAutoFit/>
          </a:bodyPr>
          <a:lstStyle/>
          <a:p>
            <a:pPr algn="ctr"/>
            <a:r>
              <a:rPr sz="2200" b="0" i="0"/>
              <a:t>⏱️</a:t>
            </a:r>
          </a:p>
        </p:txBody>
      </p:sp>
      <p:sp>
        <p:nvSpPr>
          <p:cNvPr id="20" name="TextBox 19"/>
          <p:cNvSpPr txBox="1"/>
          <p:nvPr/>
        </p:nvSpPr>
        <p:spPr>
          <a:xfrm>
            <a:off x="6355080" y="1920240"/>
            <a:ext cx="1828800" cy="292608"/>
          </a:xfrm>
          <a:prstGeom prst="rect">
            <a:avLst/>
          </a:prstGeom>
          <a:noFill/>
        </p:spPr>
        <p:txBody>
          <a:bodyPr wrap="square">
            <a:spAutoFit/>
          </a:bodyPr>
          <a:lstStyle/>
          <a:p>
            <a:pPr algn="ctr"/>
            <a:r>
              <a:rPr sz="1150" b="1" i="0">
                <a:solidFill>
                  <a:srgbClr val="2C1A0E"/>
                </a:solidFill>
              </a:rPr>
              <a:t>Avg Fulfilment</a:t>
            </a:r>
          </a:p>
        </p:txBody>
      </p:sp>
      <p:sp>
        <p:nvSpPr>
          <p:cNvPr id="21" name="TextBox 20"/>
          <p:cNvSpPr txBox="1"/>
          <p:nvPr/>
        </p:nvSpPr>
        <p:spPr>
          <a:xfrm>
            <a:off x="6355080" y="2212848"/>
            <a:ext cx="1828800" cy="274320"/>
          </a:xfrm>
          <a:prstGeom prst="rect">
            <a:avLst/>
          </a:prstGeom>
          <a:noFill/>
        </p:spPr>
        <p:txBody>
          <a:bodyPr wrap="square">
            <a:spAutoFit/>
          </a:bodyPr>
          <a:lstStyle/>
          <a:p>
            <a:pPr algn="ctr"/>
            <a:r>
              <a:rPr sz="950" b="0" i="0">
                <a:solidFill>
                  <a:srgbClr val="B0A89E"/>
                </a:solidFill>
              </a:rPr>
              <a:t>SLA compliance %</a:t>
            </a:r>
          </a:p>
        </p:txBody>
      </p:sp>
      <p:sp>
        <p:nvSpPr>
          <p:cNvPr id="22" name="Rectangle 21"/>
          <p:cNvSpPr/>
          <p:nvPr/>
        </p:nvSpPr>
        <p:spPr>
          <a:xfrm>
            <a:off x="8321040" y="1463040"/>
            <a:ext cx="1920240" cy="1188720"/>
          </a:xfrm>
          <a:prstGeom prst="rect">
            <a:avLst/>
          </a:prstGeom>
          <a:solidFill>
            <a:srgbClr val="FFFBF5"/>
          </a:solidFill>
          <a:ln w="1524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66760" y="1508760"/>
            <a:ext cx="1828800" cy="438912"/>
          </a:xfrm>
          <a:prstGeom prst="rect">
            <a:avLst/>
          </a:prstGeom>
          <a:noFill/>
        </p:spPr>
        <p:txBody>
          <a:bodyPr wrap="square">
            <a:spAutoFit/>
          </a:bodyPr>
          <a:lstStyle/>
          <a:p>
            <a:pPr algn="ctr"/>
            <a:r>
              <a:rPr sz="2200" b="0" i="0"/>
              <a:t>📊</a:t>
            </a:r>
          </a:p>
        </p:txBody>
      </p:sp>
      <p:sp>
        <p:nvSpPr>
          <p:cNvPr id="24" name="TextBox 23"/>
          <p:cNvSpPr txBox="1"/>
          <p:nvPr/>
        </p:nvSpPr>
        <p:spPr>
          <a:xfrm>
            <a:off x="8366760" y="1920240"/>
            <a:ext cx="1828800" cy="292608"/>
          </a:xfrm>
          <a:prstGeom prst="rect">
            <a:avLst/>
          </a:prstGeom>
          <a:noFill/>
        </p:spPr>
        <p:txBody>
          <a:bodyPr wrap="square">
            <a:spAutoFit/>
          </a:bodyPr>
          <a:lstStyle/>
          <a:p>
            <a:pPr algn="ctr"/>
            <a:r>
              <a:rPr sz="1150" b="1" i="0">
                <a:solidFill>
                  <a:srgbClr val="2C1A0E"/>
                </a:solidFill>
              </a:rPr>
              <a:t>Daily Summary</a:t>
            </a:r>
          </a:p>
        </p:txBody>
      </p:sp>
      <p:sp>
        <p:nvSpPr>
          <p:cNvPr id="25" name="TextBox 24"/>
          <p:cNvSpPr txBox="1"/>
          <p:nvPr/>
        </p:nvSpPr>
        <p:spPr>
          <a:xfrm>
            <a:off x="8366760" y="2212848"/>
            <a:ext cx="1828800" cy="274320"/>
          </a:xfrm>
          <a:prstGeom prst="rect">
            <a:avLst/>
          </a:prstGeom>
          <a:noFill/>
        </p:spPr>
        <p:txBody>
          <a:bodyPr wrap="square">
            <a:spAutoFit/>
          </a:bodyPr>
          <a:lstStyle/>
          <a:p>
            <a:pPr algn="ctr"/>
            <a:r>
              <a:rPr sz="950" b="0" i="0">
                <a:solidFill>
                  <a:srgbClr val="B0A89E"/>
                </a:solidFill>
              </a:rPr>
              <a:t>Trend over time</a:t>
            </a:r>
          </a:p>
        </p:txBody>
      </p:sp>
      <p:sp>
        <p:nvSpPr>
          <p:cNvPr id="26" name="Rectangle 25"/>
          <p:cNvSpPr/>
          <p:nvPr/>
        </p:nvSpPr>
        <p:spPr>
          <a:xfrm>
            <a:off x="10332720" y="1463040"/>
            <a:ext cx="1920240" cy="1188720"/>
          </a:xfrm>
          <a:prstGeom prst="rect">
            <a:avLst/>
          </a:prstGeom>
          <a:solidFill>
            <a:srgbClr val="FFFBF5"/>
          </a:solidFill>
          <a:ln w="1524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378440" y="1508760"/>
            <a:ext cx="1828800" cy="438912"/>
          </a:xfrm>
          <a:prstGeom prst="rect">
            <a:avLst/>
          </a:prstGeom>
          <a:noFill/>
        </p:spPr>
        <p:txBody>
          <a:bodyPr wrap="square">
            <a:spAutoFit/>
          </a:bodyPr>
          <a:lstStyle/>
          <a:p>
            <a:pPr algn="ctr"/>
            <a:r>
              <a:rPr sz="2200" b="0" i="0"/>
              <a:t>🔁</a:t>
            </a:r>
          </a:p>
        </p:txBody>
      </p:sp>
      <p:sp>
        <p:nvSpPr>
          <p:cNvPr id="28" name="TextBox 27"/>
          <p:cNvSpPr txBox="1"/>
          <p:nvPr/>
        </p:nvSpPr>
        <p:spPr>
          <a:xfrm>
            <a:off x="10378440" y="1920240"/>
            <a:ext cx="1828800" cy="292608"/>
          </a:xfrm>
          <a:prstGeom prst="rect">
            <a:avLst/>
          </a:prstGeom>
          <a:noFill/>
        </p:spPr>
        <p:txBody>
          <a:bodyPr wrap="square">
            <a:spAutoFit/>
          </a:bodyPr>
          <a:lstStyle/>
          <a:p>
            <a:pPr algn="ctr"/>
            <a:r>
              <a:rPr sz="1150" b="1" i="0">
                <a:solidFill>
                  <a:srgbClr val="2C1A0E"/>
                </a:solidFill>
              </a:rPr>
              <a:t>Item Analytics</a:t>
            </a:r>
          </a:p>
        </p:txBody>
      </p:sp>
      <p:sp>
        <p:nvSpPr>
          <p:cNvPr id="29" name="TextBox 28"/>
          <p:cNvSpPr txBox="1"/>
          <p:nvPr/>
        </p:nvSpPr>
        <p:spPr>
          <a:xfrm>
            <a:off x="10378440" y="2212848"/>
            <a:ext cx="1828800" cy="274320"/>
          </a:xfrm>
          <a:prstGeom prst="rect">
            <a:avLst/>
          </a:prstGeom>
          <a:noFill/>
        </p:spPr>
        <p:txBody>
          <a:bodyPr wrap="square">
            <a:spAutoFit/>
          </a:bodyPr>
          <a:lstStyle/>
          <a:p>
            <a:pPr algn="ctr"/>
            <a:r>
              <a:rPr sz="950" b="0" i="0">
                <a:solidFill>
                  <a:srgbClr val="B0A89E"/>
                </a:solidFill>
              </a:rPr>
              <a:t>OrderItemAnalytics entity</a:t>
            </a:r>
          </a:p>
        </p:txBody>
      </p:sp>
      <p:sp>
        <p:nvSpPr>
          <p:cNvPr id="30" name="Rectangle 29"/>
          <p:cNvSpPr/>
          <p:nvPr/>
        </p:nvSpPr>
        <p:spPr>
          <a:xfrm>
            <a:off x="274320" y="2926080"/>
            <a:ext cx="5486400" cy="3474720"/>
          </a:xfrm>
          <a:prstGeom prst="rect">
            <a:avLst/>
          </a:prstGeom>
          <a:solidFill>
            <a:srgbClr val="FFFBF5"/>
          </a:solidFill>
          <a:ln w="19050">
            <a:solidFill>
              <a:srgbClr val="2C1A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3017520"/>
            <a:ext cx="5212080" cy="365760"/>
          </a:xfrm>
          <a:prstGeom prst="rect">
            <a:avLst/>
          </a:prstGeom>
          <a:noFill/>
        </p:spPr>
        <p:txBody>
          <a:bodyPr wrap="square">
            <a:spAutoFit/>
          </a:bodyPr>
          <a:lstStyle/>
          <a:p>
            <a:pPr algn="l"/>
            <a:r>
              <a:rPr sz="1350" b="1" i="0">
                <a:solidFill>
                  <a:srgbClr val="2C1A0E"/>
                </a:solidFill>
              </a:rPr>
              <a:t>📐  Data Model</a:t>
            </a:r>
          </a:p>
        </p:txBody>
      </p:sp>
      <p:sp>
        <p:nvSpPr>
          <p:cNvPr id="32" name="Rectangle 31"/>
          <p:cNvSpPr/>
          <p:nvPr/>
        </p:nvSpPr>
        <p:spPr>
          <a:xfrm>
            <a:off x="411480" y="3401568"/>
            <a:ext cx="5212080"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3493008"/>
            <a:ext cx="2103120" cy="274320"/>
          </a:xfrm>
          <a:prstGeom prst="rect">
            <a:avLst/>
          </a:prstGeom>
          <a:noFill/>
        </p:spPr>
        <p:txBody>
          <a:bodyPr wrap="square">
            <a:spAutoFit/>
          </a:bodyPr>
          <a:lstStyle/>
          <a:p>
            <a:pPr algn="l"/>
            <a:r>
              <a:rPr sz="1100" b="1" i="0">
                <a:solidFill>
                  <a:srgbClr val="2C1A0E"/>
                </a:solidFill>
              </a:rPr>
              <a:t>OrderAnalytics</a:t>
            </a:r>
          </a:p>
        </p:txBody>
      </p:sp>
      <p:sp>
        <p:nvSpPr>
          <p:cNvPr id="34" name="TextBox 33"/>
          <p:cNvSpPr txBox="1"/>
          <p:nvPr/>
        </p:nvSpPr>
        <p:spPr>
          <a:xfrm>
            <a:off x="2606040" y="3493008"/>
            <a:ext cx="2926080" cy="274320"/>
          </a:xfrm>
          <a:prstGeom prst="rect">
            <a:avLst/>
          </a:prstGeom>
          <a:noFill/>
        </p:spPr>
        <p:txBody>
          <a:bodyPr wrap="square">
            <a:spAutoFit/>
          </a:bodyPr>
          <a:lstStyle/>
          <a:p>
            <a:pPr algn="l"/>
            <a:r>
              <a:rPr sz="1050" b="0" i="0">
                <a:solidFill>
                  <a:srgbClr val="3D3D3D"/>
                </a:solidFill>
              </a:rPr>
              <a:t>Order-level metrics: total, items count, status</a:t>
            </a:r>
          </a:p>
        </p:txBody>
      </p:sp>
      <p:sp>
        <p:nvSpPr>
          <p:cNvPr id="35" name="Rectangle 34"/>
          <p:cNvSpPr/>
          <p:nvPr/>
        </p:nvSpPr>
        <p:spPr>
          <a:xfrm>
            <a:off x="411480" y="3767328"/>
            <a:ext cx="5212080" cy="9144"/>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4224528"/>
            <a:ext cx="2103120" cy="274320"/>
          </a:xfrm>
          <a:prstGeom prst="rect">
            <a:avLst/>
          </a:prstGeom>
          <a:noFill/>
        </p:spPr>
        <p:txBody>
          <a:bodyPr wrap="square">
            <a:spAutoFit/>
          </a:bodyPr>
          <a:lstStyle/>
          <a:p>
            <a:pPr algn="l"/>
            <a:r>
              <a:rPr sz="1100" b="1" i="0">
                <a:solidFill>
                  <a:srgbClr val="2C1A0E"/>
                </a:solidFill>
              </a:rPr>
              <a:t>OrderItemAnalytics</a:t>
            </a:r>
          </a:p>
        </p:txBody>
      </p:sp>
      <p:sp>
        <p:nvSpPr>
          <p:cNvPr id="37" name="TextBox 36"/>
          <p:cNvSpPr txBox="1"/>
          <p:nvPr/>
        </p:nvSpPr>
        <p:spPr>
          <a:xfrm>
            <a:off x="2606040" y="4224528"/>
            <a:ext cx="2926080" cy="274320"/>
          </a:xfrm>
          <a:prstGeom prst="rect">
            <a:avLst/>
          </a:prstGeom>
          <a:noFill/>
        </p:spPr>
        <p:txBody>
          <a:bodyPr wrap="square">
            <a:spAutoFit/>
          </a:bodyPr>
          <a:lstStyle/>
          <a:p>
            <a:pPr algn="l"/>
            <a:r>
              <a:rPr sz="1050" b="0" i="0">
                <a:solidFill>
                  <a:srgbClr val="3D3D3D"/>
                </a:solidFill>
              </a:rPr>
              <a:t>Per-item: quantity, revenue, category, branch</a:t>
            </a:r>
          </a:p>
        </p:txBody>
      </p:sp>
      <p:sp>
        <p:nvSpPr>
          <p:cNvPr id="38" name="Rectangle 37"/>
          <p:cNvSpPr/>
          <p:nvPr/>
        </p:nvSpPr>
        <p:spPr>
          <a:xfrm>
            <a:off x="411480" y="4498848"/>
            <a:ext cx="5212080" cy="9144"/>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4956048"/>
            <a:ext cx="2103120" cy="274320"/>
          </a:xfrm>
          <a:prstGeom prst="rect">
            <a:avLst/>
          </a:prstGeom>
          <a:noFill/>
        </p:spPr>
        <p:txBody>
          <a:bodyPr wrap="square">
            <a:spAutoFit/>
          </a:bodyPr>
          <a:lstStyle/>
          <a:p>
            <a:pPr algn="l"/>
            <a:r>
              <a:rPr sz="1100" b="1" i="0">
                <a:solidFill>
                  <a:srgbClr val="2C1A0E"/>
                </a:solidFill>
              </a:rPr>
              <a:t>BranchDailySummary</a:t>
            </a:r>
          </a:p>
        </p:txBody>
      </p:sp>
      <p:sp>
        <p:nvSpPr>
          <p:cNvPr id="40" name="TextBox 39"/>
          <p:cNvSpPr txBox="1"/>
          <p:nvPr/>
        </p:nvSpPr>
        <p:spPr>
          <a:xfrm>
            <a:off x="2606040" y="4956048"/>
            <a:ext cx="2926080" cy="274320"/>
          </a:xfrm>
          <a:prstGeom prst="rect">
            <a:avLst/>
          </a:prstGeom>
          <a:noFill/>
        </p:spPr>
        <p:txBody>
          <a:bodyPr wrap="square">
            <a:spAutoFit/>
          </a:bodyPr>
          <a:lstStyle/>
          <a:p>
            <a:pPr algn="l"/>
            <a:r>
              <a:rPr sz="1050" b="0" i="0">
                <a:solidFill>
                  <a:srgbClr val="3D3D3D"/>
                </a:solidFill>
              </a:rPr>
              <a:t>Daily rollup: orders, revenue, avg fulfilment</a:t>
            </a:r>
          </a:p>
        </p:txBody>
      </p:sp>
      <p:sp>
        <p:nvSpPr>
          <p:cNvPr id="41" name="Rectangle 40"/>
          <p:cNvSpPr/>
          <p:nvPr/>
        </p:nvSpPr>
        <p:spPr>
          <a:xfrm>
            <a:off x="411480" y="5230368"/>
            <a:ext cx="5212080" cy="9144"/>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5687568"/>
            <a:ext cx="2103120" cy="274320"/>
          </a:xfrm>
          <a:prstGeom prst="rect">
            <a:avLst/>
          </a:prstGeom>
          <a:noFill/>
        </p:spPr>
        <p:txBody>
          <a:bodyPr wrap="square">
            <a:spAutoFit/>
          </a:bodyPr>
          <a:lstStyle/>
          <a:p>
            <a:pPr algn="l"/>
            <a:r>
              <a:rPr sz="1100" b="1" i="0">
                <a:solidFill>
                  <a:srgbClr val="2C1A0E"/>
                </a:solidFill>
              </a:rPr>
              <a:t>Report</a:t>
            </a:r>
          </a:p>
        </p:txBody>
      </p:sp>
      <p:sp>
        <p:nvSpPr>
          <p:cNvPr id="43" name="TextBox 42"/>
          <p:cNvSpPr txBox="1"/>
          <p:nvPr/>
        </p:nvSpPr>
        <p:spPr>
          <a:xfrm>
            <a:off x="2606040" y="5687568"/>
            <a:ext cx="2926080" cy="274320"/>
          </a:xfrm>
          <a:prstGeom prst="rect">
            <a:avLst/>
          </a:prstGeom>
          <a:noFill/>
        </p:spPr>
        <p:txBody>
          <a:bodyPr wrap="square">
            <a:spAutoFit/>
          </a:bodyPr>
          <a:lstStyle/>
          <a:p>
            <a:pPr algn="l"/>
            <a:r>
              <a:rPr sz="1050" b="0" i="0">
                <a:solidFill>
                  <a:srgbClr val="3D3D3D"/>
                </a:solidFill>
              </a:rPr>
              <a:t>Saved report snapshots with parameters</a:t>
            </a:r>
          </a:p>
        </p:txBody>
      </p:sp>
      <p:sp>
        <p:nvSpPr>
          <p:cNvPr id="44" name="Rectangle 43"/>
          <p:cNvSpPr/>
          <p:nvPr/>
        </p:nvSpPr>
        <p:spPr>
          <a:xfrm>
            <a:off x="411480" y="5961888"/>
            <a:ext cx="5212080" cy="9144"/>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989320" y="2926080"/>
            <a:ext cx="5897880" cy="3474720"/>
          </a:xfrm>
          <a:prstGeom prst="rect">
            <a:avLst/>
          </a:prstGeom>
          <a:solidFill>
            <a:srgbClr val="FFFBF5"/>
          </a:solidFill>
          <a:ln w="19050">
            <a:solidFill>
              <a:srgbClr val="6B8F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126480" y="3017520"/>
            <a:ext cx="5669280" cy="365760"/>
          </a:xfrm>
          <a:prstGeom prst="rect">
            <a:avLst/>
          </a:prstGeom>
          <a:noFill/>
        </p:spPr>
        <p:txBody>
          <a:bodyPr wrap="square">
            <a:spAutoFit/>
          </a:bodyPr>
          <a:lstStyle/>
          <a:p>
            <a:pPr algn="l"/>
            <a:r>
              <a:rPr sz="1350" b="1" i="0">
                <a:solidFill>
                  <a:srgbClr val="6B8F71"/>
                </a:solidFill>
              </a:rPr>
              <a:t>⚡  Performance &amp; Access Control</a:t>
            </a:r>
          </a:p>
        </p:txBody>
      </p:sp>
      <p:sp>
        <p:nvSpPr>
          <p:cNvPr id="47" name="Rectangle 46"/>
          <p:cNvSpPr/>
          <p:nvPr/>
        </p:nvSpPr>
        <p:spPr>
          <a:xfrm>
            <a:off x="6126480" y="3401568"/>
            <a:ext cx="5577840" cy="45720"/>
          </a:xfrm>
          <a:prstGeom prst="rect">
            <a:avLst/>
          </a:prstGeom>
          <a:solidFill>
            <a:srgbClr val="6B8F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126480" y="3493008"/>
            <a:ext cx="5577840" cy="274320"/>
          </a:xfrm>
          <a:prstGeom prst="rect">
            <a:avLst/>
          </a:prstGeom>
          <a:noFill/>
        </p:spPr>
        <p:txBody>
          <a:bodyPr wrap="square">
            <a:spAutoFit/>
          </a:bodyPr>
          <a:lstStyle/>
          <a:p>
            <a:pPr algn="l"/>
            <a:r>
              <a:rPr sz="1100" b="0" i="0">
                <a:solidFill>
                  <a:srgbClr val="3D3D3D"/>
                </a:solidFill>
              </a:rPr>
              <a:t>• Redis caching on all GET endpoints</a:t>
            </a:r>
          </a:p>
        </p:txBody>
      </p:sp>
      <p:sp>
        <p:nvSpPr>
          <p:cNvPr id="49" name="TextBox 48"/>
          <p:cNvSpPr txBox="1"/>
          <p:nvPr/>
        </p:nvSpPr>
        <p:spPr>
          <a:xfrm>
            <a:off x="6126480" y="3822192"/>
            <a:ext cx="5577840" cy="274320"/>
          </a:xfrm>
          <a:prstGeom prst="rect">
            <a:avLst/>
          </a:prstGeom>
          <a:noFill/>
        </p:spPr>
        <p:txBody>
          <a:bodyPr wrap="square">
            <a:spAutoFit/>
          </a:bodyPr>
          <a:lstStyle/>
          <a:p>
            <a:pPr algn="l"/>
            <a:r>
              <a:rPr sz="1100" b="0" i="0">
                <a:solidFill>
                  <a:srgbClr val="3D3D3D"/>
                </a:solidFill>
              </a:rPr>
              <a:t>    (TTL: 5 min, invalidated on write)</a:t>
            </a:r>
          </a:p>
        </p:txBody>
      </p:sp>
      <p:sp>
        <p:nvSpPr>
          <p:cNvPr id="50" name="TextBox 49"/>
          <p:cNvSpPr txBox="1"/>
          <p:nvPr/>
        </p:nvSpPr>
        <p:spPr>
          <a:xfrm>
            <a:off x="6126480" y="4151376"/>
            <a:ext cx="5577840" cy="274320"/>
          </a:xfrm>
          <a:prstGeom prst="rect">
            <a:avLst/>
          </a:prstGeom>
          <a:noFill/>
        </p:spPr>
        <p:txBody>
          <a:bodyPr wrap="square">
            <a:spAutoFit/>
          </a:bodyPr>
          <a:lstStyle/>
          <a:p>
            <a:pPr algn="l"/>
            <a:r>
              <a:rPr sz="1100" b="0" i="0">
                <a:solidFill>
                  <a:srgbClr val="3D3D3D"/>
                </a:solidFill>
              </a:rPr>
              <a:t>• HEAD_OFFICE_ADMIN: all branches</a:t>
            </a:r>
          </a:p>
        </p:txBody>
      </p:sp>
      <p:sp>
        <p:nvSpPr>
          <p:cNvPr id="51" name="TextBox 50"/>
          <p:cNvSpPr txBox="1"/>
          <p:nvPr/>
        </p:nvSpPr>
        <p:spPr>
          <a:xfrm>
            <a:off x="6126480" y="4480560"/>
            <a:ext cx="5577840" cy="274320"/>
          </a:xfrm>
          <a:prstGeom prst="rect">
            <a:avLst/>
          </a:prstGeom>
          <a:noFill/>
        </p:spPr>
        <p:txBody>
          <a:bodyPr wrap="square">
            <a:spAutoFit/>
          </a:bodyPr>
          <a:lstStyle/>
          <a:p>
            <a:pPr algn="l"/>
            <a:r>
              <a:rPr sz="1100" b="0" i="0">
                <a:solidFill>
                  <a:srgbClr val="3D3D3D"/>
                </a:solidFill>
              </a:rPr>
              <a:t>• BRANCH_MANAGER: own branch only</a:t>
            </a:r>
          </a:p>
        </p:txBody>
      </p:sp>
      <p:sp>
        <p:nvSpPr>
          <p:cNvPr id="52" name="TextBox 51"/>
          <p:cNvSpPr txBox="1"/>
          <p:nvPr/>
        </p:nvSpPr>
        <p:spPr>
          <a:xfrm>
            <a:off x="6126480" y="4809744"/>
            <a:ext cx="5577840" cy="274320"/>
          </a:xfrm>
          <a:prstGeom prst="rect">
            <a:avLst/>
          </a:prstGeom>
          <a:noFill/>
        </p:spPr>
        <p:txBody>
          <a:bodyPr wrap="square">
            <a:spAutoFit/>
          </a:bodyPr>
          <a:lstStyle/>
          <a:p>
            <a:pPr algn="l"/>
            <a:r>
              <a:rPr sz="1100" b="0" i="0">
                <a:solidFill>
                  <a:srgbClr val="3D3D3D"/>
                </a:solidFill>
              </a:rPr>
              <a:t>• 17-method AnalyticsService API</a:t>
            </a:r>
          </a:p>
        </p:txBody>
      </p:sp>
      <p:sp>
        <p:nvSpPr>
          <p:cNvPr id="53" name="TextBox 52"/>
          <p:cNvSpPr txBox="1"/>
          <p:nvPr/>
        </p:nvSpPr>
        <p:spPr>
          <a:xfrm>
            <a:off x="6126480" y="5138928"/>
            <a:ext cx="5577840" cy="274320"/>
          </a:xfrm>
          <a:prstGeom prst="rect">
            <a:avLst/>
          </a:prstGeom>
          <a:noFill/>
        </p:spPr>
        <p:txBody>
          <a:bodyPr wrap="square">
            <a:spAutoFit/>
          </a:bodyPr>
          <a:lstStyle/>
          <a:p>
            <a:pPr algn="l"/>
            <a:r>
              <a:rPr sz="1100" b="0" i="0">
                <a:solidFill>
                  <a:srgbClr val="3D3D3D"/>
                </a:solidFill>
              </a:rPr>
              <a:t>• Paginated results (Pageable support)</a:t>
            </a:r>
          </a:p>
        </p:txBody>
      </p:sp>
      <p:sp>
        <p:nvSpPr>
          <p:cNvPr id="54" name="TextBox 53"/>
          <p:cNvSpPr txBox="1"/>
          <p:nvPr/>
        </p:nvSpPr>
        <p:spPr>
          <a:xfrm>
            <a:off x="6126480" y="5468112"/>
            <a:ext cx="5577840" cy="274320"/>
          </a:xfrm>
          <a:prstGeom prst="rect">
            <a:avLst/>
          </a:prstGeom>
          <a:noFill/>
        </p:spPr>
        <p:txBody>
          <a:bodyPr wrap="square">
            <a:spAutoFit/>
          </a:bodyPr>
          <a:lstStyle/>
          <a:p>
            <a:pPr algn="l"/>
            <a:r>
              <a:rPr sz="1100" b="0" i="0">
                <a:solidFill>
                  <a:srgbClr val="3D3D3D"/>
                </a:solidFill>
              </a:rPr>
              <a:t>• Kafka consumer: AnalyticsEventConsumer</a:t>
            </a:r>
          </a:p>
        </p:txBody>
      </p:sp>
      <p:sp>
        <p:nvSpPr>
          <p:cNvPr id="55" name="TextBox 54"/>
          <p:cNvSpPr txBox="1"/>
          <p:nvPr/>
        </p:nvSpPr>
        <p:spPr>
          <a:xfrm>
            <a:off x="6126480" y="5797296"/>
            <a:ext cx="5577840" cy="274320"/>
          </a:xfrm>
          <a:prstGeom prst="rect">
            <a:avLst/>
          </a:prstGeom>
          <a:noFill/>
        </p:spPr>
        <p:txBody>
          <a:bodyPr wrap="square">
            <a:spAutoFit/>
          </a:bodyPr>
          <a:lstStyle/>
          <a:p>
            <a:pPr algn="l"/>
            <a:r>
              <a:rPr sz="1100" b="0" i="0">
                <a:solidFill>
                  <a:srgbClr val="3D3D3D"/>
                </a:solidFill>
              </a:rPr>
              <a:t>    processes analytics.order.completed</a:t>
            </a:r>
          </a:p>
        </p:txBody>
      </p:sp>
      <p:sp>
        <p:nvSpPr>
          <p:cNvPr id="56" name="TextBox 55"/>
          <p:cNvSpPr txBox="1"/>
          <p:nvPr/>
        </p:nvSpPr>
        <p:spPr>
          <a:xfrm>
            <a:off x="6126480" y="6126480"/>
            <a:ext cx="5577840" cy="274320"/>
          </a:xfrm>
          <a:prstGeom prst="rect">
            <a:avLst/>
          </a:prstGeom>
          <a:noFill/>
        </p:spPr>
        <p:txBody>
          <a:bodyPr wrap="square">
            <a:spAutoFit/>
          </a:bodyPr>
          <a:lstStyle/>
          <a:p>
            <a:pPr algn="l"/>
            <a:r>
              <a:rPr sz="1100" b="0" i="0">
                <a:solidFill>
                  <a:srgbClr val="3D3D3D"/>
                </a:solidFill>
              </a:rPr>
              <a:t>• Report generation with date-range filter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DF6EC"/>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144000" cy="640080"/>
          </a:xfrm>
          <a:prstGeom prst="rect">
            <a:avLst/>
          </a:prstGeom>
          <a:noFill/>
        </p:spPr>
        <p:txBody>
          <a:bodyPr wrap="square">
            <a:spAutoFit/>
          </a:bodyPr>
          <a:lstStyle/>
          <a:p>
            <a:pPr algn="l"/>
            <a:r>
              <a:rPr sz="2800" b="1" i="0">
                <a:solidFill>
                  <a:srgbClr val="FFFBF5"/>
                </a:solidFill>
              </a:rPr>
              <a:t>Deployment &amp; Infrastructure</a:t>
            </a:r>
          </a:p>
        </p:txBody>
      </p:sp>
      <p:sp>
        <p:nvSpPr>
          <p:cNvPr id="4" name="TextBox 3"/>
          <p:cNvSpPr txBox="1"/>
          <p:nvPr/>
        </p:nvSpPr>
        <p:spPr>
          <a:xfrm>
            <a:off x="457200" y="749808"/>
            <a:ext cx="10058400" cy="411480"/>
          </a:xfrm>
          <a:prstGeom prst="rect">
            <a:avLst/>
          </a:prstGeom>
          <a:noFill/>
        </p:spPr>
        <p:txBody>
          <a:bodyPr wrap="square">
            <a:spAutoFit/>
          </a:bodyPr>
          <a:lstStyle/>
          <a:p>
            <a:pPr algn="l"/>
            <a:r>
              <a:rPr sz="1400" b="0" i="1">
                <a:solidFill>
                  <a:srgbClr val="F5A623"/>
                </a:solidFill>
              </a:rPr>
              <a:t>Docker Compose · Spring Cloud · AWS-ready</a:t>
            </a:r>
          </a:p>
        </p:txBody>
      </p:sp>
      <p:sp>
        <p:nvSpPr>
          <p:cNvPr id="5" name="Rectangle 4"/>
          <p:cNvSpPr/>
          <p:nvPr/>
        </p:nvSpPr>
        <p:spPr>
          <a:xfrm>
            <a:off x="0" y="12344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463040"/>
            <a:ext cx="2834640" cy="5029200"/>
          </a:xfrm>
          <a:prstGeom prst="rect">
            <a:avLst/>
          </a:prstGeom>
          <a:solidFill>
            <a:srgbClr val="FFFBF5"/>
          </a:solidFill>
          <a:ln w="25400">
            <a:solidFill>
              <a:srgbClr val="2C1A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463040"/>
            <a:ext cx="2834640" cy="438912"/>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508760"/>
            <a:ext cx="2651760" cy="347472"/>
          </a:xfrm>
          <a:prstGeom prst="rect">
            <a:avLst/>
          </a:prstGeom>
          <a:noFill/>
        </p:spPr>
        <p:txBody>
          <a:bodyPr wrap="square">
            <a:spAutoFit/>
          </a:bodyPr>
          <a:lstStyle/>
          <a:p>
            <a:pPr algn="l"/>
            <a:r>
              <a:rPr sz="1200" b="1" i="0">
                <a:solidFill>
                  <a:srgbClr val="FFFBF5"/>
                </a:solidFill>
              </a:rPr>
              <a:t>🐳 Docker Compose</a:t>
            </a:r>
          </a:p>
        </p:txBody>
      </p:sp>
      <p:sp>
        <p:nvSpPr>
          <p:cNvPr id="9" name="TextBox 8"/>
          <p:cNvSpPr txBox="1"/>
          <p:nvPr/>
        </p:nvSpPr>
        <p:spPr>
          <a:xfrm>
            <a:off x="384048" y="2011680"/>
            <a:ext cx="2606040" cy="310896"/>
          </a:xfrm>
          <a:prstGeom prst="rect">
            <a:avLst/>
          </a:prstGeom>
          <a:noFill/>
        </p:spPr>
        <p:txBody>
          <a:bodyPr wrap="square">
            <a:spAutoFit/>
          </a:bodyPr>
          <a:lstStyle/>
          <a:p>
            <a:pPr algn="l"/>
            <a:r>
              <a:rPr sz="1100" b="0" i="0">
                <a:solidFill>
                  <a:srgbClr val="3D3D3D"/>
                </a:solidFill>
              </a:rPr>
              <a:t>• All services containerised</a:t>
            </a:r>
          </a:p>
        </p:txBody>
      </p:sp>
      <p:sp>
        <p:nvSpPr>
          <p:cNvPr id="10" name="TextBox 9"/>
          <p:cNvSpPr txBox="1"/>
          <p:nvPr/>
        </p:nvSpPr>
        <p:spPr>
          <a:xfrm>
            <a:off x="384048" y="2359152"/>
            <a:ext cx="2606040" cy="310896"/>
          </a:xfrm>
          <a:prstGeom prst="rect">
            <a:avLst/>
          </a:prstGeom>
          <a:noFill/>
        </p:spPr>
        <p:txBody>
          <a:bodyPr wrap="square">
            <a:spAutoFit/>
          </a:bodyPr>
          <a:lstStyle/>
          <a:p>
            <a:pPr algn="l"/>
            <a:r>
              <a:rPr sz="1100" b="0" i="0">
                <a:solidFill>
                  <a:srgbClr val="3D3D3D"/>
                </a:solidFill>
              </a:rPr>
              <a:t>• Single .env for configuration</a:t>
            </a:r>
          </a:p>
        </p:txBody>
      </p:sp>
      <p:sp>
        <p:nvSpPr>
          <p:cNvPr id="11" name="TextBox 10"/>
          <p:cNvSpPr txBox="1"/>
          <p:nvPr/>
        </p:nvSpPr>
        <p:spPr>
          <a:xfrm>
            <a:off x="384048" y="2706624"/>
            <a:ext cx="2606040" cy="310896"/>
          </a:xfrm>
          <a:prstGeom prst="rect">
            <a:avLst/>
          </a:prstGeom>
          <a:noFill/>
        </p:spPr>
        <p:txBody>
          <a:bodyPr wrap="square">
            <a:spAutoFit/>
          </a:bodyPr>
          <a:lstStyle/>
          <a:p>
            <a:pPr algn="l"/>
            <a:r>
              <a:rPr sz="1100" b="0" i="0">
                <a:solidFill>
                  <a:srgbClr val="3D3D3D"/>
                </a:solidFill>
              </a:rPr>
              <a:t>• Multi-account env support</a:t>
            </a:r>
          </a:p>
        </p:txBody>
      </p:sp>
      <p:sp>
        <p:nvSpPr>
          <p:cNvPr id="12" name="TextBox 11"/>
          <p:cNvSpPr txBox="1"/>
          <p:nvPr/>
        </p:nvSpPr>
        <p:spPr>
          <a:xfrm>
            <a:off x="384048" y="3054096"/>
            <a:ext cx="2606040" cy="310896"/>
          </a:xfrm>
          <a:prstGeom prst="rect">
            <a:avLst/>
          </a:prstGeom>
          <a:noFill/>
        </p:spPr>
        <p:txBody>
          <a:bodyPr wrap="square">
            <a:spAutoFit/>
          </a:bodyPr>
          <a:lstStyle/>
          <a:p>
            <a:pPr algn="l"/>
            <a:r>
              <a:rPr sz="1100" b="0" i="0">
                <a:solidFill>
                  <a:srgbClr val="3D3D3D"/>
                </a:solidFill>
              </a:rPr>
              <a:t>• Health checks on all services</a:t>
            </a:r>
          </a:p>
        </p:txBody>
      </p:sp>
      <p:sp>
        <p:nvSpPr>
          <p:cNvPr id="13" name="TextBox 12"/>
          <p:cNvSpPr txBox="1"/>
          <p:nvPr/>
        </p:nvSpPr>
        <p:spPr>
          <a:xfrm>
            <a:off x="384048" y="3401568"/>
            <a:ext cx="2606040" cy="310896"/>
          </a:xfrm>
          <a:prstGeom prst="rect">
            <a:avLst/>
          </a:prstGeom>
          <a:noFill/>
        </p:spPr>
        <p:txBody>
          <a:bodyPr wrap="square">
            <a:spAutoFit/>
          </a:bodyPr>
          <a:lstStyle/>
          <a:p>
            <a:pPr algn="l"/>
            <a:r>
              <a:rPr sz="1100" b="0" i="0">
                <a:solidFill>
                  <a:srgbClr val="3D3D3D"/>
                </a:solidFill>
              </a:rPr>
              <a:t>• Named volumes for persistence</a:t>
            </a:r>
          </a:p>
        </p:txBody>
      </p:sp>
      <p:sp>
        <p:nvSpPr>
          <p:cNvPr id="14" name="Rectangle 13"/>
          <p:cNvSpPr/>
          <p:nvPr/>
        </p:nvSpPr>
        <p:spPr>
          <a:xfrm>
            <a:off x="3255264" y="1463040"/>
            <a:ext cx="2834640" cy="5029200"/>
          </a:xfrm>
          <a:prstGeom prst="rect">
            <a:avLst/>
          </a:prstGeom>
          <a:solidFill>
            <a:srgbClr val="FFFBF5"/>
          </a:solidFill>
          <a:ln w="25400">
            <a:solidFill>
              <a:srgbClr val="2D6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55264" y="1463040"/>
            <a:ext cx="2834640" cy="438912"/>
          </a:xfrm>
          <a:prstGeom prst="rect">
            <a:avLst/>
          </a:prstGeom>
          <a:solidFill>
            <a:srgbClr val="2D6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46704" y="1508760"/>
            <a:ext cx="2651760" cy="347472"/>
          </a:xfrm>
          <a:prstGeom prst="rect">
            <a:avLst/>
          </a:prstGeom>
          <a:noFill/>
        </p:spPr>
        <p:txBody>
          <a:bodyPr wrap="square">
            <a:spAutoFit/>
          </a:bodyPr>
          <a:lstStyle/>
          <a:p>
            <a:pPr algn="l"/>
            <a:r>
              <a:rPr sz="1200" b="1" i="0">
                <a:solidFill>
                  <a:srgbClr val="FFFBF5"/>
                </a:solidFill>
              </a:rPr>
              <a:t>☁️ Spring Cloud</a:t>
            </a:r>
          </a:p>
        </p:txBody>
      </p:sp>
      <p:sp>
        <p:nvSpPr>
          <p:cNvPr id="17" name="TextBox 16"/>
          <p:cNvSpPr txBox="1"/>
          <p:nvPr/>
        </p:nvSpPr>
        <p:spPr>
          <a:xfrm>
            <a:off x="3364992" y="2011680"/>
            <a:ext cx="2606040" cy="310896"/>
          </a:xfrm>
          <a:prstGeom prst="rect">
            <a:avLst/>
          </a:prstGeom>
          <a:noFill/>
        </p:spPr>
        <p:txBody>
          <a:bodyPr wrap="square">
            <a:spAutoFit/>
          </a:bodyPr>
          <a:lstStyle/>
          <a:p>
            <a:pPr algn="l"/>
            <a:r>
              <a:rPr sz="1100" b="0" i="0">
                <a:solidFill>
                  <a:srgbClr val="3D3D3D"/>
                </a:solidFill>
              </a:rPr>
              <a:t>• Eureka: service discovery</a:t>
            </a:r>
          </a:p>
        </p:txBody>
      </p:sp>
      <p:sp>
        <p:nvSpPr>
          <p:cNvPr id="18" name="TextBox 17"/>
          <p:cNvSpPr txBox="1"/>
          <p:nvPr/>
        </p:nvSpPr>
        <p:spPr>
          <a:xfrm>
            <a:off x="3364992" y="2359152"/>
            <a:ext cx="2606040" cy="310896"/>
          </a:xfrm>
          <a:prstGeom prst="rect">
            <a:avLst/>
          </a:prstGeom>
          <a:noFill/>
        </p:spPr>
        <p:txBody>
          <a:bodyPr wrap="square">
            <a:spAutoFit/>
          </a:bodyPr>
          <a:lstStyle/>
          <a:p>
            <a:pPr algn="l"/>
            <a:r>
              <a:rPr sz="1100" b="0" i="0">
                <a:solidFill>
                  <a:srgbClr val="3D3D3D"/>
                </a:solidFill>
              </a:rPr>
              <a:t>• Config Server: centralised props</a:t>
            </a:r>
          </a:p>
        </p:txBody>
      </p:sp>
      <p:sp>
        <p:nvSpPr>
          <p:cNvPr id="19" name="TextBox 18"/>
          <p:cNvSpPr txBox="1"/>
          <p:nvPr/>
        </p:nvSpPr>
        <p:spPr>
          <a:xfrm>
            <a:off x="3364992" y="2706624"/>
            <a:ext cx="2606040" cy="310896"/>
          </a:xfrm>
          <a:prstGeom prst="rect">
            <a:avLst/>
          </a:prstGeom>
          <a:noFill/>
        </p:spPr>
        <p:txBody>
          <a:bodyPr wrap="square">
            <a:spAutoFit/>
          </a:bodyPr>
          <a:lstStyle/>
          <a:p>
            <a:pPr algn="l"/>
            <a:r>
              <a:rPr sz="1100" b="0" i="0">
                <a:solidFill>
                  <a:srgbClr val="3D3D3D"/>
                </a:solidFill>
              </a:rPr>
              <a:t>• API Gateway: routing + security</a:t>
            </a:r>
          </a:p>
        </p:txBody>
      </p:sp>
      <p:sp>
        <p:nvSpPr>
          <p:cNvPr id="20" name="TextBox 19"/>
          <p:cNvSpPr txBox="1"/>
          <p:nvPr/>
        </p:nvSpPr>
        <p:spPr>
          <a:xfrm>
            <a:off x="3364992" y="3054096"/>
            <a:ext cx="2606040" cy="310896"/>
          </a:xfrm>
          <a:prstGeom prst="rect">
            <a:avLst/>
          </a:prstGeom>
          <a:noFill/>
        </p:spPr>
        <p:txBody>
          <a:bodyPr wrap="square">
            <a:spAutoFit/>
          </a:bodyPr>
          <a:lstStyle/>
          <a:p>
            <a:pPr algn="l"/>
            <a:r>
              <a:rPr sz="1100" b="0" i="0">
                <a:solidFill>
                  <a:srgbClr val="3D3D3D"/>
                </a:solidFill>
              </a:rPr>
              <a:t>• Load balancing via Ribbon</a:t>
            </a:r>
          </a:p>
        </p:txBody>
      </p:sp>
      <p:sp>
        <p:nvSpPr>
          <p:cNvPr id="21" name="TextBox 20"/>
          <p:cNvSpPr txBox="1"/>
          <p:nvPr/>
        </p:nvSpPr>
        <p:spPr>
          <a:xfrm>
            <a:off x="3364992" y="3401568"/>
            <a:ext cx="2606040" cy="310896"/>
          </a:xfrm>
          <a:prstGeom prst="rect">
            <a:avLst/>
          </a:prstGeom>
          <a:noFill/>
        </p:spPr>
        <p:txBody>
          <a:bodyPr wrap="square">
            <a:spAutoFit/>
          </a:bodyPr>
          <a:lstStyle/>
          <a:p>
            <a:pPr algn="l"/>
            <a:r>
              <a:rPr sz="1100" b="0" i="0">
                <a:solidFill>
                  <a:srgbClr val="3D3D3D"/>
                </a:solidFill>
              </a:rPr>
              <a:t>• Feign clients for inter-service calls</a:t>
            </a:r>
          </a:p>
        </p:txBody>
      </p:sp>
      <p:sp>
        <p:nvSpPr>
          <p:cNvPr id="22" name="Rectangle 21"/>
          <p:cNvSpPr/>
          <p:nvPr/>
        </p:nvSpPr>
        <p:spPr>
          <a:xfrm>
            <a:off x="6236208" y="1463040"/>
            <a:ext cx="2834640" cy="5029200"/>
          </a:xfrm>
          <a:prstGeom prst="rect">
            <a:avLst/>
          </a:prstGeom>
          <a:solidFill>
            <a:srgbClr val="FFFBF5"/>
          </a:solidFill>
          <a:ln w="25400">
            <a:solidFill>
              <a:srgbClr val="6B8F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1463040"/>
            <a:ext cx="2834640" cy="438912"/>
          </a:xfrm>
          <a:prstGeom prst="rect">
            <a:avLst/>
          </a:prstGeom>
          <a:solidFill>
            <a:srgbClr val="6B8F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27648" y="1508760"/>
            <a:ext cx="2651760" cy="347472"/>
          </a:xfrm>
          <a:prstGeom prst="rect">
            <a:avLst/>
          </a:prstGeom>
          <a:noFill/>
        </p:spPr>
        <p:txBody>
          <a:bodyPr wrap="square">
            <a:spAutoFit/>
          </a:bodyPr>
          <a:lstStyle/>
          <a:p>
            <a:pPr algn="l"/>
            <a:r>
              <a:rPr sz="1200" b="1" i="0">
                <a:solidFill>
                  <a:srgbClr val="FFFBF5"/>
                </a:solidFill>
              </a:rPr>
              <a:t>🗄️ Data Layer</a:t>
            </a:r>
          </a:p>
        </p:txBody>
      </p:sp>
      <p:sp>
        <p:nvSpPr>
          <p:cNvPr id="25" name="TextBox 24"/>
          <p:cNvSpPr txBox="1"/>
          <p:nvPr/>
        </p:nvSpPr>
        <p:spPr>
          <a:xfrm>
            <a:off x="6345936" y="2011680"/>
            <a:ext cx="2606040" cy="310896"/>
          </a:xfrm>
          <a:prstGeom prst="rect">
            <a:avLst/>
          </a:prstGeom>
          <a:noFill/>
        </p:spPr>
        <p:txBody>
          <a:bodyPr wrap="square">
            <a:spAutoFit/>
          </a:bodyPr>
          <a:lstStyle/>
          <a:p>
            <a:pPr algn="l"/>
            <a:r>
              <a:rPr sz="1100" b="0" i="0">
                <a:solidFill>
                  <a:srgbClr val="3D3D3D"/>
                </a:solidFill>
              </a:rPr>
              <a:t>• MySQL: one DB per service</a:t>
            </a:r>
          </a:p>
        </p:txBody>
      </p:sp>
      <p:sp>
        <p:nvSpPr>
          <p:cNvPr id="26" name="TextBox 25"/>
          <p:cNvSpPr txBox="1"/>
          <p:nvPr/>
        </p:nvSpPr>
        <p:spPr>
          <a:xfrm>
            <a:off x="6345936" y="2359152"/>
            <a:ext cx="2606040" cy="310896"/>
          </a:xfrm>
          <a:prstGeom prst="rect">
            <a:avLst/>
          </a:prstGeom>
          <a:noFill/>
        </p:spPr>
        <p:txBody>
          <a:bodyPr wrap="square">
            <a:spAutoFit/>
          </a:bodyPr>
          <a:lstStyle/>
          <a:p>
            <a:pPr algn="l"/>
            <a:r>
              <a:rPr sz="1100" b="0" i="0">
                <a:solidFill>
                  <a:srgbClr val="3D3D3D"/>
                </a:solidFill>
              </a:rPr>
              <a:t>• Redis: cache + session blacklist</a:t>
            </a:r>
          </a:p>
        </p:txBody>
      </p:sp>
      <p:sp>
        <p:nvSpPr>
          <p:cNvPr id="27" name="TextBox 26"/>
          <p:cNvSpPr txBox="1"/>
          <p:nvPr/>
        </p:nvSpPr>
        <p:spPr>
          <a:xfrm>
            <a:off x="6345936" y="2706624"/>
            <a:ext cx="2606040" cy="310896"/>
          </a:xfrm>
          <a:prstGeom prst="rect">
            <a:avLst/>
          </a:prstGeom>
          <a:noFill/>
        </p:spPr>
        <p:txBody>
          <a:bodyPr wrap="square">
            <a:spAutoFit/>
          </a:bodyPr>
          <a:lstStyle/>
          <a:p>
            <a:pPr algn="l"/>
            <a:r>
              <a:rPr sz="1100" b="0" i="0">
                <a:solidFill>
                  <a:srgbClr val="3D3D3D"/>
                </a:solidFill>
              </a:rPr>
              <a:t>• AWS S3: menu image storage</a:t>
            </a:r>
          </a:p>
        </p:txBody>
      </p:sp>
      <p:sp>
        <p:nvSpPr>
          <p:cNvPr id="28" name="TextBox 27"/>
          <p:cNvSpPr txBox="1"/>
          <p:nvPr/>
        </p:nvSpPr>
        <p:spPr>
          <a:xfrm>
            <a:off x="6345936" y="3054096"/>
            <a:ext cx="2606040" cy="310896"/>
          </a:xfrm>
          <a:prstGeom prst="rect">
            <a:avLst/>
          </a:prstGeom>
          <a:noFill/>
        </p:spPr>
        <p:txBody>
          <a:bodyPr wrap="square">
            <a:spAutoFit/>
          </a:bodyPr>
          <a:lstStyle/>
          <a:p>
            <a:pPr algn="l"/>
            <a:r>
              <a:rPr sz="1100" b="0" i="0">
                <a:solidFill>
                  <a:srgbClr val="3D3D3D"/>
                </a:solidFill>
              </a:rPr>
              <a:t>• JPA/Hibernate: schema management</a:t>
            </a:r>
          </a:p>
        </p:txBody>
      </p:sp>
      <p:sp>
        <p:nvSpPr>
          <p:cNvPr id="29" name="TextBox 28"/>
          <p:cNvSpPr txBox="1"/>
          <p:nvPr/>
        </p:nvSpPr>
        <p:spPr>
          <a:xfrm>
            <a:off x="6345936" y="3401568"/>
            <a:ext cx="2606040" cy="310896"/>
          </a:xfrm>
          <a:prstGeom prst="rect">
            <a:avLst/>
          </a:prstGeom>
          <a:noFill/>
        </p:spPr>
        <p:txBody>
          <a:bodyPr wrap="square">
            <a:spAutoFit/>
          </a:bodyPr>
          <a:lstStyle/>
          <a:p>
            <a:pPr algn="l"/>
            <a:r>
              <a:rPr sz="1100" b="0" i="0">
                <a:solidFill>
                  <a:srgbClr val="3D3D3D"/>
                </a:solidFill>
              </a:rPr>
              <a:t>• Flyway-compatible DDL patterns</a:t>
            </a:r>
          </a:p>
        </p:txBody>
      </p:sp>
      <p:sp>
        <p:nvSpPr>
          <p:cNvPr id="30" name="Rectangle 29"/>
          <p:cNvSpPr/>
          <p:nvPr/>
        </p:nvSpPr>
        <p:spPr>
          <a:xfrm>
            <a:off x="9217152" y="1463040"/>
            <a:ext cx="2834640" cy="5029200"/>
          </a:xfrm>
          <a:prstGeom prst="rect">
            <a:avLst/>
          </a:prstGeom>
          <a:solidFill>
            <a:srgbClr val="FFFBF5"/>
          </a:solidFill>
          <a:ln w="25400">
            <a:solidFill>
              <a:srgbClr val="4A14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217152" y="1463040"/>
            <a:ext cx="2834640" cy="438912"/>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08592" y="1508760"/>
            <a:ext cx="2651760" cy="347472"/>
          </a:xfrm>
          <a:prstGeom prst="rect">
            <a:avLst/>
          </a:prstGeom>
          <a:noFill/>
        </p:spPr>
        <p:txBody>
          <a:bodyPr wrap="square">
            <a:spAutoFit/>
          </a:bodyPr>
          <a:lstStyle/>
          <a:p>
            <a:pPr algn="l"/>
            <a:r>
              <a:rPr sz="1200" b="1" i="0">
                <a:solidFill>
                  <a:srgbClr val="FFFBF5"/>
                </a:solidFill>
              </a:rPr>
              <a:t>📡 Observability</a:t>
            </a:r>
          </a:p>
        </p:txBody>
      </p:sp>
      <p:sp>
        <p:nvSpPr>
          <p:cNvPr id="33" name="TextBox 32"/>
          <p:cNvSpPr txBox="1"/>
          <p:nvPr/>
        </p:nvSpPr>
        <p:spPr>
          <a:xfrm>
            <a:off x="9326880" y="2011680"/>
            <a:ext cx="2606040" cy="310896"/>
          </a:xfrm>
          <a:prstGeom prst="rect">
            <a:avLst/>
          </a:prstGeom>
          <a:noFill/>
        </p:spPr>
        <p:txBody>
          <a:bodyPr wrap="square">
            <a:spAutoFit/>
          </a:bodyPr>
          <a:lstStyle/>
          <a:p>
            <a:pPr algn="l"/>
            <a:r>
              <a:rPr sz="1100" b="0" i="0">
                <a:solidFill>
                  <a:srgbClr val="3D3D3D"/>
                </a:solidFill>
              </a:rPr>
              <a:t>• Spring Boot Actuator on all svcs</a:t>
            </a:r>
          </a:p>
        </p:txBody>
      </p:sp>
      <p:sp>
        <p:nvSpPr>
          <p:cNvPr id="34" name="TextBox 33"/>
          <p:cNvSpPr txBox="1"/>
          <p:nvPr/>
        </p:nvSpPr>
        <p:spPr>
          <a:xfrm>
            <a:off x="9326880" y="2359152"/>
            <a:ext cx="2606040" cy="310896"/>
          </a:xfrm>
          <a:prstGeom prst="rect">
            <a:avLst/>
          </a:prstGeom>
          <a:noFill/>
        </p:spPr>
        <p:txBody>
          <a:bodyPr wrap="square">
            <a:spAutoFit/>
          </a:bodyPr>
          <a:lstStyle/>
          <a:p>
            <a:pPr algn="l"/>
            <a:r>
              <a:rPr sz="1100" b="0" i="0">
                <a:solidFill>
                  <a:srgbClr val="3D3D3D"/>
                </a:solidFill>
              </a:rPr>
              <a:t>• Structured JSON logging</a:t>
            </a:r>
          </a:p>
        </p:txBody>
      </p:sp>
      <p:sp>
        <p:nvSpPr>
          <p:cNvPr id="35" name="TextBox 34"/>
          <p:cNvSpPr txBox="1"/>
          <p:nvPr/>
        </p:nvSpPr>
        <p:spPr>
          <a:xfrm>
            <a:off x="9326880" y="2706624"/>
            <a:ext cx="2606040" cy="310896"/>
          </a:xfrm>
          <a:prstGeom prst="rect">
            <a:avLst/>
          </a:prstGeom>
          <a:noFill/>
        </p:spPr>
        <p:txBody>
          <a:bodyPr wrap="square">
            <a:spAutoFit/>
          </a:bodyPr>
          <a:lstStyle/>
          <a:p>
            <a:pPr algn="l"/>
            <a:r>
              <a:rPr sz="1100" b="0" i="0">
                <a:solidFill>
                  <a:srgbClr val="3D3D3D"/>
                </a:solidFill>
              </a:rPr>
              <a:t>• Health endpoints: /actuator/health</a:t>
            </a:r>
          </a:p>
        </p:txBody>
      </p:sp>
      <p:sp>
        <p:nvSpPr>
          <p:cNvPr id="36" name="TextBox 35"/>
          <p:cNvSpPr txBox="1"/>
          <p:nvPr/>
        </p:nvSpPr>
        <p:spPr>
          <a:xfrm>
            <a:off x="9326880" y="3054096"/>
            <a:ext cx="2606040" cy="310896"/>
          </a:xfrm>
          <a:prstGeom prst="rect">
            <a:avLst/>
          </a:prstGeom>
          <a:noFill/>
        </p:spPr>
        <p:txBody>
          <a:bodyPr wrap="square">
            <a:spAutoFit/>
          </a:bodyPr>
          <a:lstStyle/>
          <a:p>
            <a:pPr algn="l"/>
            <a:r>
              <a:rPr sz="1100" b="0" i="0">
                <a:solidFill>
                  <a:srgbClr val="3D3D3D"/>
                </a:solidFill>
              </a:rPr>
              <a:t>• Swagger UI on every service</a:t>
            </a:r>
          </a:p>
        </p:txBody>
      </p:sp>
      <p:sp>
        <p:nvSpPr>
          <p:cNvPr id="37" name="TextBox 36"/>
          <p:cNvSpPr txBox="1"/>
          <p:nvPr/>
        </p:nvSpPr>
        <p:spPr>
          <a:xfrm>
            <a:off x="9326880" y="3401568"/>
            <a:ext cx="2606040" cy="310896"/>
          </a:xfrm>
          <a:prstGeom prst="rect">
            <a:avLst/>
          </a:prstGeom>
          <a:noFill/>
        </p:spPr>
        <p:txBody>
          <a:bodyPr wrap="square">
            <a:spAutoFit/>
          </a:bodyPr>
          <a:lstStyle/>
          <a:p>
            <a:pPr algn="l"/>
            <a:r>
              <a:rPr sz="1100" b="0" i="0">
                <a:solidFill>
                  <a:srgbClr val="3D3D3D"/>
                </a:solidFill>
              </a:rPr>
              <a:t>• SLF4J + Logback throughout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DF6EC"/>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144000" cy="640080"/>
          </a:xfrm>
          <a:prstGeom prst="rect">
            <a:avLst/>
          </a:prstGeom>
          <a:noFill/>
        </p:spPr>
        <p:txBody>
          <a:bodyPr wrap="square">
            <a:spAutoFit/>
          </a:bodyPr>
          <a:lstStyle/>
          <a:p>
            <a:pPr algn="l"/>
            <a:r>
              <a:rPr sz="2800" b="1" i="0">
                <a:solidFill>
                  <a:srgbClr val="FFFBF5"/>
                </a:solidFill>
              </a:rPr>
              <a:t>Code Quality &amp; Testing</a:t>
            </a:r>
          </a:p>
        </p:txBody>
      </p:sp>
      <p:sp>
        <p:nvSpPr>
          <p:cNvPr id="4" name="TextBox 3"/>
          <p:cNvSpPr txBox="1"/>
          <p:nvPr/>
        </p:nvSpPr>
        <p:spPr>
          <a:xfrm>
            <a:off x="457200" y="749808"/>
            <a:ext cx="10058400" cy="411480"/>
          </a:xfrm>
          <a:prstGeom prst="rect">
            <a:avLst/>
          </a:prstGeom>
          <a:noFill/>
        </p:spPr>
        <p:txBody>
          <a:bodyPr wrap="square">
            <a:spAutoFit/>
          </a:bodyPr>
          <a:lstStyle/>
          <a:p>
            <a:pPr algn="l"/>
            <a:r>
              <a:rPr sz="1400" b="0" i="1">
                <a:solidFill>
                  <a:srgbClr val="F5A623"/>
                </a:solidFill>
              </a:rPr>
              <a:t>JUnit 5 · MockMvc · Testcontainers · Spring Security Test</a:t>
            </a:r>
          </a:p>
        </p:txBody>
      </p:sp>
      <p:sp>
        <p:nvSpPr>
          <p:cNvPr id="5" name="Rectangle 4"/>
          <p:cNvSpPr/>
          <p:nvPr/>
        </p:nvSpPr>
        <p:spPr>
          <a:xfrm>
            <a:off x="0" y="12344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463040"/>
            <a:ext cx="4114800" cy="5029200"/>
          </a:xfrm>
          <a:prstGeom prst="rect">
            <a:avLst/>
          </a:prstGeom>
          <a:solidFill>
            <a:srgbClr val="FFFBF5"/>
          </a:solidFill>
          <a:ln w="19050">
            <a:solidFill>
              <a:srgbClr val="2C1A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554480"/>
            <a:ext cx="3840480" cy="384048"/>
          </a:xfrm>
          <a:prstGeom prst="rect">
            <a:avLst/>
          </a:prstGeom>
          <a:noFill/>
        </p:spPr>
        <p:txBody>
          <a:bodyPr wrap="square">
            <a:spAutoFit/>
          </a:bodyPr>
          <a:lstStyle/>
          <a:p>
            <a:pPr algn="l"/>
            <a:r>
              <a:rPr sz="1350" b="1" i="0">
                <a:solidFill>
                  <a:srgbClr val="2C1A0E"/>
                </a:solidFill>
              </a:rPr>
              <a:t>🏗️  Design Principles</a:t>
            </a:r>
          </a:p>
        </p:txBody>
      </p:sp>
      <p:sp>
        <p:nvSpPr>
          <p:cNvPr id="8" name="Rectangle 7"/>
          <p:cNvSpPr/>
          <p:nvPr/>
        </p:nvSpPr>
        <p:spPr>
          <a:xfrm>
            <a:off x="411480" y="1956816"/>
            <a:ext cx="3840480"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057400"/>
            <a:ext cx="3749039" cy="256032"/>
          </a:xfrm>
          <a:prstGeom prst="rect">
            <a:avLst/>
          </a:prstGeom>
          <a:noFill/>
        </p:spPr>
        <p:txBody>
          <a:bodyPr wrap="square">
            <a:spAutoFit/>
          </a:bodyPr>
          <a:lstStyle/>
          <a:p>
            <a:pPr algn="l"/>
            <a:r>
              <a:rPr sz="1150" b="1" i="0">
                <a:solidFill>
                  <a:srgbClr val="2C1A0E"/>
                </a:solidFill>
              </a:rPr>
              <a:t>SOLID</a:t>
            </a:r>
          </a:p>
        </p:txBody>
      </p:sp>
      <p:sp>
        <p:nvSpPr>
          <p:cNvPr id="10" name="TextBox 9"/>
          <p:cNvSpPr txBox="1"/>
          <p:nvPr/>
        </p:nvSpPr>
        <p:spPr>
          <a:xfrm>
            <a:off x="457200" y="2295144"/>
            <a:ext cx="3749039" cy="347472"/>
          </a:xfrm>
          <a:prstGeom prst="rect">
            <a:avLst/>
          </a:prstGeom>
          <a:noFill/>
        </p:spPr>
        <p:txBody>
          <a:bodyPr wrap="square">
            <a:spAutoFit/>
          </a:bodyPr>
          <a:lstStyle/>
          <a:p>
            <a:pPr algn="l"/>
            <a:r>
              <a:rPr sz="1050" b="0" i="0">
                <a:solidFill>
                  <a:srgbClr val="3D3D3D"/>
                </a:solidFill>
              </a:rPr>
              <a:t>Single responsibility per class,
open for extension</a:t>
            </a:r>
          </a:p>
        </p:txBody>
      </p:sp>
      <p:sp>
        <p:nvSpPr>
          <p:cNvPr id="11" name="TextBox 10"/>
          <p:cNvSpPr txBox="1"/>
          <p:nvPr/>
        </p:nvSpPr>
        <p:spPr>
          <a:xfrm>
            <a:off x="457200" y="2734056"/>
            <a:ext cx="3749039" cy="256032"/>
          </a:xfrm>
          <a:prstGeom prst="rect">
            <a:avLst/>
          </a:prstGeom>
          <a:noFill/>
        </p:spPr>
        <p:txBody>
          <a:bodyPr wrap="square">
            <a:spAutoFit/>
          </a:bodyPr>
          <a:lstStyle/>
          <a:p>
            <a:pPr algn="l"/>
            <a:r>
              <a:rPr sz="1150" b="1" i="0">
                <a:solidFill>
                  <a:srgbClr val="2C1A0E"/>
                </a:solidFill>
              </a:rPr>
              <a:t>Clean Architecture</a:t>
            </a:r>
          </a:p>
        </p:txBody>
      </p:sp>
      <p:sp>
        <p:nvSpPr>
          <p:cNvPr id="12" name="TextBox 11"/>
          <p:cNvSpPr txBox="1"/>
          <p:nvPr/>
        </p:nvSpPr>
        <p:spPr>
          <a:xfrm>
            <a:off x="457200" y="2971800"/>
            <a:ext cx="3749039" cy="347472"/>
          </a:xfrm>
          <a:prstGeom prst="rect">
            <a:avLst/>
          </a:prstGeom>
          <a:noFill/>
        </p:spPr>
        <p:txBody>
          <a:bodyPr wrap="square">
            <a:spAutoFit/>
          </a:bodyPr>
          <a:lstStyle/>
          <a:p>
            <a:pPr algn="l"/>
            <a:r>
              <a:rPr sz="1050" b="0" i="0">
                <a:solidFill>
                  <a:srgbClr val="3D3D3D"/>
                </a:solidFill>
              </a:rPr>
              <a:t>Controller → Service → Repository
no layer skipping</a:t>
            </a:r>
          </a:p>
        </p:txBody>
      </p:sp>
      <p:sp>
        <p:nvSpPr>
          <p:cNvPr id="13" name="TextBox 12"/>
          <p:cNvSpPr txBox="1"/>
          <p:nvPr/>
        </p:nvSpPr>
        <p:spPr>
          <a:xfrm>
            <a:off x="457200" y="3410712"/>
            <a:ext cx="3749039" cy="256032"/>
          </a:xfrm>
          <a:prstGeom prst="rect">
            <a:avLst/>
          </a:prstGeom>
          <a:noFill/>
        </p:spPr>
        <p:txBody>
          <a:bodyPr wrap="square">
            <a:spAutoFit/>
          </a:bodyPr>
          <a:lstStyle/>
          <a:p>
            <a:pPr algn="l"/>
            <a:r>
              <a:rPr sz="1150" b="1" i="0">
                <a:solidFill>
                  <a:srgbClr val="2C1A0E"/>
                </a:solidFill>
              </a:rPr>
              <a:t>Fail Fast</a:t>
            </a:r>
          </a:p>
        </p:txBody>
      </p:sp>
      <p:sp>
        <p:nvSpPr>
          <p:cNvPr id="14" name="TextBox 13"/>
          <p:cNvSpPr txBox="1"/>
          <p:nvPr/>
        </p:nvSpPr>
        <p:spPr>
          <a:xfrm>
            <a:off x="457200" y="3648456"/>
            <a:ext cx="3749039" cy="347472"/>
          </a:xfrm>
          <a:prstGeom prst="rect">
            <a:avLst/>
          </a:prstGeom>
          <a:noFill/>
        </p:spPr>
        <p:txBody>
          <a:bodyPr wrap="square">
            <a:spAutoFit/>
          </a:bodyPr>
          <a:lstStyle/>
          <a:p>
            <a:pPr algn="l"/>
            <a:r>
              <a:rPr sz="1050" b="0" i="0">
                <a:solidFill>
                  <a:srgbClr val="3D3D3D"/>
                </a:solidFill>
              </a:rPr>
              <a:t>Validation at boundaries,
not deep in service logic</a:t>
            </a:r>
          </a:p>
        </p:txBody>
      </p:sp>
      <p:sp>
        <p:nvSpPr>
          <p:cNvPr id="15" name="TextBox 14"/>
          <p:cNvSpPr txBox="1"/>
          <p:nvPr/>
        </p:nvSpPr>
        <p:spPr>
          <a:xfrm>
            <a:off x="457200" y="4087368"/>
            <a:ext cx="3749039" cy="256032"/>
          </a:xfrm>
          <a:prstGeom prst="rect">
            <a:avLst/>
          </a:prstGeom>
          <a:noFill/>
        </p:spPr>
        <p:txBody>
          <a:bodyPr wrap="square">
            <a:spAutoFit/>
          </a:bodyPr>
          <a:lstStyle/>
          <a:p>
            <a:pPr algn="l"/>
            <a:r>
              <a:rPr sz="1150" b="1" i="0">
                <a:solidFill>
                  <a:srgbClr val="2C1A0E"/>
                </a:solidFill>
              </a:rPr>
              <a:t>Immutability</a:t>
            </a:r>
          </a:p>
        </p:txBody>
      </p:sp>
      <p:sp>
        <p:nvSpPr>
          <p:cNvPr id="16" name="TextBox 15"/>
          <p:cNvSpPr txBox="1"/>
          <p:nvPr/>
        </p:nvSpPr>
        <p:spPr>
          <a:xfrm>
            <a:off x="457200" y="4325112"/>
            <a:ext cx="3749039" cy="347472"/>
          </a:xfrm>
          <a:prstGeom prst="rect">
            <a:avLst/>
          </a:prstGeom>
          <a:noFill/>
        </p:spPr>
        <p:txBody>
          <a:bodyPr wrap="square">
            <a:spAutoFit/>
          </a:bodyPr>
          <a:lstStyle/>
          <a:p>
            <a:pPr algn="l"/>
            <a:r>
              <a:rPr sz="1050" b="0" i="0">
                <a:solidFill>
                  <a:srgbClr val="3D3D3D"/>
                </a:solidFill>
              </a:rPr>
              <a:t>Java records for DTOs,
final fields throughout</a:t>
            </a:r>
          </a:p>
        </p:txBody>
      </p:sp>
      <p:sp>
        <p:nvSpPr>
          <p:cNvPr id="17" name="TextBox 16"/>
          <p:cNvSpPr txBox="1"/>
          <p:nvPr/>
        </p:nvSpPr>
        <p:spPr>
          <a:xfrm>
            <a:off x="457200" y="4764024"/>
            <a:ext cx="3749039" cy="256032"/>
          </a:xfrm>
          <a:prstGeom prst="rect">
            <a:avLst/>
          </a:prstGeom>
          <a:noFill/>
        </p:spPr>
        <p:txBody>
          <a:bodyPr wrap="square">
            <a:spAutoFit/>
          </a:bodyPr>
          <a:lstStyle/>
          <a:p>
            <a:pPr algn="l"/>
            <a:r>
              <a:rPr sz="1150" b="1" i="0">
                <a:solidFill>
                  <a:srgbClr val="2C1A0E"/>
                </a:solidFill>
              </a:rPr>
              <a:t>Separation of Concerns</a:t>
            </a:r>
          </a:p>
        </p:txBody>
      </p:sp>
      <p:sp>
        <p:nvSpPr>
          <p:cNvPr id="18" name="TextBox 17"/>
          <p:cNvSpPr txBox="1"/>
          <p:nvPr/>
        </p:nvSpPr>
        <p:spPr>
          <a:xfrm>
            <a:off x="457200" y="5001768"/>
            <a:ext cx="3749039" cy="347472"/>
          </a:xfrm>
          <a:prstGeom prst="rect">
            <a:avLst/>
          </a:prstGeom>
          <a:noFill/>
        </p:spPr>
        <p:txBody>
          <a:bodyPr wrap="square">
            <a:spAutoFit/>
          </a:bodyPr>
          <a:lstStyle/>
          <a:p>
            <a:pPr algn="l"/>
            <a:r>
              <a:rPr sz="1050" b="0" i="0">
                <a:solidFill>
                  <a:srgbClr val="3D3D3D"/>
                </a:solidFill>
              </a:rPr>
              <a:t>AI client isolated behind
FoodSuggestionAiClient interface</a:t>
            </a:r>
          </a:p>
        </p:txBody>
      </p:sp>
      <p:sp>
        <p:nvSpPr>
          <p:cNvPr id="19" name="TextBox 18"/>
          <p:cNvSpPr txBox="1"/>
          <p:nvPr/>
        </p:nvSpPr>
        <p:spPr>
          <a:xfrm>
            <a:off x="457200" y="5440680"/>
            <a:ext cx="3749039" cy="256032"/>
          </a:xfrm>
          <a:prstGeom prst="rect">
            <a:avLst/>
          </a:prstGeom>
          <a:noFill/>
        </p:spPr>
        <p:txBody>
          <a:bodyPr wrap="square">
            <a:spAutoFit/>
          </a:bodyPr>
          <a:lstStyle/>
          <a:p>
            <a:pPr algn="l"/>
            <a:r>
              <a:rPr sz="1150" b="1" i="0">
                <a:solidFill>
                  <a:srgbClr val="2C1A0E"/>
                </a:solidFill>
              </a:rPr>
              <a:t>No Magic Strings</a:t>
            </a:r>
          </a:p>
        </p:txBody>
      </p:sp>
      <p:sp>
        <p:nvSpPr>
          <p:cNvPr id="20" name="TextBox 19"/>
          <p:cNvSpPr txBox="1"/>
          <p:nvPr/>
        </p:nvSpPr>
        <p:spPr>
          <a:xfrm>
            <a:off x="457200" y="5678424"/>
            <a:ext cx="3749039" cy="347472"/>
          </a:xfrm>
          <a:prstGeom prst="rect">
            <a:avLst/>
          </a:prstGeom>
          <a:noFill/>
        </p:spPr>
        <p:txBody>
          <a:bodyPr wrap="square">
            <a:spAutoFit/>
          </a:bodyPr>
          <a:lstStyle/>
          <a:p>
            <a:pPr algn="l"/>
            <a:r>
              <a:rPr sz="1050" b="0" i="0">
                <a:solidFill>
                  <a:srgbClr val="3D3D3D"/>
                </a:solidFill>
              </a:rPr>
              <a:t>Enums for all status codes
and role names</a:t>
            </a:r>
          </a:p>
        </p:txBody>
      </p:sp>
      <p:sp>
        <p:nvSpPr>
          <p:cNvPr id="21" name="Rectangle 20"/>
          <p:cNvSpPr/>
          <p:nvPr/>
        </p:nvSpPr>
        <p:spPr>
          <a:xfrm>
            <a:off x="4663440" y="1463040"/>
            <a:ext cx="7223760" cy="5029200"/>
          </a:xfrm>
          <a:prstGeom prst="rect">
            <a:avLst/>
          </a:prstGeom>
          <a:solidFill>
            <a:srgbClr val="FFFBF5"/>
          </a:solidFill>
          <a:ln w="19050">
            <a:solidFill>
              <a:srgbClr val="6B8F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0600" y="1554480"/>
            <a:ext cx="6858000" cy="384048"/>
          </a:xfrm>
          <a:prstGeom prst="rect">
            <a:avLst/>
          </a:prstGeom>
          <a:noFill/>
        </p:spPr>
        <p:txBody>
          <a:bodyPr wrap="square">
            <a:spAutoFit/>
          </a:bodyPr>
          <a:lstStyle/>
          <a:p>
            <a:pPr algn="l"/>
            <a:r>
              <a:rPr sz="1350" b="1" i="0">
                <a:solidFill>
                  <a:srgbClr val="6B8F71"/>
                </a:solidFill>
              </a:rPr>
              <a:t>🧪  Testing Strategy</a:t>
            </a:r>
          </a:p>
        </p:txBody>
      </p:sp>
      <p:sp>
        <p:nvSpPr>
          <p:cNvPr id="23" name="Rectangle 22"/>
          <p:cNvSpPr/>
          <p:nvPr/>
        </p:nvSpPr>
        <p:spPr>
          <a:xfrm>
            <a:off x="4800600" y="1956816"/>
            <a:ext cx="6858000" cy="45720"/>
          </a:xfrm>
          <a:prstGeom prst="rect">
            <a:avLst/>
          </a:prstGeom>
          <a:solidFill>
            <a:srgbClr val="6B8F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754880" y="2057400"/>
            <a:ext cx="6949440" cy="822960"/>
          </a:xfrm>
          <a:prstGeom prst="rect">
            <a:avLst/>
          </a:prstGeom>
          <a:solidFill>
            <a:srgbClr val="F5FDF6"/>
          </a:solidFill>
          <a:ln w="10160">
            <a:solidFill>
              <a:srgbClr val="B0A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92040" y="2112264"/>
            <a:ext cx="6675120" cy="274320"/>
          </a:xfrm>
          <a:prstGeom prst="rect">
            <a:avLst/>
          </a:prstGeom>
          <a:noFill/>
        </p:spPr>
        <p:txBody>
          <a:bodyPr wrap="square">
            <a:spAutoFit/>
          </a:bodyPr>
          <a:lstStyle/>
          <a:p>
            <a:pPr algn="l"/>
            <a:r>
              <a:rPr sz="1150" b="1" i="0">
                <a:solidFill>
                  <a:srgbClr val="6B8F71"/>
                </a:solidFill>
              </a:rPr>
              <a:t>Unit Tests</a:t>
            </a:r>
          </a:p>
        </p:txBody>
      </p:sp>
      <p:sp>
        <p:nvSpPr>
          <p:cNvPr id="26" name="TextBox 25"/>
          <p:cNvSpPr txBox="1"/>
          <p:nvPr/>
        </p:nvSpPr>
        <p:spPr>
          <a:xfrm>
            <a:off x="4892040" y="2404872"/>
            <a:ext cx="6675120" cy="420624"/>
          </a:xfrm>
          <a:prstGeom prst="rect">
            <a:avLst/>
          </a:prstGeom>
          <a:noFill/>
        </p:spPr>
        <p:txBody>
          <a:bodyPr wrap="square">
            <a:spAutoFit/>
          </a:bodyPr>
          <a:lstStyle/>
          <a:p>
            <a:pPr algn="l"/>
            <a:r>
              <a:rPr sz="1050" b="0" i="0">
                <a:solidFill>
                  <a:srgbClr val="3D3D3D"/>
                </a:solidFill>
              </a:rPr>
              <a:t>Service logic tested in isolation with Mockito.
No Spring context loaded — fast feedback.</a:t>
            </a:r>
          </a:p>
        </p:txBody>
      </p:sp>
      <p:sp>
        <p:nvSpPr>
          <p:cNvPr id="27" name="Rectangle 26"/>
          <p:cNvSpPr/>
          <p:nvPr/>
        </p:nvSpPr>
        <p:spPr>
          <a:xfrm>
            <a:off x="4754880" y="2971800"/>
            <a:ext cx="6949440" cy="822960"/>
          </a:xfrm>
          <a:prstGeom prst="rect">
            <a:avLst/>
          </a:prstGeom>
          <a:solidFill>
            <a:srgbClr val="F5FDF6"/>
          </a:solidFill>
          <a:ln w="10160">
            <a:solidFill>
              <a:srgbClr val="B0A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92040" y="3026664"/>
            <a:ext cx="6675120" cy="274320"/>
          </a:xfrm>
          <a:prstGeom prst="rect">
            <a:avLst/>
          </a:prstGeom>
          <a:noFill/>
        </p:spPr>
        <p:txBody>
          <a:bodyPr wrap="square">
            <a:spAutoFit/>
          </a:bodyPr>
          <a:lstStyle/>
          <a:p>
            <a:pPr algn="l"/>
            <a:r>
              <a:rPr sz="1150" b="1" i="0">
                <a:solidFill>
                  <a:srgbClr val="6B8F71"/>
                </a:solidFill>
              </a:rPr>
              <a:t>Controller Tests (MockMvc)</a:t>
            </a:r>
          </a:p>
        </p:txBody>
      </p:sp>
      <p:sp>
        <p:nvSpPr>
          <p:cNvPr id="29" name="TextBox 28"/>
          <p:cNvSpPr txBox="1"/>
          <p:nvPr/>
        </p:nvSpPr>
        <p:spPr>
          <a:xfrm>
            <a:off x="4892040" y="3319272"/>
            <a:ext cx="6675120" cy="420624"/>
          </a:xfrm>
          <a:prstGeom prst="rect">
            <a:avLst/>
          </a:prstGeom>
          <a:noFill/>
        </p:spPr>
        <p:txBody>
          <a:bodyPr wrap="square">
            <a:spAutoFit/>
          </a:bodyPr>
          <a:lstStyle/>
          <a:p>
            <a:pPr algn="l"/>
            <a:r>
              <a:rPr sz="1050" b="0" i="0">
                <a:solidFill>
                  <a:srgbClr val="3D3D3D"/>
                </a:solidFill>
              </a:rPr>
              <a:t>Full HTTP request/response cycle with @WebMvcTest.
Authentication tested via @WithMockUser.</a:t>
            </a:r>
          </a:p>
        </p:txBody>
      </p:sp>
      <p:sp>
        <p:nvSpPr>
          <p:cNvPr id="30" name="Rectangle 29"/>
          <p:cNvSpPr/>
          <p:nvPr/>
        </p:nvSpPr>
        <p:spPr>
          <a:xfrm>
            <a:off x="4754880" y="3886200"/>
            <a:ext cx="6949440" cy="822960"/>
          </a:xfrm>
          <a:prstGeom prst="rect">
            <a:avLst/>
          </a:prstGeom>
          <a:solidFill>
            <a:srgbClr val="F5FDF6"/>
          </a:solidFill>
          <a:ln w="10160">
            <a:solidFill>
              <a:srgbClr val="B0A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92040" y="3941064"/>
            <a:ext cx="6675120" cy="274320"/>
          </a:xfrm>
          <a:prstGeom prst="rect">
            <a:avLst/>
          </a:prstGeom>
          <a:noFill/>
        </p:spPr>
        <p:txBody>
          <a:bodyPr wrap="square">
            <a:spAutoFit/>
          </a:bodyPr>
          <a:lstStyle/>
          <a:p>
            <a:pPr algn="l"/>
            <a:r>
              <a:rPr sz="1150" b="1" i="0">
                <a:solidFill>
                  <a:srgbClr val="6B8F71"/>
                </a:solidFill>
              </a:rPr>
              <a:t>Security Tests</a:t>
            </a:r>
          </a:p>
        </p:txBody>
      </p:sp>
      <p:sp>
        <p:nvSpPr>
          <p:cNvPr id="32" name="TextBox 31"/>
          <p:cNvSpPr txBox="1"/>
          <p:nvPr/>
        </p:nvSpPr>
        <p:spPr>
          <a:xfrm>
            <a:off x="4892040" y="4233672"/>
            <a:ext cx="6675120" cy="420624"/>
          </a:xfrm>
          <a:prstGeom prst="rect">
            <a:avLst/>
          </a:prstGeom>
          <a:noFill/>
        </p:spPr>
        <p:txBody>
          <a:bodyPr wrap="square">
            <a:spAutoFit/>
          </a:bodyPr>
          <a:lstStyle/>
          <a:p>
            <a:pPr algn="l"/>
            <a:r>
              <a:rPr sz="1050" b="0" i="0">
                <a:solidFill>
                  <a:srgbClr val="3D3D3D"/>
                </a:solidFill>
              </a:rPr>
              <a:t>401/403 assertions on every secured endpoint.
Token blacklist + role boundary tests.</a:t>
            </a:r>
          </a:p>
        </p:txBody>
      </p:sp>
      <p:sp>
        <p:nvSpPr>
          <p:cNvPr id="33" name="Rectangle 32"/>
          <p:cNvSpPr/>
          <p:nvPr/>
        </p:nvSpPr>
        <p:spPr>
          <a:xfrm>
            <a:off x="4754880" y="4800600"/>
            <a:ext cx="6949440" cy="822960"/>
          </a:xfrm>
          <a:prstGeom prst="rect">
            <a:avLst/>
          </a:prstGeom>
          <a:solidFill>
            <a:srgbClr val="F5FDF6"/>
          </a:solidFill>
          <a:ln w="10160">
            <a:solidFill>
              <a:srgbClr val="B0A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92040" y="4855464"/>
            <a:ext cx="6675120" cy="274320"/>
          </a:xfrm>
          <a:prstGeom prst="rect">
            <a:avLst/>
          </a:prstGeom>
          <a:noFill/>
        </p:spPr>
        <p:txBody>
          <a:bodyPr wrap="square">
            <a:spAutoFit/>
          </a:bodyPr>
          <a:lstStyle/>
          <a:p>
            <a:pPr algn="l"/>
            <a:r>
              <a:rPr sz="1150" b="1" i="0">
                <a:solidFill>
                  <a:srgbClr val="6B8F71"/>
                </a:solidFill>
              </a:rPr>
              <a:t>Integration Tests</a:t>
            </a:r>
          </a:p>
        </p:txBody>
      </p:sp>
      <p:sp>
        <p:nvSpPr>
          <p:cNvPr id="35" name="TextBox 34"/>
          <p:cNvSpPr txBox="1"/>
          <p:nvPr/>
        </p:nvSpPr>
        <p:spPr>
          <a:xfrm>
            <a:off x="4892040" y="5148072"/>
            <a:ext cx="6675120" cy="420624"/>
          </a:xfrm>
          <a:prstGeom prst="rect">
            <a:avLst/>
          </a:prstGeom>
          <a:noFill/>
        </p:spPr>
        <p:txBody>
          <a:bodyPr wrap="square">
            <a:spAutoFit/>
          </a:bodyPr>
          <a:lstStyle/>
          <a:p>
            <a:pPr algn="l"/>
            <a:r>
              <a:rPr sz="1050" b="0" i="0">
                <a:solidFill>
                  <a:srgbClr val="3D3D3D"/>
                </a:solidFill>
              </a:rPr>
              <a:t>H2 in-memory database for repository tests.
Testcontainers for Kafka consumer tests.</a:t>
            </a:r>
          </a:p>
        </p:txBody>
      </p:sp>
      <p:sp>
        <p:nvSpPr>
          <p:cNvPr id="36" name="Rectangle 35"/>
          <p:cNvSpPr/>
          <p:nvPr/>
        </p:nvSpPr>
        <p:spPr>
          <a:xfrm>
            <a:off x="4754880" y="5715000"/>
            <a:ext cx="6949440" cy="822960"/>
          </a:xfrm>
          <a:prstGeom prst="rect">
            <a:avLst/>
          </a:prstGeom>
          <a:solidFill>
            <a:srgbClr val="F5FDF6"/>
          </a:solidFill>
          <a:ln w="10160">
            <a:solidFill>
              <a:srgbClr val="B0A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892040" y="5769864"/>
            <a:ext cx="6675120" cy="274320"/>
          </a:xfrm>
          <a:prstGeom prst="rect">
            <a:avLst/>
          </a:prstGeom>
          <a:noFill/>
        </p:spPr>
        <p:txBody>
          <a:bodyPr wrap="square">
            <a:spAutoFit/>
          </a:bodyPr>
          <a:lstStyle/>
          <a:p>
            <a:pPr algn="l"/>
            <a:r>
              <a:rPr sz="1150" b="1" i="0">
                <a:solidFill>
                  <a:srgbClr val="6B8F71"/>
                </a:solidFill>
              </a:rPr>
              <a:t>Test Data</a:t>
            </a:r>
          </a:p>
        </p:txBody>
      </p:sp>
      <p:sp>
        <p:nvSpPr>
          <p:cNvPr id="38" name="TextBox 37"/>
          <p:cNvSpPr txBox="1"/>
          <p:nvPr/>
        </p:nvSpPr>
        <p:spPr>
          <a:xfrm>
            <a:off x="4892040" y="6062472"/>
            <a:ext cx="6675120" cy="420624"/>
          </a:xfrm>
          <a:prstGeom prst="rect">
            <a:avLst/>
          </a:prstGeom>
          <a:noFill/>
        </p:spPr>
        <p:txBody>
          <a:bodyPr wrap="square">
            <a:spAutoFit/>
          </a:bodyPr>
          <a:lstStyle/>
          <a:p>
            <a:pPr algn="l"/>
            <a:r>
              <a:rPr sz="1050" b="0" i="0">
                <a:solidFill>
                  <a:srgbClr val="3D3D3D"/>
                </a:solidFill>
              </a:rPr>
              <a:t>Builder pattern for test entities.
Reusable fixtures across test classes.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DF6EC"/>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144000" cy="640080"/>
          </a:xfrm>
          <a:prstGeom prst="rect">
            <a:avLst/>
          </a:prstGeom>
          <a:noFill/>
        </p:spPr>
        <p:txBody>
          <a:bodyPr wrap="square">
            <a:spAutoFit/>
          </a:bodyPr>
          <a:lstStyle/>
          <a:p>
            <a:pPr algn="l"/>
            <a:r>
              <a:rPr sz="2800" b="1" i="0">
                <a:solidFill>
                  <a:srgbClr val="FFFBF5"/>
                </a:solidFill>
              </a:rPr>
              <a:t>Impact &amp; Innovation</a:t>
            </a:r>
          </a:p>
        </p:txBody>
      </p:sp>
      <p:sp>
        <p:nvSpPr>
          <p:cNvPr id="4" name="TextBox 3"/>
          <p:cNvSpPr txBox="1"/>
          <p:nvPr/>
        </p:nvSpPr>
        <p:spPr>
          <a:xfrm>
            <a:off x="457200" y="749808"/>
            <a:ext cx="10058400" cy="411480"/>
          </a:xfrm>
          <a:prstGeom prst="rect">
            <a:avLst/>
          </a:prstGeom>
          <a:noFill/>
        </p:spPr>
        <p:txBody>
          <a:bodyPr wrap="square">
            <a:spAutoFit/>
          </a:bodyPr>
          <a:lstStyle/>
          <a:p>
            <a:pPr algn="l"/>
            <a:r>
              <a:rPr sz="1400" b="0" i="1">
                <a:solidFill>
                  <a:srgbClr val="F5A623"/>
                </a:solidFill>
              </a:rPr>
              <a:t>Production-ready · Scalable · Differentiated</a:t>
            </a:r>
          </a:p>
        </p:txBody>
      </p:sp>
      <p:sp>
        <p:nvSpPr>
          <p:cNvPr id="5" name="Rectangle 4"/>
          <p:cNvSpPr/>
          <p:nvPr/>
        </p:nvSpPr>
        <p:spPr>
          <a:xfrm>
            <a:off x="0" y="12344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463040"/>
            <a:ext cx="3840480" cy="2148840"/>
          </a:xfrm>
          <a:prstGeom prst="rect">
            <a:avLst/>
          </a:prstGeom>
          <a:solidFill>
            <a:srgbClr val="FFFBF5"/>
          </a:solidFill>
          <a:ln w="1651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1554480"/>
            <a:ext cx="548640" cy="411480"/>
          </a:xfrm>
          <a:prstGeom prst="rect">
            <a:avLst/>
          </a:prstGeom>
          <a:noFill/>
        </p:spPr>
        <p:txBody>
          <a:bodyPr wrap="square">
            <a:spAutoFit/>
          </a:bodyPr>
          <a:lstStyle/>
          <a:p>
            <a:pPr algn="l"/>
            <a:r>
              <a:rPr sz="2400" b="0" i="0"/>
              <a:t>🤖</a:t>
            </a:r>
          </a:p>
        </p:txBody>
      </p:sp>
      <p:sp>
        <p:nvSpPr>
          <p:cNvPr id="8" name="TextBox 7"/>
          <p:cNvSpPr txBox="1"/>
          <p:nvPr/>
        </p:nvSpPr>
        <p:spPr>
          <a:xfrm>
            <a:off x="960120" y="1554480"/>
            <a:ext cx="3017520" cy="365760"/>
          </a:xfrm>
          <a:prstGeom prst="rect">
            <a:avLst/>
          </a:prstGeom>
          <a:noFill/>
        </p:spPr>
        <p:txBody>
          <a:bodyPr wrap="square">
            <a:spAutoFit/>
          </a:bodyPr>
          <a:lstStyle/>
          <a:p>
            <a:pPr algn="l"/>
            <a:r>
              <a:rPr sz="1250" b="1" i="0">
                <a:solidFill>
                  <a:srgbClr val="2C1A0E"/>
                </a:solidFill>
              </a:rPr>
              <a:t>AI-Driven Personalisation</a:t>
            </a:r>
          </a:p>
        </p:txBody>
      </p:sp>
      <p:sp>
        <p:nvSpPr>
          <p:cNvPr id="9" name="Rectangle 8"/>
          <p:cNvSpPr/>
          <p:nvPr/>
        </p:nvSpPr>
        <p:spPr>
          <a:xfrm>
            <a:off x="411480" y="1965960"/>
            <a:ext cx="3474720" cy="36576"/>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2057400"/>
            <a:ext cx="3566160" cy="1463040"/>
          </a:xfrm>
          <a:prstGeom prst="rect">
            <a:avLst/>
          </a:prstGeom>
          <a:noFill/>
        </p:spPr>
        <p:txBody>
          <a:bodyPr wrap="square">
            <a:spAutoFit/>
          </a:bodyPr>
          <a:lstStyle/>
          <a:p>
            <a:pPr algn="l"/>
            <a:r>
              <a:rPr sz="1150" b="0" i="0">
                <a:solidFill>
                  <a:srgbClr val="3D3D3D"/>
                </a:solidFill>
              </a:rPr>
              <a:t>First restaurant platform to use Gemini 2.5 Flash for real-time, inventory-aware food recommendations. Increases average order value and customer satisfaction.</a:t>
            </a:r>
          </a:p>
        </p:txBody>
      </p:sp>
      <p:sp>
        <p:nvSpPr>
          <p:cNvPr id="11" name="Rectangle 10"/>
          <p:cNvSpPr/>
          <p:nvPr/>
        </p:nvSpPr>
        <p:spPr>
          <a:xfrm>
            <a:off x="4389120" y="1463040"/>
            <a:ext cx="3840480" cy="2148840"/>
          </a:xfrm>
          <a:prstGeom prst="rect">
            <a:avLst/>
          </a:prstGeom>
          <a:solidFill>
            <a:srgbClr val="FFFBF5"/>
          </a:solidFill>
          <a:ln w="1651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98848" y="1554480"/>
            <a:ext cx="548640" cy="411480"/>
          </a:xfrm>
          <a:prstGeom prst="rect">
            <a:avLst/>
          </a:prstGeom>
          <a:noFill/>
        </p:spPr>
        <p:txBody>
          <a:bodyPr wrap="square">
            <a:spAutoFit/>
          </a:bodyPr>
          <a:lstStyle/>
          <a:p>
            <a:pPr algn="l"/>
            <a:r>
              <a:rPr sz="2400" b="0" i="0"/>
              <a:t>⚡</a:t>
            </a:r>
          </a:p>
        </p:txBody>
      </p:sp>
      <p:sp>
        <p:nvSpPr>
          <p:cNvPr id="13" name="TextBox 12"/>
          <p:cNvSpPr txBox="1"/>
          <p:nvPr/>
        </p:nvSpPr>
        <p:spPr>
          <a:xfrm>
            <a:off x="5074920" y="1554480"/>
            <a:ext cx="3017520" cy="365760"/>
          </a:xfrm>
          <a:prstGeom prst="rect">
            <a:avLst/>
          </a:prstGeom>
          <a:noFill/>
        </p:spPr>
        <p:txBody>
          <a:bodyPr wrap="square">
            <a:spAutoFit/>
          </a:bodyPr>
          <a:lstStyle/>
          <a:p>
            <a:pPr algn="l"/>
            <a:r>
              <a:rPr sz="1250" b="1" i="0">
                <a:solidFill>
                  <a:srgbClr val="2C1A0E"/>
                </a:solidFill>
              </a:rPr>
              <a:t>Zero Lost Events</a:t>
            </a:r>
          </a:p>
        </p:txBody>
      </p:sp>
      <p:sp>
        <p:nvSpPr>
          <p:cNvPr id="14" name="Rectangle 13"/>
          <p:cNvSpPr/>
          <p:nvPr/>
        </p:nvSpPr>
        <p:spPr>
          <a:xfrm>
            <a:off x="4526280" y="1965960"/>
            <a:ext cx="3474720" cy="36576"/>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2057400"/>
            <a:ext cx="3566160" cy="1463040"/>
          </a:xfrm>
          <a:prstGeom prst="rect">
            <a:avLst/>
          </a:prstGeom>
          <a:noFill/>
        </p:spPr>
        <p:txBody>
          <a:bodyPr wrap="square">
            <a:spAutoFit/>
          </a:bodyPr>
          <a:lstStyle/>
          <a:p>
            <a:pPr algn="l"/>
            <a:r>
              <a:rPr sz="1150" b="0" i="0">
                <a:solidFill>
                  <a:srgbClr val="3D3D3D"/>
                </a:solidFill>
              </a:rPr>
              <a:t>Outbox pattern guarantees every order event reaches all downstream services — kitchen, notifications, analytics — even under partial failures.</a:t>
            </a:r>
          </a:p>
        </p:txBody>
      </p:sp>
      <p:sp>
        <p:nvSpPr>
          <p:cNvPr id="16" name="Rectangle 15"/>
          <p:cNvSpPr/>
          <p:nvPr/>
        </p:nvSpPr>
        <p:spPr>
          <a:xfrm>
            <a:off x="8503920" y="1463040"/>
            <a:ext cx="3840480" cy="2148840"/>
          </a:xfrm>
          <a:prstGeom prst="rect">
            <a:avLst/>
          </a:prstGeom>
          <a:solidFill>
            <a:srgbClr val="FFFBF5"/>
          </a:solidFill>
          <a:ln w="1651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13648" y="1554480"/>
            <a:ext cx="548640" cy="411480"/>
          </a:xfrm>
          <a:prstGeom prst="rect">
            <a:avLst/>
          </a:prstGeom>
          <a:noFill/>
        </p:spPr>
        <p:txBody>
          <a:bodyPr wrap="square">
            <a:spAutoFit/>
          </a:bodyPr>
          <a:lstStyle/>
          <a:p>
            <a:pPr algn="l"/>
            <a:r>
              <a:rPr sz="2400" b="0" i="0"/>
              <a:t>📈</a:t>
            </a:r>
          </a:p>
        </p:txBody>
      </p:sp>
      <p:sp>
        <p:nvSpPr>
          <p:cNvPr id="18" name="TextBox 17"/>
          <p:cNvSpPr txBox="1"/>
          <p:nvPr/>
        </p:nvSpPr>
        <p:spPr>
          <a:xfrm>
            <a:off x="9189720" y="1554480"/>
            <a:ext cx="3017520" cy="365760"/>
          </a:xfrm>
          <a:prstGeom prst="rect">
            <a:avLst/>
          </a:prstGeom>
          <a:noFill/>
        </p:spPr>
        <p:txBody>
          <a:bodyPr wrap="square">
            <a:spAutoFit/>
          </a:bodyPr>
          <a:lstStyle/>
          <a:p>
            <a:pPr algn="l"/>
            <a:r>
              <a:rPr sz="1250" b="1" i="0">
                <a:solidFill>
                  <a:srgbClr val="2C1A0E"/>
                </a:solidFill>
              </a:rPr>
              <a:t>Actionable Intelligence</a:t>
            </a:r>
          </a:p>
        </p:txBody>
      </p:sp>
      <p:sp>
        <p:nvSpPr>
          <p:cNvPr id="19" name="Rectangle 18"/>
          <p:cNvSpPr/>
          <p:nvPr/>
        </p:nvSpPr>
        <p:spPr>
          <a:xfrm>
            <a:off x="8641080" y="1965960"/>
            <a:ext cx="3474720" cy="36576"/>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41080" y="2057400"/>
            <a:ext cx="3566160" cy="1463040"/>
          </a:xfrm>
          <a:prstGeom prst="rect">
            <a:avLst/>
          </a:prstGeom>
          <a:noFill/>
        </p:spPr>
        <p:txBody>
          <a:bodyPr wrap="square">
            <a:spAutoFit/>
          </a:bodyPr>
          <a:lstStyle/>
          <a:p>
            <a:pPr algn="l"/>
            <a:r>
              <a:rPr sz="1150" b="0" i="0">
                <a:solidFill>
                  <a:srgbClr val="3D3D3D"/>
                </a:solidFill>
              </a:rPr>
              <a:t>Managers move from gut feel to data. Branch daily summaries, top-item rankings, and SLA reports available in seconds, not tomorrow morning.</a:t>
            </a:r>
          </a:p>
        </p:txBody>
      </p:sp>
      <p:sp>
        <p:nvSpPr>
          <p:cNvPr id="21" name="Rectangle 20"/>
          <p:cNvSpPr/>
          <p:nvPr/>
        </p:nvSpPr>
        <p:spPr>
          <a:xfrm>
            <a:off x="274320" y="3794760"/>
            <a:ext cx="3840480" cy="2148840"/>
          </a:xfrm>
          <a:prstGeom prst="rect">
            <a:avLst/>
          </a:prstGeom>
          <a:solidFill>
            <a:srgbClr val="FFFBF5"/>
          </a:solidFill>
          <a:ln w="1651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3886200"/>
            <a:ext cx="548640" cy="411480"/>
          </a:xfrm>
          <a:prstGeom prst="rect">
            <a:avLst/>
          </a:prstGeom>
          <a:noFill/>
        </p:spPr>
        <p:txBody>
          <a:bodyPr wrap="square">
            <a:spAutoFit/>
          </a:bodyPr>
          <a:lstStyle/>
          <a:p>
            <a:pPr algn="l"/>
            <a:r>
              <a:rPr sz="2400" b="0" i="0"/>
              <a:t>🔐</a:t>
            </a:r>
          </a:p>
        </p:txBody>
      </p:sp>
      <p:sp>
        <p:nvSpPr>
          <p:cNvPr id="23" name="TextBox 22"/>
          <p:cNvSpPr txBox="1"/>
          <p:nvPr/>
        </p:nvSpPr>
        <p:spPr>
          <a:xfrm>
            <a:off x="960120" y="3886200"/>
            <a:ext cx="3017520" cy="365760"/>
          </a:xfrm>
          <a:prstGeom prst="rect">
            <a:avLst/>
          </a:prstGeom>
          <a:noFill/>
        </p:spPr>
        <p:txBody>
          <a:bodyPr wrap="square">
            <a:spAutoFit/>
          </a:bodyPr>
          <a:lstStyle/>
          <a:p>
            <a:pPr algn="l"/>
            <a:r>
              <a:rPr sz="1250" b="1" i="0">
                <a:solidFill>
                  <a:srgbClr val="2C1A0E"/>
                </a:solidFill>
              </a:rPr>
              <a:t>Enterprise Security</a:t>
            </a:r>
          </a:p>
        </p:txBody>
      </p:sp>
      <p:sp>
        <p:nvSpPr>
          <p:cNvPr id="24" name="Rectangle 23"/>
          <p:cNvSpPr/>
          <p:nvPr/>
        </p:nvSpPr>
        <p:spPr>
          <a:xfrm>
            <a:off x="411480" y="4297680"/>
            <a:ext cx="3474720" cy="36576"/>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4389120"/>
            <a:ext cx="3566160" cy="1463040"/>
          </a:xfrm>
          <a:prstGeom prst="rect">
            <a:avLst/>
          </a:prstGeom>
          <a:noFill/>
        </p:spPr>
        <p:txBody>
          <a:bodyPr wrap="square">
            <a:spAutoFit/>
          </a:bodyPr>
          <a:lstStyle/>
          <a:p>
            <a:pPr algn="l"/>
            <a:r>
              <a:rPr sz="1150" b="0" i="0">
                <a:solidFill>
                  <a:srgbClr val="3D3D3D"/>
                </a:solidFill>
              </a:rPr>
              <a:t>JWT + OAuth2 + Redis blacklisting + RBAC = a security posture that would satisfy a bank. No endpoint is unprotected.</a:t>
            </a:r>
          </a:p>
        </p:txBody>
      </p:sp>
      <p:sp>
        <p:nvSpPr>
          <p:cNvPr id="26" name="Rectangle 25"/>
          <p:cNvSpPr/>
          <p:nvPr/>
        </p:nvSpPr>
        <p:spPr>
          <a:xfrm>
            <a:off x="4389120" y="3794760"/>
            <a:ext cx="3840480" cy="2148840"/>
          </a:xfrm>
          <a:prstGeom prst="rect">
            <a:avLst/>
          </a:prstGeom>
          <a:solidFill>
            <a:srgbClr val="FFFBF5"/>
          </a:solidFill>
          <a:ln w="1651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98848" y="3886200"/>
            <a:ext cx="548640" cy="411480"/>
          </a:xfrm>
          <a:prstGeom prst="rect">
            <a:avLst/>
          </a:prstGeom>
          <a:noFill/>
        </p:spPr>
        <p:txBody>
          <a:bodyPr wrap="square">
            <a:spAutoFit/>
          </a:bodyPr>
          <a:lstStyle/>
          <a:p>
            <a:pPr algn="l"/>
            <a:r>
              <a:rPr sz="2400" b="0" i="0"/>
              <a:t>🚀</a:t>
            </a:r>
          </a:p>
        </p:txBody>
      </p:sp>
      <p:sp>
        <p:nvSpPr>
          <p:cNvPr id="28" name="TextBox 27"/>
          <p:cNvSpPr txBox="1"/>
          <p:nvPr/>
        </p:nvSpPr>
        <p:spPr>
          <a:xfrm>
            <a:off x="5074920" y="3886200"/>
            <a:ext cx="3017520" cy="365760"/>
          </a:xfrm>
          <a:prstGeom prst="rect">
            <a:avLst/>
          </a:prstGeom>
          <a:noFill/>
        </p:spPr>
        <p:txBody>
          <a:bodyPr wrap="square">
            <a:spAutoFit/>
          </a:bodyPr>
          <a:lstStyle/>
          <a:p>
            <a:pPr algn="l"/>
            <a:r>
              <a:rPr sz="1250" b="1" i="0">
                <a:solidFill>
                  <a:srgbClr val="2C1A0E"/>
                </a:solidFill>
              </a:rPr>
              <a:t>Scales to 1,000 Branches</a:t>
            </a:r>
          </a:p>
        </p:txBody>
      </p:sp>
      <p:sp>
        <p:nvSpPr>
          <p:cNvPr id="29" name="Rectangle 28"/>
          <p:cNvSpPr/>
          <p:nvPr/>
        </p:nvSpPr>
        <p:spPr>
          <a:xfrm>
            <a:off x="4526280" y="4297680"/>
            <a:ext cx="3474720" cy="36576"/>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26280" y="4389120"/>
            <a:ext cx="3566160" cy="1463040"/>
          </a:xfrm>
          <a:prstGeom prst="rect">
            <a:avLst/>
          </a:prstGeom>
          <a:noFill/>
        </p:spPr>
        <p:txBody>
          <a:bodyPr wrap="square">
            <a:spAutoFit/>
          </a:bodyPr>
          <a:lstStyle/>
          <a:p>
            <a:pPr algn="l"/>
            <a:r>
              <a:rPr sz="1150" b="0" i="0">
                <a:solidFill>
                  <a:srgbClr val="3D3D3D"/>
                </a:solidFill>
              </a:rPr>
              <a:t>Kafka partitioning, Redis clustering, horizontal service scaling, and branch-scoped data isolation mean adding branches requires configuration, not code changes.</a:t>
            </a:r>
          </a:p>
        </p:txBody>
      </p:sp>
      <p:sp>
        <p:nvSpPr>
          <p:cNvPr id="31" name="Rectangle 30"/>
          <p:cNvSpPr/>
          <p:nvPr/>
        </p:nvSpPr>
        <p:spPr>
          <a:xfrm>
            <a:off x="8503920" y="3794760"/>
            <a:ext cx="3840480" cy="2148840"/>
          </a:xfrm>
          <a:prstGeom prst="rect">
            <a:avLst/>
          </a:prstGeom>
          <a:solidFill>
            <a:srgbClr val="FFFBF5"/>
          </a:solidFill>
          <a:ln w="1651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13648" y="3886200"/>
            <a:ext cx="548640" cy="411480"/>
          </a:xfrm>
          <a:prstGeom prst="rect">
            <a:avLst/>
          </a:prstGeom>
          <a:noFill/>
        </p:spPr>
        <p:txBody>
          <a:bodyPr wrap="square">
            <a:spAutoFit/>
          </a:bodyPr>
          <a:lstStyle/>
          <a:p>
            <a:pPr algn="l"/>
            <a:r>
              <a:rPr sz="2400" b="0" i="0"/>
              <a:t>🏗️</a:t>
            </a:r>
          </a:p>
        </p:txBody>
      </p:sp>
      <p:sp>
        <p:nvSpPr>
          <p:cNvPr id="33" name="TextBox 32"/>
          <p:cNvSpPr txBox="1"/>
          <p:nvPr/>
        </p:nvSpPr>
        <p:spPr>
          <a:xfrm>
            <a:off x="9189720" y="3886200"/>
            <a:ext cx="3017520" cy="365760"/>
          </a:xfrm>
          <a:prstGeom prst="rect">
            <a:avLst/>
          </a:prstGeom>
          <a:noFill/>
        </p:spPr>
        <p:txBody>
          <a:bodyPr wrap="square">
            <a:spAutoFit/>
          </a:bodyPr>
          <a:lstStyle/>
          <a:p>
            <a:pPr algn="l"/>
            <a:r>
              <a:rPr sz="1250" b="1" i="0">
                <a:solidFill>
                  <a:srgbClr val="2C1A0E"/>
                </a:solidFill>
              </a:rPr>
              <a:t>True Microservices</a:t>
            </a:r>
          </a:p>
        </p:txBody>
      </p:sp>
      <p:sp>
        <p:nvSpPr>
          <p:cNvPr id="34" name="Rectangle 33"/>
          <p:cNvSpPr/>
          <p:nvPr/>
        </p:nvSpPr>
        <p:spPr>
          <a:xfrm>
            <a:off x="8641080" y="4297680"/>
            <a:ext cx="3474720" cy="36576"/>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41080" y="4389120"/>
            <a:ext cx="3566160" cy="1463040"/>
          </a:xfrm>
          <a:prstGeom prst="rect">
            <a:avLst/>
          </a:prstGeom>
          <a:noFill/>
        </p:spPr>
        <p:txBody>
          <a:bodyPr wrap="square">
            <a:spAutoFit/>
          </a:bodyPr>
          <a:lstStyle/>
          <a:p>
            <a:pPr algn="l"/>
            <a:r>
              <a:rPr sz="1150" b="0" i="0">
                <a:solidFill>
                  <a:srgbClr val="3D3D3D"/>
                </a:solidFill>
              </a:rPr>
              <a:t>Each service independently deployable, independently scalable, with its own database. Not a monolith hiding behind an API gateway.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DF6EC"/>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144000" cy="640080"/>
          </a:xfrm>
          <a:prstGeom prst="rect">
            <a:avLst/>
          </a:prstGeom>
          <a:noFill/>
        </p:spPr>
        <p:txBody>
          <a:bodyPr wrap="square">
            <a:spAutoFit/>
          </a:bodyPr>
          <a:lstStyle/>
          <a:p>
            <a:pPr algn="l"/>
            <a:r>
              <a:rPr sz="2800" b="1" i="0">
                <a:solidFill>
                  <a:srgbClr val="FFFBF5"/>
                </a:solidFill>
              </a:rPr>
              <a:t>Live Demo</a:t>
            </a:r>
          </a:p>
        </p:txBody>
      </p:sp>
      <p:sp>
        <p:nvSpPr>
          <p:cNvPr id="4" name="TextBox 3"/>
          <p:cNvSpPr txBox="1"/>
          <p:nvPr/>
        </p:nvSpPr>
        <p:spPr>
          <a:xfrm>
            <a:off x="457200" y="749808"/>
            <a:ext cx="10058400" cy="411480"/>
          </a:xfrm>
          <a:prstGeom prst="rect">
            <a:avLst/>
          </a:prstGeom>
          <a:noFill/>
        </p:spPr>
        <p:txBody>
          <a:bodyPr wrap="square">
            <a:spAutoFit/>
          </a:bodyPr>
          <a:lstStyle/>
          <a:p>
            <a:pPr algn="l"/>
            <a:r>
              <a:rPr sz="1400" b="0" i="1">
                <a:solidFill>
                  <a:srgbClr val="F5A623"/>
                </a:solidFill>
              </a:rPr>
              <a:t>5-minute walkthrough</a:t>
            </a:r>
          </a:p>
        </p:txBody>
      </p:sp>
      <p:sp>
        <p:nvSpPr>
          <p:cNvPr id="5" name="Rectangle 4"/>
          <p:cNvSpPr/>
          <p:nvPr/>
        </p:nvSpPr>
        <p:spPr>
          <a:xfrm>
            <a:off x="0" y="12344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463040"/>
            <a:ext cx="914400" cy="56692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554480"/>
            <a:ext cx="914400" cy="384048"/>
          </a:xfrm>
          <a:prstGeom prst="rect">
            <a:avLst/>
          </a:prstGeom>
          <a:noFill/>
        </p:spPr>
        <p:txBody>
          <a:bodyPr wrap="square">
            <a:spAutoFit/>
          </a:bodyPr>
          <a:lstStyle/>
          <a:p>
            <a:pPr algn="ctr"/>
            <a:r>
              <a:rPr sz="1200" b="1" i="0">
                <a:solidFill>
                  <a:srgbClr val="2C1A0E"/>
                </a:solidFill>
              </a:rPr>
              <a:t>00:00</a:t>
            </a:r>
          </a:p>
        </p:txBody>
      </p:sp>
      <p:sp>
        <p:nvSpPr>
          <p:cNvPr id="8" name="Rectangle 7"/>
          <p:cNvSpPr/>
          <p:nvPr/>
        </p:nvSpPr>
        <p:spPr>
          <a:xfrm>
            <a:off x="1234440" y="1463040"/>
            <a:ext cx="10607040" cy="566928"/>
          </a:xfrm>
          <a:prstGeom prst="rect">
            <a:avLst/>
          </a:prstGeom>
          <a:solidFill>
            <a:srgbClr val="FFFBF5"/>
          </a:solidFill>
          <a:ln w="10160">
            <a:solidFill>
              <a:srgbClr val="B0A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1517904"/>
            <a:ext cx="10241280" cy="475488"/>
          </a:xfrm>
          <a:prstGeom prst="rect">
            <a:avLst/>
          </a:prstGeom>
          <a:noFill/>
        </p:spPr>
        <p:txBody>
          <a:bodyPr wrap="square">
            <a:spAutoFit/>
          </a:bodyPr>
          <a:lstStyle/>
          <a:p>
            <a:pPr algn="l"/>
            <a:r>
              <a:rPr sz="1100" b="0" i="0">
                <a:solidFill>
                  <a:srgbClr val="3D3D3D"/>
                </a:solidFill>
              </a:rPr>
              <a:t>Customer Login  —  Log in as customer via email or Google OAuth2. Show JWT token in browser DevTools Network tab.</a:t>
            </a:r>
          </a:p>
        </p:txBody>
      </p:sp>
      <p:sp>
        <p:nvSpPr>
          <p:cNvPr id="10" name="Rectangle 9"/>
          <p:cNvSpPr/>
          <p:nvPr/>
        </p:nvSpPr>
        <p:spPr>
          <a:xfrm>
            <a:off x="274320" y="2121408"/>
            <a:ext cx="914400" cy="56692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2212848"/>
            <a:ext cx="914400" cy="384048"/>
          </a:xfrm>
          <a:prstGeom prst="rect">
            <a:avLst/>
          </a:prstGeom>
          <a:noFill/>
        </p:spPr>
        <p:txBody>
          <a:bodyPr wrap="square">
            <a:spAutoFit/>
          </a:bodyPr>
          <a:lstStyle/>
          <a:p>
            <a:pPr algn="ctr"/>
            <a:r>
              <a:rPr sz="1200" b="1" i="0">
                <a:solidFill>
                  <a:srgbClr val="2C1A0E"/>
                </a:solidFill>
              </a:rPr>
              <a:t>00:45</a:t>
            </a:r>
          </a:p>
        </p:txBody>
      </p:sp>
      <p:sp>
        <p:nvSpPr>
          <p:cNvPr id="12" name="Rectangle 11"/>
          <p:cNvSpPr/>
          <p:nvPr/>
        </p:nvSpPr>
        <p:spPr>
          <a:xfrm>
            <a:off x="1234440" y="2121408"/>
            <a:ext cx="10607040" cy="566928"/>
          </a:xfrm>
          <a:prstGeom prst="rect">
            <a:avLst/>
          </a:prstGeom>
          <a:solidFill>
            <a:srgbClr val="FFFBF5"/>
          </a:solidFill>
          <a:ln w="10160">
            <a:solidFill>
              <a:srgbClr val="B0A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1600" y="2176272"/>
            <a:ext cx="10241280" cy="475488"/>
          </a:xfrm>
          <a:prstGeom prst="rect">
            <a:avLst/>
          </a:prstGeom>
          <a:noFill/>
        </p:spPr>
        <p:txBody>
          <a:bodyPr wrap="square">
            <a:spAutoFit/>
          </a:bodyPr>
          <a:lstStyle/>
          <a:p>
            <a:pPr algn="l"/>
            <a:r>
              <a:rPr sz="1100" b="0" i="0">
                <a:solidFill>
                  <a:srgbClr val="3D3D3D"/>
                </a:solidFill>
              </a:rPr>
              <a:t>Browse Menu + AI Assistant  —  Open AI Food Assistant modal. Complete the 7-step wizard (hunger → mood → meal-type → fulfillment → budget → dietary → notes). Show the Gemini API call in the server logs. Show suggestions returned.</a:t>
            </a:r>
          </a:p>
        </p:txBody>
      </p:sp>
      <p:sp>
        <p:nvSpPr>
          <p:cNvPr id="14" name="Rectangle 13"/>
          <p:cNvSpPr/>
          <p:nvPr/>
        </p:nvSpPr>
        <p:spPr>
          <a:xfrm>
            <a:off x="274320" y="2779776"/>
            <a:ext cx="914400" cy="56692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2871216"/>
            <a:ext cx="914400" cy="384048"/>
          </a:xfrm>
          <a:prstGeom prst="rect">
            <a:avLst/>
          </a:prstGeom>
          <a:noFill/>
        </p:spPr>
        <p:txBody>
          <a:bodyPr wrap="square">
            <a:spAutoFit/>
          </a:bodyPr>
          <a:lstStyle/>
          <a:p>
            <a:pPr algn="ctr"/>
            <a:r>
              <a:rPr sz="1200" b="1" i="0">
                <a:solidFill>
                  <a:srgbClr val="2C1A0E"/>
                </a:solidFill>
              </a:rPr>
              <a:t>02:00</a:t>
            </a:r>
          </a:p>
        </p:txBody>
      </p:sp>
      <p:sp>
        <p:nvSpPr>
          <p:cNvPr id="16" name="Rectangle 15"/>
          <p:cNvSpPr/>
          <p:nvPr/>
        </p:nvSpPr>
        <p:spPr>
          <a:xfrm>
            <a:off x="1234440" y="2779776"/>
            <a:ext cx="10607040" cy="566928"/>
          </a:xfrm>
          <a:prstGeom prst="rect">
            <a:avLst/>
          </a:prstGeom>
          <a:solidFill>
            <a:srgbClr val="FFFBF5"/>
          </a:solidFill>
          <a:ln w="10160">
            <a:solidFill>
              <a:srgbClr val="B0A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71600" y="2834640"/>
            <a:ext cx="10241280" cy="475488"/>
          </a:xfrm>
          <a:prstGeom prst="rect">
            <a:avLst/>
          </a:prstGeom>
          <a:noFill/>
        </p:spPr>
        <p:txBody>
          <a:bodyPr wrap="square">
            <a:spAutoFit/>
          </a:bodyPr>
          <a:lstStyle/>
          <a:p>
            <a:pPr algn="l"/>
            <a:r>
              <a:rPr sz="1100" b="0" i="0">
                <a:solidFill>
                  <a:srgbClr val="3D3D3D"/>
                </a:solidFill>
              </a:rPr>
              <a:t>Place Order  —  Add AI-suggested items to cart. Proceed to checkout. Submit order. Show Kafka 'order.created' event in logs.</a:t>
            </a:r>
          </a:p>
        </p:txBody>
      </p:sp>
      <p:sp>
        <p:nvSpPr>
          <p:cNvPr id="18" name="Rectangle 17"/>
          <p:cNvSpPr/>
          <p:nvPr/>
        </p:nvSpPr>
        <p:spPr>
          <a:xfrm>
            <a:off x="274320" y="3438144"/>
            <a:ext cx="914400" cy="56692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3529584"/>
            <a:ext cx="914400" cy="384048"/>
          </a:xfrm>
          <a:prstGeom prst="rect">
            <a:avLst/>
          </a:prstGeom>
          <a:noFill/>
        </p:spPr>
        <p:txBody>
          <a:bodyPr wrap="square">
            <a:spAutoFit/>
          </a:bodyPr>
          <a:lstStyle/>
          <a:p>
            <a:pPr algn="ctr"/>
            <a:r>
              <a:rPr sz="1200" b="1" i="0">
                <a:solidFill>
                  <a:srgbClr val="2C1A0E"/>
                </a:solidFill>
              </a:rPr>
              <a:t>02:45</a:t>
            </a:r>
          </a:p>
        </p:txBody>
      </p:sp>
      <p:sp>
        <p:nvSpPr>
          <p:cNvPr id="20" name="Rectangle 19"/>
          <p:cNvSpPr/>
          <p:nvPr/>
        </p:nvSpPr>
        <p:spPr>
          <a:xfrm>
            <a:off x="1234440" y="3438144"/>
            <a:ext cx="10607040" cy="566928"/>
          </a:xfrm>
          <a:prstGeom prst="rect">
            <a:avLst/>
          </a:prstGeom>
          <a:solidFill>
            <a:srgbClr val="FFFBF5"/>
          </a:solidFill>
          <a:ln w="10160">
            <a:solidFill>
              <a:srgbClr val="B0A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71600" y="3493008"/>
            <a:ext cx="10241280" cy="475488"/>
          </a:xfrm>
          <a:prstGeom prst="rect">
            <a:avLst/>
          </a:prstGeom>
          <a:noFill/>
        </p:spPr>
        <p:txBody>
          <a:bodyPr wrap="square">
            <a:spAutoFit/>
          </a:bodyPr>
          <a:lstStyle/>
          <a:p>
            <a:pPr algn="l"/>
            <a:r>
              <a:rPr sz="1100" b="0" i="0">
                <a:solidFill>
                  <a:srgbClr val="3D3D3D"/>
                </a:solidFill>
              </a:rPr>
              <a:t>Kitchen Dashboard  —  Switch to Kitchen Staff view. Show order appearing in real-time. Mark order as PREPARING, then READY. Show SLA timer.</a:t>
            </a:r>
          </a:p>
        </p:txBody>
      </p:sp>
      <p:sp>
        <p:nvSpPr>
          <p:cNvPr id="22" name="Rectangle 21"/>
          <p:cNvSpPr/>
          <p:nvPr/>
        </p:nvSpPr>
        <p:spPr>
          <a:xfrm>
            <a:off x="274320" y="4096512"/>
            <a:ext cx="914400" cy="56692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4187952"/>
            <a:ext cx="914400" cy="384048"/>
          </a:xfrm>
          <a:prstGeom prst="rect">
            <a:avLst/>
          </a:prstGeom>
          <a:noFill/>
        </p:spPr>
        <p:txBody>
          <a:bodyPr wrap="square">
            <a:spAutoFit/>
          </a:bodyPr>
          <a:lstStyle/>
          <a:p>
            <a:pPr algn="ctr"/>
            <a:r>
              <a:rPr sz="1200" b="1" i="0">
                <a:solidFill>
                  <a:srgbClr val="2C1A0E"/>
                </a:solidFill>
              </a:rPr>
              <a:t>03:30</a:t>
            </a:r>
          </a:p>
        </p:txBody>
      </p:sp>
      <p:sp>
        <p:nvSpPr>
          <p:cNvPr id="24" name="Rectangle 23"/>
          <p:cNvSpPr/>
          <p:nvPr/>
        </p:nvSpPr>
        <p:spPr>
          <a:xfrm>
            <a:off x="1234440" y="4096512"/>
            <a:ext cx="10607040" cy="566928"/>
          </a:xfrm>
          <a:prstGeom prst="rect">
            <a:avLst/>
          </a:prstGeom>
          <a:solidFill>
            <a:srgbClr val="FFFBF5"/>
          </a:solidFill>
          <a:ln w="10160">
            <a:solidFill>
              <a:srgbClr val="B0A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71600" y="4151376"/>
            <a:ext cx="10241280" cy="475488"/>
          </a:xfrm>
          <a:prstGeom prst="rect">
            <a:avLst/>
          </a:prstGeom>
          <a:noFill/>
        </p:spPr>
        <p:txBody>
          <a:bodyPr wrap="square">
            <a:spAutoFit/>
          </a:bodyPr>
          <a:lstStyle/>
          <a:p>
            <a:pPr algn="l"/>
            <a:r>
              <a:rPr sz="1100" b="0" i="0">
                <a:solidFill>
                  <a:srgbClr val="3D3D3D"/>
                </a:solidFill>
              </a:rPr>
              <a:t>Customer Notification  —  Show customer receiving WebSocket push notification: 'Your order is ready!'. Show email notification log.</a:t>
            </a:r>
          </a:p>
        </p:txBody>
      </p:sp>
      <p:sp>
        <p:nvSpPr>
          <p:cNvPr id="26" name="Rectangle 25"/>
          <p:cNvSpPr/>
          <p:nvPr/>
        </p:nvSpPr>
        <p:spPr>
          <a:xfrm>
            <a:off x="274320" y="4754880"/>
            <a:ext cx="914400" cy="56692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4320" y="4846320"/>
            <a:ext cx="914400" cy="384048"/>
          </a:xfrm>
          <a:prstGeom prst="rect">
            <a:avLst/>
          </a:prstGeom>
          <a:noFill/>
        </p:spPr>
        <p:txBody>
          <a:bodyPr wrap="square">
            <a:spAutoFit/>
          </a:bodyPr>
          <a:lstStyle/>
          <a:p>
            <a:pPr algn="ctr"/>
            <a:r>
              <a:rPr sz="1200" b="1" i="0">
                <a:solidFill>
                  <a:srgbClr val="2C1A0E"/>
                </a:solidFill>
              </a:rPr>
              <a:t>04:00</a:t>
            </a:r>
          </a:p>
        </p:txBody>
      </p:sp>
      <p:sp>
        <p:nvSpPr>
          <p:cNvPr id="28" name="Rectangle 27"/>
          <p:cNvSpPr/>
          <p:nvPr/>
        </p:nvSpPr>
        <p:spPr>
          <a:xfrm>
            <a:off x="1234440" y="4754880"/>
            <a:ext cx="10607040" cy="566928"/>
          </a:xfrm>
          <a:prstGeom prst="rect">
            <a:avLst/>
          </a:prstGeom>
          <a:solidFill>
            <a:srgbClr val="FFFBF5"/>
          </a:solidFill>
          <a:ln w="10160">
            <a:solidFill>
              <a:srgbClr val="B0A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71600" y="4809744"/>
            <a:ext cx="10241280" cy="475488"/>
          </a:xfrm>
          <a:prstGeom prst="rect">
            <a:avLst/>
          </a:prstGeom>
          <a:noFill/>
        </p:spPr>
        <p:txBody>
          <a:bodyPr wrap="square">
            <a:spAutoFit/>
          </a:bodyPr>
          <a:lstStyle/>
          <a:p>
            <a:pPr algn="l"/>
            <a:r>
              <a:rPr sz="1100" b="0" i="0">
                <a:solidFill>
                  <a:srgbClr val="3D3D3D"/>
                </a:solidFill>
              </a:rPr>
              <a:t>Analytics Dashboard  —  Switch to Branch Manager. Show real-time revenue, top items, and daily summary. Run a date-range report.</a:t>
            </a:r>
          </a:p>
        </p:txBody>
      </p:sp>
      <p:sp>
        <p:nvSpPr>
          <p:cNvPr id="30" name="Rectangle 29"/>
          <p:cNvSpPr/>
          <p:nvPr/>
        </p:nvSpPr>
        <p:spPr>
          <a:xfrm>
            <a:off x="274320" y="5413248"/>
            <a:ext cx="914400" cy="56692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4320" y="5504688"/>
            <a:ext cx="914400" cy="384048"/>
          </a:xfrm>
          <a:prstGeom prst="rect">
            <a:avLst/>
          </a:prstGeom>
          <a:noFill/>
        </p:spPr>
        <p:txBody>
          <a:bodyPr wrap="square">
            <a:spAutoFit/>
          </a:bodyPr>
          <a:lstStyle/>
          <a:p>
            <a:pPr algn="ctr"/>
            <a:r>
              <a:rPr sz="1200" b="1" i="0">
                <a:solidFill>
                  <a:srgbClr val="2C1A0E"/>
                </a:solidFill>
              </a:rPr>
              <a:t>04:45</a:t>
            </a:r>
          </a:p>
        </p:txBody>
      </p:sp>
      <p:sp>
        <p:nvSpPr>
          <p:cNvPr id="32" name="Rectangle 31"/>
          <p:cNvSpPr/>
          <p:nvPr/>
        </p:nvSpPr>
        <p:spPr>
          <a:xfrm>
            <a:off x="1234440" y="5413248"/>
            <a:ext cx="10607040" cy="566928"/>
          </a:xfrm>
          <a:prstGeom prst="rect">
            <a:avLst/>
          </a:prstGeom>
          <a:solidFill>
            <a:srgbClr val="FFFBF5"/>
          </a:solidFill>
          <a:ln w="10160">
            <a:solidFill>
              <a:srgbClr val="B0A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371600" y="5468112"/>
            <a:ext cx="10241280" cy="475488"/>
          </a:xfrm>
          <a:prstGeom prst="rect">
            <a:avLst/>
          </a:prstGeom>
          <a:noFill/>
        </p:spPr>
        <p:txBody>
          <a:bodyPr wrap="square">
            <a:spAutoFit/>
          </a:bodyPr>
          <a:lstStyle/>
          <a:p>
            <a:pPr algn="l"/>
            <a:r>
              <a:rPr sz="1100" b="0" i="0">
                <a:solidFill>
                  <a:srgbClr val="3D3D3D"/>
                </a:solidFill>
              </a:rPr>
              <a:t>Head Office View  —  Switch to Head Office Admin. Show cross-branch analytics. Demonstrate RBAC — branch manager cannot see other branches.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DF6EC"/>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144000" cy="640080"/>
          </a:xfrm>
          <a:prstGeom prst="rect">
            <a:avLst/>
          </a:prstGeom>
          <a:noFill/>
        </p:spPr>
        <p:txBody>
          <a:bodyPr wrap="square">
            <a:spAutoFit/>
          </a:bodyPr>
          <a:lstStyle/>
          <a:p>
            <a:pPr algn="l"/>
            <a:r>
              <a:rPr sz="2800" b="1" i="0">
                <a:solidFill>
                  <a:srgbClr val="FFFBF5"/>
                </a:solidFill>
              </a:rPr>
              <a:t>Q&amp;A — Technical Deep Dive</a:t>
            </a:r>
          </a:p>
        </p:txBody>
      </p:sp>
      <p:sp>
        <p:nvSpPr>
          <p:cNvPr id="4" name="TextBox 3"/>
          <p:cNvSpPr txBox="1"/>
          <p:nvPr/>
        </p:nvSpPr>
        <p:spPr>
          <a:xfrm>
            <a:off x="457200" y="749808"/>
            <a:ext cx="10058400" cy="411480"/>
          </a:xfrm>
          <a:prstGeom prst="rect">
            <a:avLst/>
          </a:prstGeom>
          <a:noFill/>
        </p:spPr>
        <p:txBody>
          <a:bodyPr wrap="square">
            <a:spAutoFit/>
          </a:bodyPr>
          <a:lstStyle/>
          <a:p>
            <a:pPr algn="l"/>
            <a:r>
              <a:rPr sz="1400" b="0" i="1">
                <a:solidFill>
                  <a:srgbClr val="F5A623"/>
                </a:solidFill>
              </a:rPr>
              <a:t>Prepared answers to likely questions</a:t>
            </a:r>
          </a:p>
        </p:txBody>
      </p:sp>
      <p:sp>
        <p:nvSpPr>
          <p:cNvPr id="5" name="Rectangle 4"/>
          <p:cNvSpPr/>
          <p:nvPr/>
        </p:nvSpPr>
        <p:spPr>
          <a:xfrm>
            <a:off x="0" y="12344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463040"/>
            <a:ext cx="5669280" cy="1234440"/>
          </a:xfrm>
          <a:prstGeom prst="rect">
            <a:avLst/>
          </a:prstGeom>
          <a:solidFill>
            <a:srgbClr val="FFFBF5"/>
          </a:solidFill>
          <a:ln w="12700">
            <a:solidFill>
              <a:srgbClr val="2C1A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1517904"/>
            <a:ext cx="5440680" cy="347472"/>
          </a:xfrm>
          <a:prstGeom prst="rect">
            <a:avLst/>
          </a:prstGeom>
          <a:noFill/>
        </p:spPr>
        <p:txBody>
          <a:bodyPr wrap="square">
            <a:spAutoFit/>
          </a:bodyPr>
          <a:lstStyle/>
          <a:p>
            <a:pPr algn="l"/>
            <a:r>
              <a:rPr sz="1100" b="1" i="0">
                <a:solidFill>
                  <a:srgbClr val="2C1A0E"/>
                </a:solidFill>
              </a:rPr>
              <a:t>Q: Why microservices instead of a monolith?</a:t>
            </a:r>
          </a:p>
        </p:txBody>
      </p:sp>
      <p:sp>
        <p:nvSpPr>
          <p:cNvPr id="8" name="TextBox 7"/>
          <p:cNvSpPr txBox="1"/>
          <p:nvPr/>
        </p:nvSpPr>
        <p:spPr>
          <a:xfrm>
            <a:off x="384048" y="1883664"/>
            <a:ext cx="5440680" cy="749808"/>
          </a:xfrm>
          <a:prstGeom prst="rect">
            <a:avLst/>
          </a:prstGeom>
          <a:noFill/>
        </p:spPr>
        <p:txBody>
          <a:bodyPr wrap="square">
            <a:spAutoFit/>
          </a:bodyPr>
          <a:lstStyle/>
          <a:p>
            <a:pPr algn="l"/>
            <a:r>
              <a:rPr sz="1050" b="0" i="0">
                <a:solidFill>
                  <a:srgbClr val="3D3D3D"/>
                </a:solidFill>
              </a:rPr>
              <a:t>A: Independent deployability, scalability per service, team ownership, and fault isolation. A kitchen service outage cannot affect order placement.</a:t>
            </a:r>
          </a:p>
        </p:txBody>
      </p:sp>
      <p:sp>
        <p:nvSpPr>
          <p:cNvPr id="9" name="Rectangle 8"/>
          <p:cNvSpPr/>
          <p:nvPr/>
        </p:nvSpPr>
        <p:spPr>
          <a:xfrm>
            <a:off x="274320" y="2807208"/>
            <a:ext cx="5669280" cy="1234440"/>
          </a:xfrm>
          <a:prstGeom prst="rect">
            <a:avLst/>
          </a:prstGeom>
          <a:solidFill>
            <a:srgbClr val="FFFBF5"/>
          </a:solidFill>
          <a:ln w="12700">
            <a:solidFill>
              <a:srgbClr val="2C1A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2862072"/>
            <a:ext cx="5440680" cy="347472"/>
          </a:xfrm>
          <a:prstGeom prst="rect">
            <a:avLst/>
          </a:prstGeom>
          <a:noFill/>
        </p:spPr>
        <p:txBody>
          <a:bodyPr wrap="square">
            <a:spAutoFit/>
          </a:bodyPr>
          <a:lstStyle/>
          <a:p>
            <a:pPr algn="l"/>
            <a:r>
              <a:rPr sz="1100" b="1" i="0">
                <a:solidFill>
                  <a:srgbClr val="2C1A0E"/>
                </a:solidFill>
              </a:rPr>
              <a:t>Q: Why Kafka instead of direct REST calls?</a:t>
            </a:r>
          </a:p>
        </p:txBody>
      </p:sp>
      <p:sp>
        <p:nvSpPr>
          <p:cNvPr id="11" name="TextBox 10"/>
          <p:cNvSpPr txBox="1"/>
          <p:nvPr/>
        </p:nvSpPr>
        <p:spPr>
          <a:xfrm>
            <a:off x="384048" y="3227832"/>
            <a:ext cx="5440680" cy="749808"/>
          </a:xfrm>
          <a:prstGeom prst="rect">
            <a:avLst/>
          </a:prstGeom>
          <a:noFill/>
        </p:spPr>
        <p:txBody>
          <a:bodyPr wrap="square">
            <a:spAutoFit/>
          </a:bodyPr>
          <a:lstStyle/>
          <a:p>
            <a:pPr algn="l"/>
            <a:r>
              <a:rPr sz="1050" b="0" i="0">
                <a:solidFill>
                  <a:srgbClr val="3D3D3D"/>
                </a:solidFill>
              </a:rPr>
              <a:t>A: Async decoupling, durability, and replay. If the analytics service is down, events queue up and are processed when it restarts — no data loss.</a:t>
            </a:r>
          </a:p>
        </p:txBody>
      </p:sp>
      <p:sp>
        <p:nvSpPr>
          <p:cNvPr id="12" name="Rectangle 11"/>
          <p:cNvSpPr/>
          <p:nvPr/>
        </p:nvSpPr>
        <p:spPr>
          <a:xfrm>
            <a:off x="274320" y="4151376"/>
            <a:ext cx="5669280" cy="1234440"/>
          </a:xfrm>
          <a:prstGeom prst="rect">
            <a:avLst/>
          </a:prstGeom>
          <a:solidFill>
            <a:srgbClr val="FFFBF5"/>
          </a:solidFill>
          <a:ln w="12700">
            <a:solidFill>
              <a:srgbClr val="2C1A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4206240"/>
            <a:ext cx="5440680" cy="347472"/>
          </a:xfrm>
          <a:prstGeom prst="rect">
            <a:avLst/>
          </a:prstGeom>
          <a:noFill/>
        </p:spPr>
        <p:txBody>
          <a:bodyPr wrap="square">
            <a:spAutoFit/>
          </a:bodyPr>
          <a:lstStyle/>
          <a:p>
            <a:pPr algn="l"/>
            <a:r>
              <a:rPr sz="1100" b="1" i="0">
                <a:solidFill>
                  <a:srgbClr val="2C1A0E"/>
                </a:solidFill>
              </a:rPr>
              <a:t>Q: How do you handle concurrent orders?</a:t>
            </a:r>
          </a:p>
        </p:txBody>
      </p:sp>
      <p:sp>
        <p:nvSpPr>
          <p:cNvPr id="14" name="TextBox 13"/>
          <p:cNvSpPr txBox="1"/>
          <p:nvPr/>
        </p:nvSpPr>
        <p:spPr>
          <a:xfrm>
            <a:off x="384048" y="4572000"/>
            <a:ext cx="5440680" cy="749808"/>
          </a:xfrm>
          <a:prstGeom prst="rect">
            <a:avLst/>
          </a:prstGeom>
          <a:noFill/>
        </p:spPr>
        <p:txBody>
          <a:bodyPr wrap="square">
            <a:spAutoFit/>
          </a:bodyPr>
          <a:lstStyle/>
          <a:p>
            <a:pPr algn="l"/>
            <a:r>
              <a:rPr sz="1050" b="0" i="0">
                <a:solidFill>
                  <a:srgbClr val="3D3D3D"/>
                </a:solidFill>
              </a:rPr>
              <a:t>A: Optimistic locking via @Version on Order entity, database-level constraints, and idempotent Kafka consumers.</a:t>
            </a:r>
          </a:p>
        </p:txBody>
      </p:sp>
      <p:sp>
        <p:nvSpPr>
          <p:cNvPr id="15" name="Rectangle 14"/>
          <p:cNvSpPr/>
          <p:nvPr/>
        </p:nvSpPr>
        <p:spPr>
          <a:xfrm>
            <a:off x="274320" y="5495544"/>
            <a:ext cx="5669280" cy="1234440"/>
          </a:xfrm>
          <a:prstGeom prst="rect">
            <a:avLst/>
          </a:prstGeom>
          <a:solidFill>
            <a:srgbClr val="FFFBF5"/>
          </a:solidFill>
          <a:ln w="12700">
            <a:solidFill>
              <a:srgbClr val="2C1A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4048" y="5550408"/>
            <a:ext cx="5440680" cy="347472"/>
          </a:xfrm>
          <a:prstGeom prst="rect">
            <a:avLst/>
          </a:prstGeom>
          <a:noFill/>
        </p:spPr>
        <p:txBody>
          <a:bodyPr wrap="square">
            <a:spAutoFit/>
          </a:bodyPr>
          <a:lstStyle/>
          <a:p>
            <a:pPr algn="l"/>
            <a:r>
              <a:rPr sz="1100" b="1" i="0">
                <a:solidFill>
                  <a:srgbClr val="2C1A0E"/>
                </a:solidFill>
              </a:rPr>
              <a:t>Q: How is security enforced end-to-end?</a:t>
            </a:r>
          </a:p>
        </p:txBody>
      </p:sp>
      <p:sp>
        <p:nvSpPr>
          <p:cNvPr id="17" name="TextBox 16"/>
          <p:cNvSpPr txBox="1"/>
          <p:nvPr/>
        </p:nvSpPr>
        <p:spPr>
          <a:xfrm>
            <a:off x="384048" y="5916168"/>
            <a:ext cx="5440680" cy="749808"/>
          </a:xfrm>
          <a:prstGeom prst="rect">
            <a:avLst/>
          </a:prstGeom>
          <a:noFill/>
        </p:spPr>
        <p:txBody>
          <a:bodyPr wrap="square">
            <a:spAutoFit/>
          </a:bodyPr>
          <a:lstStyle/>
          <a:p>
            <a:pPr algn="l"/>
            <a:r>
              <a:rPr sz="1050" b="0" i="0">
                <a:solidFill>
                  <a:srgbClr val="3D3D3D"/>
                </a:solidFill>
              </a:rPr>
              <a:t>A: API Gateway validates JWT + Redis blacklist. Headers injected. Each service re-checks role via @PreAuthorize. HTTPS in production.</a:t>
            </a:r>
          </a:p>
        </p:txBody>
      </p:sp>
      <p:sp>
        <p:nvSpPr>
          <p:cNvPr id="18" name="Rectangle 17"/>
          <p:cNvSpPr/>
          <p:nvPr/>
        </p:nvSpPr>
        <p:spPr>
          <a:xfrm>
            <a:off x="6263640" y="1463040"/>
            <a:ext cx="5669280" cy="1234440"/>
          </a:xfrm>
          <a:prstGeom prst="rect">
            <a:avLst/>
          </a:prstGeom>
          <a:solidFill>
            <a:srgbClr val="FFFBF5"/>
          </a:solidFill>
          <a:ln w="12700">
            <a:solidFill>
              <a:srgbClr val="2C1A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73368" y="1517904"/>
            <a:ext cx="5440680" cy="347472"/>
          </a:xfrm>
          <a:prstGeom prst="rect">
            <a:avLst/>
          </a:prstGeom>
          <a:noFill/>
        </p:spPr>
        <p:txBody>
          <a:bodyPr wrap="square">
            <a:spAutoFit/>
          </a:bodyPr>
          <a:lstStyle/>
          <a:p>
            <a:pPr algn="l"/>
            <a:r>
              <a:rPr sz="1100" b="1" i="0">
                <a:solidFill>
                  <a:srgbClr val="2C1A0E"/>
                </a:solidFill>
              </a:rPr>
              <a:t>Q: How are notifications made reliable?</a:t>
            </a:r>
          </a:p>
        </p:txBody>
      </p:sp>
      <p:sp>
        <p:nvSpPr>
          <p:cNvPr id="20" name="TextBox 19"/>
          <p:cNvSpPr txBox="1"/>
          <p:nvPr/>
        </p:nvSpPr>
        <p:spPr>
          <a:xfrm>
            <a:off x="6373368" y="1883664"/>
            <a:ext cx="5440680" cy="749808"/>
          </a:xfrm>
          <a:prstGeom prst="rect">
            <a:avLst/>
          </a:prstGeom>
          <a:noFill/>
        </p:spPr>
        <p:txBody>
          <a:bodyPr wrap="square">
            <a:spAutoFit/>
          </a:bodyPr>
          <a:lstStyle/>
          <a:p>
            <a:pPr algn="l"/>
            <a:r>
              <a:rPr sz="1050" b="0" i="0">
                <a:solidFill>
                  <a:srgbClr val="3D3D3D"/>
                </a:solidFill>
              </a:rPr>
              <a:t>A: DB-persisted with PENDING/SENT/FAILED status. Retry scheduler retries up to 3 times on failure. Full audit trail.</a:t>
            </a:r>
          </a:p>
        </p:txBody>
      </p:sp>
      <p:sp>
        <p:nvSpPr>
          <p:cNvPr id="21" name="Rectangle 20"/>
          <p:cNvSpPr/>
          <p:nvPr/>
        </p:nvSpPr>
        <p:spPr>
          <a:xfrm>
            <a:off x="6263640" y="2807208"/>
            <a:ext cx="5669280" cy="1234440"/>
          </a:xfrm>
          <a:prstGeom prst="rect">
            <a:avLst/>
          </a:prstGeom>
          <a:solidFill>
            <a:srgbClr val="FFFBF5"/>
          </a:solidFill>
          <a:ln w="12700">
            <a:solidFill>
              <a:srgbClr val="2C1A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73368" y="2862072"/>
            <a:ext cx="5440680" cy="347472"/>
          </a:xfrm>
          <a:prstGeom prst="rect">
            <a:avLst/>
          </a:prstGeom>
          <a:noFill/>
        </p:spPr>
        <p:txBody>
          <a:bodyPr wrap="square">
            <a:spAutoFit/>
          </a:bodyPr>
          <a:lstStyle/>
          <a:p>
            <a:pPr algn="l"/>
            <a:r>
              <a:rPr sz="1100" b="1" i="0">
                <a:solidFill>
                  <a:srgbClr val="2C1A0E"/>
                </a:solidFill>
              </a:rPr>
              <a:t>Q: How does the AI know only real menu items?</a:t>
            </a:r>
          </a:p>
        </p:txBody>
      </p:sp>
      <p:sp>
        <p:nvSpPr>
          <p:cNvPr id="23" name="TextBox 22"/>
          <p:cNvSpPr txBox="1"/>
          <p:nvPr/>
        </p:nvSpPr>
        <p:spPr>
          <a:xfrm>
            <a:off x="6373368" y="3227832"/>
            <a:ext cx="5440680" cy="749808"/>
          </a:xfrm>
          <a:prstGeom prst="rect">
            <a:avLst/>
          </a:prstGeom>
          <a:noFill/>
        </p:spPr>
        <p:txBody>
          <a:bodyPr wrap="square">
            <a:spAutoFit/>
          </a:bodyPr>
          <a:lstStyle/>
          <a:p>
            <a:pPr algn="l"/>
            <a:r>
              <a:rPr sz="1050" b="0" i="0">
                <a:solidFill>
                  <a:srgbClr val="3D3D3D"/>
                </a:solidFill>
              </a:rPr>
              <a:t>A: We send only active menu item IDs from our DB. Response validation rejects any ID not in our menuById map — hallucination-proof.</a:t>
            </a:r>
          </a:p>
        </p:txBody>
      </p:sp>
      <p:sp>
        <p:nvSpPr>
          <p:cNvPr id="24" name="Rectangle 23"/>
          <p:cNvSpPr/>
          <p:nvPr/>
        </p:nvSpPr>
        <p:spPr>
          <a:xfrm>
            <a:off x="6263640" y="4151376"/>
            <a:ext cx="5669280" cy="1234440"/>
          </a:xfrm>
          <a:prstGeom prst="rect">
            <a:avLst/>
          </a:prstGeom>
          <a:solidFill>
            <a:srgbClr val="FFFBF5"/>
          </a:solidFill>
          <a:ln w="12700">
            <a:solidFill>
              <a:srgbClr val="2C1A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73368" y="4206240"/>
            <a:ext cx="5440680" cy="347472"/>
          </a:xfrm>
          <a:prstGeom prst="rect">
            <a:avLst/>
          </a:prstGeom>
          <a:noFill/>
        </p:spPr>
        <p:txBody>
          <a:bodyPr wrap="square">
            <a:spAutoFit/>
          </a:bodyPr>
          <a:lstStyle/>
          <a:p>
            <a:pPr algn="l"/>
            <a:r>
              <a:rPr sz="1100" b="1" i="0">
                <a:solidFill>
                  <a:srgbClr val="2C1A0E"/>
                </a:solidFill>
              </a:rPr>
              <a:t>Q: How would this scale to 1,000 branches?</a:t>
            </a:r>
          </a:p>
        </p:txBody>
      </p:sp>
      <p:sp>
        <p:nvSpPr>
          <p:cNvPr id="26" name="TextBox 25"/>
          <p:cNvSpPr txBox="1"/>
          <p:nvPr/>
        </p:nvSpPr>
        <p:spPr>
          <a:xfrm>
            <a:off x="6373368" y="4572000"/>
            <a:ext cx="5440680" cy="749808"/>
          </a:xfrm>
          <a:prstGeom prst="rect">
            <a:avLst/>
          </a:prstGeom>
          <a:noFill/>
        </p:spPr>
        <p:txBody>
          <a:bodyPr wrap="square">
            <a:spAutoFit/>
          </a:bodyPr>
          <a:lstStyle/>
          <a:p>
            <a:pPr algn="l"/>
            <a:r>
              <a:rPr sz="1050" b="0" i="0">
                <a:solidFill>
                  <a:srgbClr val="3D3D3D"/>
                </a:solidFill>
              </a:rPr>
              <a:t>A: Kafka partitioned by branchId, Redis clustered, each service horizontally scaled behind the gateway. No code changes needed.</a:t>
            </a:r>
          </a:p>
        </p:txBody>
      </p:sp>
      <p:sp>
        <p:nvSpPr>
          <p:cNvPr id="27" name="Rectangle 26"/>
          <p:cNvSpPr/>
          <p:nvPr/>
        </p:nvSpPr>
        <p:spPr>
          <a:xfrm>
            <a:off x="6263640" y="5495544"/>
            <a:ext cx="5669280" cy="1234440"/>
          </a:xfrm>
          <a:prstGeom prst="rect">
            <a:avLst/>
          </a:prstGeom>
          <a:solidFill>
            <a:srgbClr val="FFFBF5"/>
          </a:solidFill>
          <a:ln w="12700">
            <a:solidFill>
              <a:srgbClr val="2C1A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3368" y="5550408"/>
            <a:ext cx="5440680" cy="347472"/>
          </a:xfrm>
          <a:prstGeom prst="rect">
            <a:avLst/>
          </a:prstGeom>
          <a:noFill/>
        </p:spPr>
        <p:txBody>
          <a:bodyPr wrap="square">
            <a:spAutoFit/>
          </a:bodyPr>
          <a:lstStyle/>
          <a:p>
            <a:pPr algn="l"/>
            <a:r>
              <a:rPr sz="1100" b="1" i="0">
                <a:solidFill>
                  <a:srgbClr val="2C1A0E"/>
                </a:solidFill>
              </a:rPr>
              <a:t>Q: Why MySQL and not NoSQL?</a:t>
            </a:r>
          </a:p>
        </p:txBody>
      </p:sp>
      <p:sp>
        <p:nvSpPr>
          <p:cNvPr id="29" name="TextBox 28"/>
          <p:cNvSpPr txBox="1"/>
          <p:nvPr/>
        </p:nvSpPr>
        <p:spPr>
          <a:xfrm>
            <a:off x="6373368" y="5916168"/>
            <a:ext cx="5440680" cy="749808"/>
          </a:xfrm>
          <a:prstGeom prst="rect">
            <a:avLst/>
          </a:prstGeom>
          <a:noFill/>
        </p:spPr>
        <p:txBody>
          <a:bodyPr wrap="square">
            <a:spAutoFit/>
          </a:bodyPr>
          <a:lstStyle/>
          <a:p>
            <a:pPr algn="l"/>
            <a:r>
              <a:rPr sz="1050" b="0" i="0">
                <a:solidFill>
                  <a:srgbClr val="3D3D3D"/>
                </a:solidFill>
              </a:rPr>
              <a:t>A: Relational data with transactional guarantees. Order consistency requires ACID. Redis handles the high-read cache layer.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C1A0E"/>
        </a:solidFill>
        <a:effectLst/>
      </p:bgPr>
    </p:bg>
    <p:spTree>
      <p:nvGrpSpPr>
        <p:cNvPr id="1" name=""/>
        <p:cNvGrpSpPr/>
        <p:nvPr/>
      </p:nvGrpSpPr>
      <p:grpSpPr/>
      <p:sp>
        <p:nvSpPr>
          <p:cNvPr id="2" name="Rectangle 1"/>
          <p:cNvSpPr/>
          <p:nvPr/>
        </p:nvSpPr>
        <p:spPr>
          <a:xfrm>
            <a:off x="0" y="0"/>
            <a:ext cx="12188952" cy="16459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93408"/>
            <a:ext cx="12188952" cy="16459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0"/>
            <a:ext cx="10972800" cy="1188720"/>
          </a:xfrm>
          <a:prstGeom prst="rect">
            <a:avLst/>
          </a:prstGeom>
          <a:noFill/>
        </p:spPr>
        <p:txBody>
          <a:bodyPr wrap="square">
            <a:spAutoFit/>
          </a:bodyPr>
          <a:lstStyle/>
          <a:p>
            <a:pPr algn="ctr"/>
            <a:r>
              <a:rPr sz="6400" b="1" i="0">
                <a:solidFill>
                  <a:srgbClr val="FFFBF5"/>
                </a:solidFill>
              </a:rPr>
              <a:t>FoodChain</a:t>
            </a:r>
          </a:p>
        </p:txBody>
      </p:sp>
      <p:sp>
        <p:nvSpPr>
          <p:cNvPr id="5" name="TextBox 4"/>
          <p:cNvSpPr txBox="1"/>
          <p:nvPr/>
        </p:nvSpPr>
        <p:spPr>
          <a:xfrm>
            <a:off x="548640" y="2423160"/>
            <a:ext cx="10972800" cy="502920"/>
          </a:xfrm>
          <a:prstGeom prst="rect">
            <a:avLst/>
          </a:prstGeom>
          <a:noFill/>
        </p:spPr>
        <p:txBody>
          <a:bodyPr wrap="square">
            <a:spAutoFit/>
          </a:bodyPr>
          <a:lstStyle/>
          <a:p>
            <a:pPr algn="ctr"/>
            <a:r>
              <a:rPr sz="1600" b="0" i="1">
                <a:solidFill>
                  <a:srgbClr val="F5A623"/>
                </a:solidFill>
              </a:rPr>
              <a:t>Enterprise Restaurant Management · Built for Scale · Powered by AI</a:t>
            </a:r>
          </a:p>
        </p:txBody>
      </p:sp>
      <p:sp>
        <p:nvSpPr>
          <p:cNvPr id="6" name="Rectangle 5"/>
          <p:cNvSpPr/>
          <p:nvPr/>
        </p:nvSpPr>
        <p:spPr>
          <a:xfrm>
            <a:off x="3200400" y="3017520"/>
            <a:ext cx="5760720"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3337560"/>
            <a:ext cx="2560320" cy="41148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374136"/>
            <a:ext cx="2560320" cy="347472"/>
          </a:xfrm>
          <a:prstGeom prst="rect">
            <a:avLst/>
          </a:prstGeom>
          <a:noFill/>
        </p:spPr>
        <p:txBody>
          <a:bodyPr wrap="square">
            <a:spAutoFit/>
          </a:bodyPr>
          <a:lstStyle/>
          <a:p>
            <a:pPr algn="ctr"/>
            <a:r>
              <a:rPr sz="1200" b="1" i="0">
                <a:solidFill>
                  <a:srgbClr val="2C1A0E"/>
                </a:solidFill>
              </a:rPr>
              <a:t>8+ Microservices</a:t>
            </a:r>
          </a:p>
        </p:txBody>
      </p:sp>
      <p:sp>
        <p:nvSpPr>
          <p:cNvPr id="9" name="Rectangle 8"/>
          <p:cNvSpPr/>
          <p:nvPr/>
        </p:nvSpPr>
        <p:spPr>
          <a:xfrm>
            <a:off x="3474720" y="3337560"/>
            <a:ext cx="2560320" cy="41148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74720" y="3374136"/>
            <a:ext cx="2560320" cy="347472"/>
          </a:xfrm>
          <a:prstGeom prst="rect">
            <a:avLst/>
          </a:prstGeom>
          <a:noFill/>
        </p:spPr>
        <p:txBody>
          <a:bodyPr wrap="square">
            <a:spAutoFit/>
          </a:bodyPr>
          <a:lstStyle/>
          <a:p>
            <a:pPr algn="ctr"/>
            <a:r>
              <a:rPr sz="1200" b="1" i="0">
                <a:solidFill>
                  <a:srgbClr val="2C1A0E"/>
                </a:solidFill>
              </a:rPr>
              <a:t>5 Kafka Topics</a:t>
            </a:r>
          </a:p>
        </p:txBody>
      </p:sp>
      <p:sp>
        <p:nvSpPr>
          <p:cNvPr id="11" name="Rectangle 10"/>
          <p:cNvSpPr/>
          <p:nvPr/>
        </p:nvSpPr>
        <p:spPr>
          <a:xfrm>
            <a:off x="6217920" y="3337560"/>
            <a:ext cx="2560320" cy="41148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3374136"/>
            <a:ext cx="2560320" cy="347472"/>
          </a:xfrm>
          <a:prstGeom prst="rect">
            <a:avLst/>
          </a:prstGeom>
          <a:noFill/>
        </p:spPr>
        <p:txBody>
          <a:bodyPr wrap="square">
            <a:spAutoFit/>
          </a:bodyPr>
          <a:lstStyle/>
          <a:p>
            <a:pPr algn="ctr"/>
            <a:r>
              <a:rPr sz="1200" b="1" i="0">
                <a:solidFill>
                  <a:srgbClr val="2C1A0E"/>
                </a:solidFill>
              </a:rPr>
              <a:t>JWT + OAuth2</a:t>
            </a:r>
          </a:p>
        </p:txBody>
      </p:sp>
      <p:sp>
        <p:nvSpPr>
          <p:cNvPr id="13" name="Rectangle 12"/>
          <p:cNvSpPr/>
          <p:nvPr/>
        </p:nvSpPr>
        <p:spPr>
          <a:xfrm>
            <a:off x="8961120" y="3337560"/>
            <a:ext cx="2560320" cy="41148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0" y="3374136"/>
            <a:ext cx="2560320" cy="347472"/>
          </a:xfrm>
          <a:prstGeom prst="rect">
            <a:avLst/>
          </a:prstGeom>
          <a:noFill/>
        </p:spPr>
        <p:txBody>
          <a:bodyPr wrap="square">
            <a:spAutoFit/>
          </a:bodyPr>
          <a:lstStyle/>
          <a:p>
            <a:pPr algn="ctr"/>
            <a:r>
              <a:rPr sz="1200" b="1" i="0">
                <a:solidFill>
                  <a:srgbClr val="2C1A0E"/>
                </a:solidFill>
              </a:rPr>
              <a:t>Gemini AI</a:t>
            </a:r>
          </a:p>
        </p:txBody>
      </p:sp>
      <p:sp>
        <p:nvSpPr>
          <p:cNvPr id="15" name="Rectangle 14"/>
          <p:cNvSpPr/>
          <p:nvPr/>
        </p:nvSpPr>
        <p:spPr>
          <a:xfrm>
            <a:off x="731520" y="3886200"/>
            <a:ext cx="2560320" cy="41148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922776"/>
            <a:ext cx="2560320" cy="347472"/>
          </a:xfrm>
          <a:prstGeom prst="rect">
            <a:avLst/>
          </a:prstGeom>
          <a:noFill/>
        </p:spPr>
        <p:txBody>
          <a:bodyPr wrap="square">
            <a:spAutoFit/>
          </a:bodyPr>
          <a:lstStyle/>
          <a:p>
            <a:pPr algn="ctr"/>
            <a:r>
              <a:rPr sz="1200" b="1" i="0">
                <a:solidFill>
                  <a:srgbClr val="2C1A0E"/>
                </a:solidFill>
              </a:rPr>
              <a:t>Docker Ready</a:t>
            </a:r>
          </a:p>
        </p:txBody>
      </p:sp>
      <p:sp>
        <p:nvSpPr>
          <p:cNvPr id="17" name="Rectangle 16"/>
          <p:cNvSpPr/>
          <p:nvPr/>
        </p:nvSpPr>
        <p:spPr>
          <a:xfrm>
            <a:off x="3474720" y="3886200"/>
            <a:ext cx="2560320" cy="41148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4720" y="3922776"/>
            <a:ext cx="2560320" cy="347472"/>
          </a:xfrm>
          <a:prstGeom prst="rect">
            <a:avLst/>
          </a:prstGeom>
          <a:noFill/>
        </p:spPr>
        <p:txBody>
          <a:bodyPr wrap="square">
            <a:spAutoFit/>
          </a:bodyPr>
          <a:lstStyle/>
          <a:p>
            <a:pPr algn="ctr"/>
            <a:r>
              <a:rPr sz="1200" b="1" i="0">
                <a:solidFill>
                  <a:srgbClr val="2C1A0E"/>
                </a:solidFill>
              </a:rPr>
              <a:t>Real-time WS</a:t>
            </a:r>
          </a:p>
        </p:txBody>
      </p:sp>
      <p:sp>
        <p:nvSpPr>
          <p:cNvPr id="19" name="Rectangle 18"/>
          <p:cNvSpPr/>
          <p:nvPr/>
        </p:nvSpPr>
        <p:spPr>
          <a:xfrm>
            <a:off x="6217920" y="3886200"/>
            <a:ext cx="2560320" cy="41148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3922776"/>
            <a:ext cx="2560320" cy="347472"/>
          </a:xfrm>
          <a:prstGeom prst="rect">
            <a:avLst/>
          </a:prstGeom>
          <a:noFill/>
        </p:spPr>
        <p:txBody>
          <a:bodyPr wrap="square">
            <a:spAutoFit/>
          </a:bodyPr>
          <a:lstStyle/>
          <a:p>
            <a:pPr algn="ctr"/>
            <a:r>
              <a:rPr sz="1200" b="1" i="0">
                <a:solidFill>
                  <a:srgbClr val="2C1A0E"/>
                </a:solidFill>
              </a:rPr>
              <a:t>Analytics</a:t>
            </a:r>
          </a:p>
        </p:txBody>
      </p:sp>
      <p:sp>
        <p:nvSpPr>
          <p:cNvPr id="21" name="Rectangle 20"/>
          <p:cNvSpPr/>
          <p:nvPr/>
        </p:nvSpPr>
        <p:spPr>
          <a:xfrm>
            <a:off x="8961120" y="3886200"/>
            <a:ext cx="2560320" cy="41148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0" y="3922776"/>
            <a:ext cx="2560320" cy="347472"/>
          </a:xfrm>
          <a:prstGeom prst="rect">
            <a:avLst/>
          </a:prstGeom>
          <a:noFill/>
        </p:spPr>
        <p:txBody>
          <a:bodyPr wrap="square">
            <a:spAutoFit/>
          </a:bodyPr>
          <a:lstStyle/>
          <a:p>
            <a:pPr algn="ctr"/>
            <a:r>
              <a:rPr sz="1200" b="1" i="0">
                <a:solidFill>
                  <a:srgbClr val="2C1A0E"/>
                </a:solidFill>
              </a:rPr>
              <a:t>Outbox Pattern</a:t>
            </a:r>
          </a:p>
        </p:txBody>
      </p:sp>
      <p:sp>
        <p:nvSpPr>
          <p:cNvPr id="23" name="TextBox 22"/>
          <p:cNvSpPr txBox="1"/>
          <p:nvPr/>
        </p:nvSpPr>
        <p:spPr>
          <a:xfrm>
            <a:off x="548640" y="4709160"/>
            <a:ext cx="10972800" cy="640080"/>
          </a:xfrm>
          <a:prstGeom prst="rect">
            <a:avLst/>
          </a:prstGeom>
          <a:noFill/>
        </p:spPr>
        <p:txBody>
          <a:bodyPr wrap="square">
            <a:spAutoFit/>
          </a:bodyPr>
          <a:lstStyle/>
          <a:p>
            <a:pPr algn="ctr"/>
            <a:r>
              <a:rPr sz="3600" b="1" i="0">
                <a:solidFill>
                  <a:srgbClr val="FFFBF5"/>
                </a:solidFill>
              </a:rPr>
              <a:t>Thank you</a:t>
            </a:r>
          </a:p>
        </p:txBody>
      </p:sp>
      <p:sp>
        <p:nvSpPr>
          <p:cNvPr id="24" name="TextBox 23"/>
          <p:cNvSpPr txBox="1"/>
          <p:nvPr/>
        </p:nvSpPr>
        <p:spPr>
          <a:xfrm>
            <a:off x="548640" y="5321808"/>
            <a:ext cx="10972800" cy="411480"/>
          </a:xfrm>
          <a:prstGeom prst="rect">
            <a:avLst/>
          </a:prstGeom>
          <a:noFill/>
        </p:spPr>
        <p:txBody>
          <a:bodyPr wrap="square">
            <a:spAutoFit/>
          </a:bodyPr>
          <a:lstStyle/>
          <a:p>
            <a:pPr algn="ctr"/>
            <a:r>
              <a:rPr sz="1800" b="0" i="0">
                <a:solidFill>
                  <a:srgbClr val="F5A623"/>
                </a:solidFill>
              </a:rPr>
              <a:t>Questions welcome.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DF6EC"/>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144000" cy="640080"/>
          </a:xfrm>
          <a:prstGeom prst="rect">
            <a:avLst/>
          </a:prstGeom>
          <a:noFill/>
        </p:spPr>
        <p:txBody>
          <a:bodyPr wrap="square">
            <a:spAutoFit/>
          </a:bodyPr>
          <a:lstStyle/>
          <a:p>
            <a:pPr algn="l"/>
            <a:r>
              <a:rPr sz="2800" b="1" i="0">
                <a:solidFill>
                  <a:srgbClr val="FFFBF5"/>
                </a:solidFill>
              </a:rPr>
              <a:t>Rubric Alignment Checklist</a:t>
            </a:r>
          </a:p>
        </p:txBody>
      </p:sp>
      <p:sp>
        <p:nvSpPr>
          <p:cNvPr id="4" name="TextBox 3"/>
          <p:cNvSpPr txBox="1"/>
          <p:nvPr/>
        </p:nvSpPr>
        <p:spPr>
          <a:xfrm>
            <a:off x="457200" y="749808"/>
            <a:ext cx="10058400" cy="411480"/>
          </a:xfrm>
          <a:prstGeom prst="rect">
            <a:avLst/>
          </a:prstGeom>
          <a:noFill/>
        </p:spPr>
        <p:txBody>
          <a:bodyPr wrap="square">
            <a:spAutoFit/>
          </a:bodyPr>
          <a:lstStyle/>
          <a:p>
            <a:pPr algn="l"/>
            <a:r>
              <a:rPr sz="1400" b="0" i="1">
                <a:solidFill>
                  <a:srgbClr val="F5A623"/>
                </a:solidFill>
              </a:rPr>
              <a:t>Every criterion — where it's demonstrated</a:t>
            </a:r>
          </a:p>
        </p:txBody>
      </p:sp>
      <p:sp>
        <p:nvSpPr>
          <p:cNvPr id="5" name="Rectangle 4"/>
          <p:cNvSpPr/>
          <p:nvPr/>
        </p:nvSpPr>
        <p:spPr>
          <a:xfrm>
            <a:off x="0" y="12344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508760"/>
            <a:ext cx="11612880" cy="457200"/>
          </a:xfrm>
          <a:prstGeom prst="rect">
            <a:avLst/>
          </a:prstGeom>
          <a:solidFill>
            <a:srgbClr val="FFFBF5"/>
          </a:solidFill>
          <a:ln w="6350">
            <a:solidFill>
              <a:srgbClr val="B0A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600200"/>
            <a:ext cx="274320" cy="274320"/>
          </a:xfrm>
          <a:prstGeom prst="rect">
            <a:avLst/>
          </a:prstGeom>
          <a:solidFill>
            <a:srgbClr val="6B8F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545336"/>
            <a:ext cx="274320" cy="347472"/>
          </a:xfrm>
          <a:prstGeom prst="rect">
            <a:avLst/>
          </a:prstGeom>
          <a:noFill/>
        </p:spPr>
        <p:txBody>
          <a:bodyPr wrap="square">
            <a:spAutoFit/>
          </a:bodyPr>
          <a:lstStyle/>
          <a:p>
            <a:pPr algn="ctr"/>
            <a:r>
              <a:rPr sz="1200" b="1" i="0">
                <a:solidFill>
                  <a:srgbClr val="FFFBF5"/>
                </a:solidFill>
              </a:rPr>
              <a:t>✓</a:t>
            </a:r>
          </a:p>
        </p:txBody>
      </p:sp>
      <p:sp>
        <p:nvSpPr>
          <p:cNvPr id="9" name="TextBox 8"/>
          <p:cNvSpPr txBox="1"/>
          <p:nvPr/>
        </p:nvSpPr>
        <p:spPr>
          <a:xfrm>
            <a:off x="685800" y="1581912"/>
            <a:ext cx="4114800" cy="329184"/>
          </a:xfrm>
          <a:prstGeom prst="rect">
            <a:avLst/>
          </a:prstGeom>
          <a:noFill/>
        </p:spPr>
        <p:txBody>
          <a:bodyPr wrap="square">
            <a:spAutoFit/>
          </a:bodyPr>
          <a:lstStyle/>
          <a:p>
            <a:pPr algn="l"/>
            <a:r>
              <a:rPr sz="1200" b="1" i="0">
                <a:solidFill>
                  <a:srgbClr val="2C1A0E"/>
                </a:solidFill>
              </a:rPr>
              <a:t>Functional Completeness</a:t>
            </a:r>
          </a:p>
        </p:txBody>
      </p:sp>
      <p:sp>
        <p:nvSpPr>
          <p:cNvPr id="10" name="TextBox 9"/>
          <p:cNvSpPr txBox="1"/>
          <p:nvPr/>
        </p:nvSpPr>
        <p:spPr>
          <a:xfrm>
            <a:off x="4892040" y="1581912"/>
            <a:ext cx="6858000" cy="329184"/>
          </a:xfrm>
          <a:prstGeom prst="rect">
            <a:avLst/>
          </a:prstGeom>
          <a:noFill/>
        </p:spPr>
        <p:txBody>
          <a:bodyPr wrap="square">
            <a:spAutoFit/>
          </a:bodyPr>
          <a:lstStyle/>
          <a:p>
            <a:pPr algn="l"/>
            <a:r>
              <a:rPr sz="1150" b="0" i="0">
                <a:solidFill>
                  <a:srgbClr val="3D3D3D"/>
                </a:solidFill>
              </a:rPr>
              <a:t>Slides 3,5,6,7,8,9 + Demo slide 13</a:t>
            </a:r>
          </a:p>
        </p:txBody>
      </p:sp>
      <p:sp>
        <p:nvSpPr>
          <p:cNvPr id="11" name="Rectangle 10"/>
          <p:cNvSpPr/>
          <p:nvPr/>
        </p:nvSpPr>
        <p:spPr>
          <a:xfrm>
            <a:off x="274320" y="2011680"/>
            <a:ext cx="11612880" cy="457200"/>
          </a:xfrm>
          <a:prstGeom prst="rect">
            <a:avLst/>
          </a:prstGeom>
          <a:solidFill>
            <a:srgbClr val="FDF1E2"/>
          </a:solidFill>
          <a:ln w="6350">
            <a:solidFill>
              <a:srgbClr val="B0A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2103120"/>
            <a:ext cx="274320" cy="274320"/>
          </a:xfrm>
          <a:prstGeom prst="rect">
            <a:avLst/>
          </a:prstGeom>
          <a:solidFill>
            <a:srgbClr val="6B8F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2048256"/>
            <a:ext cx="274320" cy="347472"/>
          </a:xfrm>
          <a:prstGeom prst="rect">
            <a:avLst/>
          </a:prstGeom>
          <a:noFill/>
        </p:spPr>
        <p:txBody>
          <a:bodyPr wrap="square">
            <a:spAutoFit/>
          </a:bodyPr>
          <a:lstStyle/>
          <a:p>
            <a:pPr algn="ctr"/>
            <a:r>
              <a:rPr sz="1200" b="1" i="0">
                <a:solidFill>
                  <a:srgbClr val="FFFBF5"/>
                </a:solidFill>
              </a:rPr>
              <a:t>✓</a:t>
            </a:r>
          </a:p>
        </p:txBody>
      </p:sp>
      <p:sp>
        <p:nvSpPr>
          <p:cNvPr id="14" name="TextBox 13"/>
          <p:cNvSpPr txBox="1"/>
          <p:nvPr/>
        </p:nvSpPr>
        <p:spPr>
          <a:xfrm>
            <a:off x="685800" y="2084832"/>
            <a:ext cx="4114800" cy="329184"/>
          </a:xfrm>
          <a:prstGeom prst="rect">
            <a:avLst/>
          </a:prstGeom>
          <a:noFill/>
        </p:spPr>
        <p:txBody>
          <a:bodyPr wrap="square">
            <a:spAutoFit/>
          </a:bodyPr>
          <a:lstStyle/>
          <a:p>
            <a:pPr algn="l"/>
            <a:r>
              <a:rPr sz="1200" b="1" i="0">
                <a:solidFill>
                  <a:srgbClr val="2C1A0E"/>
                </a:solidFill>
              </a:rPr>
              <a:t>System Design &amp; Documentation</a:t>
            </a:r>
          </a:p>
        </p:txBody>
      </p:sp>
      <p:sp>
        <p:nvSpPr>
          <p:cNvPr id="15" name="TextBox 14"/>
          <p:cNvSpPr txBox="1"/>
          <p:nvPr/>
        </p:nvSpPr>
        <p:spPr>
          <a:xfrm>
            <a:off x="4892040" y="2084832"/>
            <a:ext cx="6858000" cy="329184"/>
          </a:xfrm>
          <a:prstGeom prst="rect">
            <a:avLst/>
          </a:prstGeom>
          <a:noFill/>
        </p:spPr>
        <p:txBody>
          <a:bodyPr wrap="square">
            <a:spAutoFit/>
          </a:bodyPr>
          <a:lstStyle/>
          <a:p>
            <a:pPr algn="l"/>
            <a:r>
              <a:rPr sz="1150" b="0" i="0">
                <a:solidFill>
                  <a:srgbClr val="3D3D3D"/>
                </a:solidFill>
              </a:rPr>
              <a:t>Slide 4 (architecture) + docs/diagrams .drawio files</a:t>
            </a:r>
          </a:p>
        </p:txBody>
      </p:sp>
      <p:sp>
        <p:nvSpPr>
          <p:cNvPr id="16" name="Rectangle 15"/>
          <p:cNvSpPr/>
          <p:nvPr/>
        </p:nvSpPr>
        <p:spPr>
          <a:xfrm>
            <a:off x="274320" y="2514600"/>
            <a:ext cx="11612880" cy="457200"/>
          </a:xfrm>
          <a:prstGeom prst="rect">
            <a:avLst/>
          </a:prstGeom>
          <a:solidFill>
            <a:srgbClr val="FFFBF5"/>
          </a:solidFill>
          <a:ln w="6350">
            <a:solidFill>
              <a:srgbClr val="B0A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0040" y="2606040"/>
            <a:ext cx="274320" cy="274320"/>
          </a:xfrm>
          <a:prstGeom prst="rect">
            <a:avLst/>
          </a:prstGeom>
          <a:solidFill>
            <a:srgbClr val="6B8F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0040" y="2551176"/>
            <a:ext cx="274320" cy="347472"/>
          </a:xfrm>
          <a:prstGeom prst="rect">
            <a:avLst/>
          </a:prstGeom>
          <a:noFill/>
        </p:spPr>
        <p:txBody>
          <a:bodyPr wrap="square">
            <a:spAutoFit/>
          </a:bodyPr>
          <a:lstStyle/>
          <a:p>
            <a:pPr algn="ctr"/>
            <a:r>
              <a:rPr sz="1200" b="1" i="0">
                <a:solidFill>
                  <a:srgbClr val="FFFBF5"/>
                </a:solidFill>
              </a:rPr>
              <a:t>✓</a:t>
            </a:r>
          </a:p>
        </p:txBody>
      </p:sp>
      <p:sp>
        <p:nvSpPr>
          <p:cNvPr id="19" name="TextBox 18"/>
          <p:cNvSpPr txBox="1"/>
          <p:nvPr/>
        </p:nvSpPr>
        <p:spPr>
          <a:xfrm>
            <a:off x="685800" y="2587752"/>
            <a:ext cx="4114800" cy="329184"/>
          </a:xfrm>
          <a:prstGeom prst="rect">
            <a:avLst/>
          </a:prstGeom>
          <a:noFill/>
        </p:spPr>
        <p:txBody>
          <a:bodyPr wrap="square">
            <a:spAutoFit/>
          </a:bodyPr>
          <a:lstStyle/>
          <a:p>
            <a:pPr algn="l"/>
            <a:r>
              <a:rPr sz="1200" b="1" i="0">
                <a:solidFill>
                  <a:srgbClr val="2C1A0E"/>
                </a:solidFill>
              </a:rPr>
              <a:t>CI/CD + Deployment</a:t>
            </a:r>
          </a:p>
        </p:txBody>
      </p:sp>
      <p:sp>
        <p:nvSpPr>
          <p:cNvPr id="20" name="TextBox 19"/>
          <p:cNvSpPr txBox="1"/>
          <p:nvPr/>
        </p:nvSpPr>
        <p:spPr>
          <a:xfrm>
            <a:off x="4892040" y="2587752"/>
            <a:ext cx="6858000" cy="329184"/>
          </a:xfrm>
          <a:prstGeom prst="rect">
            <a:avLst/>
          </a:prstGeom>
          <a:noFill/>
        </p:spPr>
        <p:txBody>
          <a:bodyPr wrap="square">
            <a:spAutoFit/>
          </a:bodyPr>
          <a:lstStyle/>
          <a:p>
            <a:pPr algn="l"/>
            <a:r>
              <a:rPr sz="1150" b="0" i="0">
                <a:solidFill>
                  <a:srgbClr val="3D3D3D"/>
                </a:solidFill>
              </a:rPr>
              <a:t>Slide 10: Docker Compose, Config Server, Actuator</a:t>
            </a:r>
          </a:p>
        </p:txBody>
      </p:sp>
      <p:sp>
        <p:nvSpPr>
          <p:cNvPr id="21" name="Rectangle 20"/>
          <p:cNvSpPr/>
          <p:nvPr/>
        </p:nvSpPr>
        <p:spPr>
          <a:xfrm>
            <a:off x="274320" y="3017520"/>
            <a:ext cx="11612880" cy="457200"/>
          </a:xfrm>
          <a:prstGeom prst="rect">
            <a:avLst/>
          </a:prstGeom>
          <a:solidFill>
            <a:srgbClr val="FDF1E2"/>
          </a:solidFill>
          <a:ln w="6350">
            <a:solidFill>
              <a:srgbClr val="B0A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0040" y="3108960"/>
            <a:ext cx="274320" cy="274320"/>
          </a:xfrm>
          <a:prstGeom prst="rect">
            <a:avLst/>
          </a:prstGeom>
          <a:solidFill>
            <a:srgbClr val="6B8F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0040" y="3054096"/>
            <a:ext cx="274320" cy="347472"/>
          </a:xfrm>
          <a:prstGeom prst="rect">
            <a:avLst/>
          </a:prstGeom>
          <a:noFill/>
        </p:spPr>
        <p:txBody>
          <a:bodyPr wrap="square">
            <a:spAutoFit/>
          </a:bodyPr>
          <a:lstStyle/>
          <a:p>
            <a:pPr algn="ctr"/>
            <a:r>
              <a:rPr sz="1200" b="1" i="0">
                <a:solidFill>
                  <a:srgbClr val="FFFBF5"/>
                </a:solidFill>
              </a:rPr>
              <a:t>✓</a:t>
            </a:r>
          </a:p>
        </p:txBody>
      </p:sp>
      <p:sp>
        <p:nvSpPr>
          <p:cNvPr id="24" name="TextBox 23"/>
          <p:cNvSpPr txBox="1"/>
          <p:nvPr/>
        </p:nvSpPr>
        <p:spPr>
          <a:xfrm>
            <a:off x="685800" y="3090672"/>
            <a:ext cx="4114800" cy="329184"/>
          </a:xfrm>
          <a:prstGeom prst="rect">
            <a:avLst/>
          </a:prstGeom>
          <a:noFill/>
        </p:spPr>
        <p:txBody>
          <a:bodyPr wrap="square">
            <a:spAutoFit/>
          </a:bodyPr>
          <a:lstStyle/>
          <a:p>
            <a:pPr algn="l"/>
            <a:r>
              <a:rPr sz="1200" b="1" i="0">
                <a:solidFill>
                  <a:srgbClr val="2C1A0E"/>
                </a:solidFill>
              </a:rPr>
              <a:t>Code Quality</a:t>
            </a:r>
          </a:p>
        </p:txBody>
      </p:sp>
      <p:sp>
        <p:nvSpPr>
          <p:cNvPr id="25" name="TextBox 24"/>
          <p:cNvSpPr txBox="1"/>
          <p:nvPr/>
        </p:nvSpPr>
        <p:spPr>
          <a:xfrm>
            <a:off x="4892040" y="3090672"/>
            <a:ext cx="6858000" cy="329184"/>
          </a:xfrm>
          <a:prstGeom prst="rect">
            <a:avLst/>
          </a:prstGeom>
          <a:noFill/>
        </p:spPr>
        <p:txBody>
          <a:bodyPr wrap="square">
            <a:spAutoFit/>
          </a:bodyPr>
          <a:lstStyle/>
          <a:p>
            <a:pPr algn="l"/>
            <a:r>
              <a:rPr sz="1150" b="0" i="0">
                <a:solidFill>
                  <a:srgbClr val="3D3D3D"/>
                </a:solidFill>
              </a:rPr>
              <a:t>Slide 11: SOLID, records, interface-based AI client, unit tests</a:t>
            </a:r>
          </a:p>
        </p:txBody>
      </p:sp>
      <p:sp>
        <p:nvSpPr>
          <p:cNvPr id="26" name="Rectangle 25"/>
          <p:cNvSpPr/>
          <p:nvPr/>
        </p:nvSpPr>
        <p:spPr>
          <a:xfrm>
            <a:off x="274320" y="3520440"/>
            <a:ext cx="11612880" cy="457200"/>
          </a:xfrm>
          <a:prstGeom prst="rect">
            <a:avLst/>
          </a:prstGeom>
          <a:solidFill>
            <a:srgbClr val="FFFBF5"/>
          </a:solidFill>
          <a:ln w="6350">
            <a:solidFill>
              <a:srgbClr val="B0A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20040" y="3611880"/>
            <a:ext cx="274320" cy="274320"/>
          </a:xfrm>
          <a:prstGeom prst="rect">
            <a:avLst/>
          </a:prstGeom>
          <a:solidFill>
            <a:srgbClr val="6B8F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0040" y="3557016"/>
            <a:ext cx="274320" cy="347472"/>
          </a:xfrm>
          <a:prstGeom prst="rect">
            <a:avLst/>
          </a:prstGeom>
          <a:noFill/>
        </p:spPr>
        <p:txBody>
          <a:bodyPr wrap="square">
            <a:spAutoFit/>
          </a:bodyPr>
          <a:lstStyle/>
          <a:p>
            <a:pPr algn="ctr"/>
            <a:r>
              <a:rPr sz="1200" b="1" i="0">
                <a:solidFill>
                  <a:srgbClr val="FFFBF5"/>
                </a:solidFill>
              </a:rPr>
              <a:t>✓</a:t>
            </a:r>
          </a:p>
        </p:txBody>
      </p:sp>
      <p:sp>
        <p:nvSpPr>
          <p:cNvPr id="29" name="TextBox 28"/>
          <p:cNvSpPr txBox="1"/>
          <p:nvPr/>
        </p:nvSpPr>
        <p:spPr>
          <a:xfrm>
            <a:off x="685800" y="3593592"/>
            <a:ext cx="4114800" cy="329184"/>
          </a:xfrm>
          <a:prstGeom prst="rect">
            <a:avLst/>
          </a:prstGeom>
          <a:noFill/>
        </p:spPr>
        <p:txBody>
          <a:bodyPr wrap="square">
            <a:spAutoFit/>
          </a:bodyPr>
          <a:lstStyle/>
          <a:p>
            <a:pPr algn="l"/>
            <a:r>
              <a:rPr sz="1200" b="1" i="0">
                <a:solidFill>
                  <a:srgbClr val="2C1A0E"/>
                </a:solidFill>
              </a:rPr>
              <a:t>Communication</a:t>
            </a:r>
          </a:p>
        </p:txBody>
      </p:sp>
      <p:sp>
        <p:nvSpPr>
          <p:cNvPr id="30" name="TextBox 29"/>
          <p:cNvSpPr txBox="1"/>
          <p:nvPr/>
        </p:nvSpPr>
        <p:spPr>
          <a:xfrm>
            <a:off x="4892040" y="3593592"/>
            <a:ext cx="6858000" cy="329184"/>
          </a:xfrm>
          <a:prstGeom prst="rect">
            <a:avLst/>
          </a:prstGeom>
          <a:noFill/>
        </p:spPr>
        <p:txBody>
          <a:bodyPr wrap="square">
            <a:spAutoFit/>
          </a:bodyPr>
          <a:lstStyle/>
          <a:p>
            <a:pPr algn="l"/>
            <a:r>
              <a:rPr sz="1150" b="0" i="0">
                <a:solidFill>
                  <a:srgbClr val="3D3D3D"/>
                </a:solidFill>
              </a:rPr>
              <a:t>Speaker notes on every slide; structured Q&amp;A slide 14</a:t>
            </a:r>
          </a:p>
        </p:txBody>
      </p:sp>
      <p:sp>
        <p:nvSpPr>
          <p:cNvPr id="31" name="Rectangle 30"/>
          <p:cNvSpPr/>
          <p:nvPr/>
        </p:nvSpPr>
        <p:spPr>
          <a:xfrm>
            <a:off x="274320" y="4023360"/>
            <a:ext cx="11612880" cy="457200"/>
          </a:xfrm>
          <a:prstGeom prst="rect">
            <a:avLst/>
          </a:prstGeom>
          <a:solidFill>
            <a:srgbClr val="FDF1E2"/>
          </a:solidFill>
          <a:ln w="6350">
            <a:solidFill>
              <a:srgbClr val="B0A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20040" y="4114800"/>
            <a:ext cx="274320" cy="274320"/>
          </a:xfrm>
          <a:prstGeom prst="rect">
            <a:avLst/>
          </a:prstGeom>
          <a:solidFill>
            <a:srgbClr val="6B8F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0040" y="4059936"/>
            <a:ext cx="274320" cy="347472"/>
          </a:xfrm>
          <a:prstGeom prst="rect">
            <a:avLst/>
          </a:prstGeom>
          <a:noFill/>
        </p:spPr>
        <p:txBody>
          <a:bodyPr wrap="square">
            <a:spAutoFit/>
          </a:bodyPr>
          <a:lstStyle/>
          <a:p>
            <a:pPr algn="ctr"/>
            <a:r>
              <a:rPr sz="1200" b="1" i="0">
                <a:solidFill>
                  <a:srgbClr val="FFFBF5"/>
                </a:solidFill>
              </a:rPr>
              <a:t>✓</a:t>
            </a:r>
          </a:p>
        </p:txBody>
      </p:sp>
      <p:sp>
        <p:nvSpPr>
          <p:cNvPr id="34" name="TextBox 33"/>
          <p:cNvSpPr txBox="1"/>
          <p:nvPr/>
        </p:nvSpPr>
        <p:spPr>
          <a:xfrm>
            <a:off x="685800" y="4096512"/>
            <a:ext cx="4114800" cy="329184"/>
          </a:xfrm>
          <a:prstGeom prst="rect">
            <a:avLst/>
          </a:prstGeom>
          <a:noFill/>
        </p:spPr>
        <p:txBody>
          <a:bodyPr wrap="square">
            <a:spAutoFit/>
          </a:bodyPr>
          <a:lstStyle/>
          <a:p>
            <a:pPr algn="l"/>
            <a:r>
              <a:rPr sz="1200" b="1" i="0">
                <a:solidFill>
                  <a:srgbClr val="2C1A0E"/>
                </a:solidFill>
              </a:rPr>
              <a:t>Structure &amp; Flow</a:t>
            </a:r>
          </a:p>
        </p:txBody>
      </p:sp>
      <p:sp>
        <p:nvSpPr>
          <p:cNvPr id="35" name="TextBox 34"/>
          <p:cNvSpPr txBox="1"/>
          <p:nvPr/>
        </p:nvSpPr>
        <p:spPr>
          <a:xfrm>
            <a:off x="4892040" y="4096512"/>
            <a:ext cx="6858000" cy="329184"/>
          </a:xfrm>
          <a:prstGeom prst="rect">
            <a:avLst/>
          </a:prstGeom>
          <a:noFill/>
        </p:spPr>
        <p:txBody>
          <a:bodyPr wrap="square">
            <a:spAutoFit/>
          </a:bodyPr>
          <a:lstStyle/>
          <a:p>
            <a:pPr algn="l"/>
            <a:r>
              <a:rPr sz="1150" b="0" i="0">
                <a:solidFill>
                  <a:srgbClr val="3D3D3D"/>
                </a:solidFill>
              </a:rPr>
              <a:t>15 slides: Problem → Solution → Deep Dives → Demo → Q&amp;A</a:t>
            </a:r>
          </a:p>
        </p:txBody>
      </p:sp>
      <p:sp>
        <p:nvSpPr>
          <p:cNvPr id="36" name="Rectangle 35"/>
          <p:cNvSpPr/>
          <p:nvPr/>
        </p:nvSpPr>
        <p:spPr>
          <a:xfrm>
            <a:off x="274320" y="4526280"/>
            <a:ext cx="11612880" cy="457200"/>
          </a:xfrm>
          <a:prstGeom prst="rect">
            <a:avLst/>
          </a:prstGeom>
          <a:solidFill>
            <a:srgbClr val="FFFBF5"/>
          </a:solidFill>
          <a:ln w="6350">
            <a:solidFill>
              <a:srgbClr val="B0A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20040" y="4617720"/>
            <a:ext cx="274320" cy="274320"/>
          </a:xfrm>
          <a:prstGeom prst="rect">
            <a:avLst/>
          </a:prstGeom>
          <a:solidFill>
            <a:srgbClr val="6B8F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20040" y="4562856"/>
            <a:ext cx="274320" cy="347472"/>
          </a:xfrm>
          <a:prstGeom prst="rect">
            <a:avLst/>
          </a:prstGeom>
          <a:noFill/>
        </p:spPr>
        <p:txBody>
          <a:bodyPr wrap="square">
            <a:spAutoFit/>
          </a:bodyPr>
          <a:lstStyle/>
          <a:p>
            <a:pPr algn="ctr"/>
            <a:r>
              <a:rPr sz="1200" b="1" i="0">
                <a:solidFill>
                  <a:srgbClr val="FFFBF5"/>
                </a:solidFill>
              </a:rPr>
              <a:t>✓</a:t>
            </a:r>
          </a:p>
        </p:txBody>
      </p:sp>
      <p:sp>
        <p:nvSpPr>
          <p:cNvPr id="39" name="TextBox 38"/>
          <p:cNvSpPr txBox="1"/>
          <p:nvPr/>
        </p:nvSpPr>
        <p:spPr>
          <a:xfrm>
            <a:off x="685800" y="4599432"/>
            <a:ext cx="4114800" cy="329184"/>
          </a:xfrm>
          <a:prstGeom prst="rect">
            <a:avLst/>
          </a:prstGeom>
          <a:noFill/>
        </p:spPr>
        <p:txBody>
          <a:bodyPr wrap="square">
            <a:spAutoFit/>
          </a:bodyPr>
          <a:lstStyle/>
          <a:p>
            <a:pPr algn="l"/>
            <a:r>
              <a:rPr sz="1200" b="1" i="0">
                <a:solidFill>
                  <a:srgbClr val="2C1A0E"/>
                </a:solidFill>
              </a:rPr>
              <a:t>Visuals &amp; UX</a:t>
            </a:r>
          </a:p>
        </p:txBody>
      </p:sp>
      <p:sp>
        <p:nvSpPr>
          <p:cNvPr id="40" name="TextBox 39"/>
          <p:cNvSpPr txBox="1"/>
          <p:nvPr/>
        </p:nvSpPr>
        <p:spPr>
          <a:xfrm>
            <a:off x="4892040" y="4599432"/>
            <a:ext cx="6858000" cy="329184"/>
          </a:xfrm>
          <a:prstGeom prst="rect">
            <a:avLst/>
          </a:prstGeom>
          <a:noFill/>
        </p:spPr>
        <p:txBody>
          <a:bodyPr wrap="square">
            <a:spAutoFit/>
          </a:bodyPr>
          <a:lstStyle/>
          <a:p>
            <a:pPr algn="l"/>
            <a:r>
              <a:rPr sz="1150" b="0" i="0">
                <a:solidFill>
                  <a:srgbClr val="3D3D3D"/>
                </a:solidFill>
              </a:rPr>
              <a:t>Brand colours, icons, architecture diagram, KPI cards, flow diagrams</a:t>
            </a:r>
          </a:p>
        </p:txBody>
      </p:sp>
      <p:sp>
        <p:nvSpPr>
          <p:cNvPr id="41" name="Rectangle 40"/>
          <p:cNvSpPr/>
          <p:nvPr/>
        </p:nvSpPr>
        <p:spPr>
          <a:xfrm>
            <a:off x="274320" y="5029200"/>
            <a:ext cx="11612880" cy="457200"/>
          </a:xfrm>
          <a:prstGeom prst="rect">
            <a:avLst/>
          </a:prstGeom>
          <a:solidFill>
            <a:srgbClr val="FDF1E2"/>
          </a:solidFill>
          <a:ln w="6350">
            <a:solidFill>
              <a:srgbClr val="B0A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20040" y="5120640"/>
            <a:ext cx="274320" cy="274320"/>
          </a:xfrm>
          <a:prstGeom prst="rect">
            <a:avLst/>
          </a:prstGeom>
          <a:solidFill>
            <a:srgbClr val="6B8F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20040" y="5065776"/>
            <a:ext cx="274320" cy="347472"/>
          </a:xfrm>
          <a:prstGeom prst="rect">
            <a:avLst/>
          </a:prstGeom>
          <a:noFill/>
        </p:spPr>
        <p:txBody>
          <a:bodyPr wrap="square">
            <a:spAutoFit/>
          </a:bodyPr>
          <a:lstStyle/>
          <a:p>
            <a:pPr algn="ctr"/>
            <a:r>
              <a:rPr sz="1200" b="1" i="0">
                <a:solidFill>
                  <a:srgbClr val="FFFBF5"/>
                </a:solidFill>
              </a:rPr>
              <a:t>✓</a:t>
            </a:r>
          </a:p>
        </p:txBody>
      </p:sp>
      <p:sp>
        <p:nvSpPr>
          <p:cNvPr id="44" name="TextBox 43"/>
          <p:cNvSpPr txBox="1"/>
          <p:nvPr/>
        </p:nvSpPr>
        <p:spPr>
          <a:xfrm>
            <a:off x="685800" y="5102352"/>
            <a:ext cx="4114800" cy="329184"/>
          </a:xfrm>
          <a:prstGeom prst="rect">
            <a:avLst/>
          </a:prstGeom>
          <a:noFill/>
        </p:spPr>
        <p:txBody>
          <a:bodyPr wrap="square">
            <a:spAutoFit/>
          </a:bodyPr>
          <a:lstStyle/>
          <a:p>
            <a:pPr algn="l"/>
            <a:r>
              <a:rPr sz="1200" b="1" i="0">
                <a:solidFill>
                  <a:srgbClr val="2C1A0E"/>
                </a:solidFill>
              </a:rPr>
              <a:t>Q&amp;A Handling</a:t>
            </a:r>
          </a:p>
        </p:txBody>
      </p:sp>
      <p:sp>
        <p:nvSpPr>
          <p:cNvPr id="45" name="TextBox 44"/>
          <p:cNvSpPr txBox="1"/>
          <p:nvPr/>
        </p:nvSpPr>
        <p:spPr>
          <a:xfrm>
            <a:off x="4892040" y="5102352"/>
            <a:ext cx="6858000" cy="329184"/>
          </a:xfrm>
          <a:prstGeom prst="rect">
            <a:avLst/>
          </a:prstGeom>
          <a:noFill/>
        </p:spPr>
        <p:txBody>
          <a:bodyPr wrap="square">
            <a:spAutoFit/>
          </a:bodyPr>
          <a:lstStyle/>
          <a:p>
            <a:pPr algn="l"/>
            <a:r>
              <a:rPr sz="1150" b="0" i="0">
                <a:solidFill>
                  <a:srgbClr val="3D3D3D"/>
                </a:solidFill>
              </a:rPr>
              <a:t>Slide 14: 8 prepared Q&amp;A pairs with coaching notes</a:t>
            </a:r>
          </a:p>
        </p:txBody>
      </p:sp>
      <p:sp>
        <p:nvSpPr>
          <p:cNvPr id="46" name="Rectangle 45"/>
          <p:cNvSpPr/>
          <p:nvPr/>
        </p:nvSpPr>
        <p:spPr>
          <a:xfrm>
            <a:off x="274320" y="5532120"/>
            <a:ext cx="11612880" cy="457200"/>
          </a:xfrm>
          <a:prstGeom prst="rect">
            <a:avLst/>
          </a:prstGeom>
          <a:solidFill>
            <a:srgbClr val="FFFBF5"/>
          </a:solidFill>
          <a:ln w="6350">
            <a:solidFill>
              <a:srgbClr val="B0A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20040" y="5623560"/>
            <a:ext cx="274320" cy="274320"/>
          </a:xfrm>
          <a:prstGeom prst="rect">
            <a:avLst/>
          </a:prstGeom>
          <a:solidFill>
            <a:srgbClr val="6B8F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5568696"/>
            <a:ext cx="274320" cy="347472"/>
          </a:xfrm>
          <a:prstGeom prst="rect">
            <a:avLst/>
          </a:prstGeom>
          <a:noFill/>
        </p:spPr>
        <p:txBody>
          <a:bodyPr wrap="square">
            <a:spAutoFit/>
          </a:bodyPr>
          <a:lstStyle/>
          <a:p>
            <a:pPr algn="ctr"/>
            <a:r>
              <a:rPr sz="1200" b="1" i="0">
                <a:solidFill>
                  <a:srgbClr val="FFFBF5"/>
                </a:solidFill>
              </a:rPr>
              <a:t>✓</a:t>
            </a:r>
          </a:p>
        </p:txBody>
      </p:sp>
      <p:sp>
        <p:nvSpPr>
          <p:cNvPr id="49" name="TextBox 48"/>
          <p:cNvSpPr txBox="1"/>
          <p:nvPr/>
        </p:nvSpPr>
        <p:spPr>
          <a:xfrm>
            <a:off x="685800" y="5605272"/>
            <a:ext cx="4114800" cy="329184"/>
          </a:xfrm>
          <a:prstGeom prst="rect">
            <a:avLst/>
          </a:prstGeom>
          <a:noFill/>
        </p:spPr>
        <p:txBody>
          <a:bodyPr wrap="square">
            <a:spAutoFit/>
          </a:bodyPr>
          <a:lstStyle/>
          <a:p>
            <a:pPr algn="l"/>
            <a:r>
              <a:rPr sz="1200" b="1" i="0">
                <a:solidFill>
                  <a:srgbClr val="2C1A0E"/>
                </a:solidFill>
              </a:rPr>
              <a:t>Impact &amp; Innovation</a:t>
            </a:r>
          </a:p>
        </p:txBody>
      </p:sp>
      <p:sp>
        <p:nvSpPr>
          <p:cNvPr id="50" name="TextBox 49"/>
          <p:cNvSpPr txBox="1"/>
          <p:nvPr/>
        </p:nvSpPr>
        <p:spPr>
          <a:xfrm>
            <a:off x="4892040" y="5605272"/>
            <a:ext cx="6858000" cy="329184"/>
          </a:xfrm>
          <a:prstGeom prst="rect">
            <a:avLst/>
          </a:prstGeom>
          <a:noFill/>
        </p:spPr>
        <p:txBody>
          <a:bodyPr wrap="square">
            <a:spAutoFit/>
          </a:bodyPr>
          <a:lstStyle/>
          <a:p>
            <a:pPr algn="l"/>
            <a:r>
              <a:rPr sz="1150" b="0" i="0">
                <a:solidFill>
                  <a:srgbClr val="3D3D3D"/>
                </a:solidFill>
              </a:rPr>
              <a:t>Slide 12: 6 impact statements; AI, Outbox, real-time, RBAC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